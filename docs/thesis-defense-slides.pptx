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23"/>
  </p:notesMasterIdLst>
  <p:handoutMasterIdLst>
    <p:handoutMasterId r:id="rId24"/>
  </p:handoutMasterIdLst>
  <p:sldIdLst>
    <p:sldId id="262" r:id="rId5"/>
    <p:sldId id="263" r:id="rId6"/>
    <p:sldId id="278" r:id="rId7"/>
    <p:sldId id="264" r:id="rId8"/>
    <p:sldId id="275" r:id="rId9"/>
    <p:sldId id="273" r:id="rId10"/>
    <p:sldId id="274" r:id="rId11"/>
    <p:sldId id="276" r:id="rId12"/>
    <p:sldId id="265" r:id="rId13"/>
    <p:sldId id="266" r:id="rId14"/>
    <p:sldId id="279" r:id="rId15"/>
    <p:sldId id="282" r:id="rId16"/>
    <p:sldId id="283" r:id="rId17"/>
    <p:sldId id="284" r:id="rId18"/>
    <p:sldId id="285" r:id="rId19"/>
    <p:sldId id="269" r:id="rId20"/>
    <p:sldId id="272" r:id="rId21"/>
    <p:sldId id="281" r:id="rId22"/>
  </p:sldIdLst>
  <p:sldSz cx="9144000" cy="5143500" type="screen16x9"/>
  <p:notesSz cx="6858000" cy="9144000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026" userDrawn="1">
          <p15:clr>
            <a:srgbClr val="A4A3A4"/>
          </p15:clr>
        </p15:guide>
        <p15:guide id="2" pos="43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07871"/>
    <a:srgbClr val="55BBB1"/>
    <a:srgbClr val="839ECF"/>
    <a:srgbClr val="ACDED9"/>
    <a:srgbClr val="1B4541"/>
    <a:srgbClr val="B1C2E1"/>
    <a:srgbClr val="385890"/>
    <a:srgbClr val="6587C3"/>
    <a:srgbClr val="223558"/>
    <a:srgbClr val="F5D3D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řední styl 2 – zvýraznění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48" autoAdjust="0"/>
    <p:restoredTop sz="68523" autoAdjust="0"/>
  </p:normalViewPr>
  <p:slideViewPr>
    <p:cSldViewPr snapToGrid="0">
      <p:cViewPr varScale="1">
        <p:scale>
          <a:sx n="100" d="100"/>
          <a:sy n="100" d="100"/>
        </p:scale>
        <p:origin x="1914" y="78"/>
      </p:cViewPr>
      <p:guideLst>
        <p:guide orient="horz" pos="3026"/>
        <p:guide pos="43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87" d="100"/>
          <a:sy n="87" d="100"/>
        </p:scale>
        <p:origin x="3090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enka" userId="9f8b0dab-1307-43ba-b7db-b72d7098f0ff" providerId="ADAL" clId="{4D4B62B3-AD1C-4B67-8BCE-C9C6E0DB4B23}"/>
    <pc:docChg chg="modSld">
      <pc:chgData name="Lenka" userId="9f8b0dab-1307-43ba-b7db-b72d7098f0ff" providerId="ADAL" clId="{4D4B62B3-AD1C-4B67-8BCE-C9C6E0DB4B23}" dt="2024-08-07T08:35:12.434" v="16" actId="14100"/>
      <pc:docMkLst>
        <pc:docMk/>
      </pc:docMkLst>
      <pc:sldChg chg="modSp mod">
        <pc:chgData name="Lenka" userId="9f8b0dab-1307-43ba-b7db-b72d7098f0ff" providerId="ADAL" clId="{4D4B62B3-AD1C-4B67-8BCE-C9C6E0DB4B23}" dt="2024-08-07T08:34:54.793" v="12" actId="20577"/>
        <pc:sldMkLst>
          <pc:docMk/>
          <pc:sldMk cId="1338063626" sldId="262"/>
        </pc:sldMkLst>
        <pc:spChg chg="mod">
          <ac:chgData name="Lenka" userId="9f8b0dab-1307-43ba-b7db-b72d7098f0ff" providerId="ADAL" clId="{4D4B62B3-AD1C-4B67-8BCE-C9C6E0DB4B23}" dt="2024-08-07T08:34:48.463" v="9" actId="14100"/>
          <ac:spMkLst>
            <pc:docMk/>
            <pc:sldMk cId="1338063626" sldId="262"/>
            <ac:spMk id="13" creationId="{85237D80-94D7-45A4-A3FA-12A54210D606}"/>
          </ac:spMkLst>
        </pc:spChg>
        <pc:spChg chg="mod">
          <ac:chgData name="Lenka" userId="9f8b0dab-1307-43ba-b7db-b72d7098f0ff" providerId="ADAL" clId="{4D4B62B3-AD1C-4B67-8BCE-C9C6E0DB4B23}" dt="2024-08-07T08:34:54.793" v="12" actId="20577"/>
          <ac:spMkLst>
            <pc:docMk/>
            <pc:sldMk cId="1338063626" sldId="262"/>
            <ac:spMk id="14" creationId="{7524115B-EB76-44B4-A8B2-02837B9EB826}"/>
          </ac:spMkLst>
        </pc:spChg>
      </pc:sldChg>
      <pc:sldChg chg="modSp mod">
        <pc:chgData name="Lenka" userId="9f8b0dab-1307-43ba-b7db-b72d7098f0ff" providerId="ADAL" clId="{4D4B62B3-AD1C-4B67-8BCE-C9C6E0DB4B23}" dt="2024-08-07T08:35:12.434" v="16" actId="14100"/>
        <pc:sldMkLst>
          <pc:docMk/>
          <pc:sldMk cId="547617074" sldId="266"/>
        </pc:sldMkLst>
        <pc:spChg chg="mod">
          <ac:chgData name="Lenka" userId="9f8b0dab-1307-43ba-b7db-b72d7098f0ff" providerId="ADAL" clId="{4D4B62B3-AD1C-4B67-8BCE-C9C6E0DB4B23}" dt="2024-08-07T08:35:12.434" v="16" actId="14100"/>
          <ac:spMkLst>
            <pc:docMk/>
            <pc:sldMk cId="547617074" sldId="266"/>
            <ac:spMk id="13" creationId="{85237D80-94D7-45A4-A3FA-12A54210D606}"/>
          </ac:spMkLst>
        </pc:spChg>
        <pc:spChg chg="mod">
          <ac:chgData name="Lenka" userId="9f8b0dab-1307-43ba-b7db-b72d7098f0ff" providerId="ADAL" clId="{4D4B62B3-AD1C-4B67-8BCE-C9C6E0DB4B23}" dt="2024-08-07T08:35:10.265" v="15" actId="14100"/>
          <ac:spMkLst>
            <pc:docMk/>
            <pc:sldMk cId="547617074" sldId="266"/>
            <ac:spMk id="14" creationId="{7524115B-EB76-44B4-A8B2-02837B9EB826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hlaví 1">
            <a:extLst>
              <a:ext uri="{FF2B5EF4-FFF2-40B4-BE49-F238E27FC236}">
                <a16:creationId xmlns:a16="http://schemas.microsoft.com/office/drawing/2014/main" id="{70135AE5-81D3-44E6-A59B-B021E1FCED2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Zástupný symbol pro datum 2">
            <a:extLst>
              <a:ext uri="{FF2B5EF4-FFF2-40B4-BE49-F238E27FC236}">
                <a16:creationId xmlns:a16="http://schemas.microsoft.com/office/drawing/2014/main" id="{5C9066C1-7F0F-45F8-ABD0-75892C0FB00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5C83FC-E443-4837-A0C8-5C903D60FF95}" type="datetimeFigureOut">
              <a:rPr lang="cs-CZ" smtClean="0"/>
              <a:t>30.05.2026</a:t>
            </a:fld>
            <a:endParaRPr lang="cs-CZ"/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6BF468A7-4853-4CEE-8A35-F48A276FC7F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2F32276D-BA84-4CDE-843C-3F96E2D1BC6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1A11C6-7F78-4A59-8AEC-860400BC448F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3938513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hlaví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Zástupný symbol pro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FAA8F7D-3846-4B75-A392-9F2FD7555276}" type="datetimeFigureOut">
              <a:rPr lang="cs-CZ" smtClean="0"/>
              <a:t>30.05.2026</a:t>
            </a:fld>
            <a:endParaRPr lang="cs-CZ"/>
          </a:p>
        </p:txBody>
      </p:sp>
      <p:sp>
        <p:nvSpPr>
          <p:cNvPr id="4" name="Zástupný symbol pro obrázek snímk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Zástupný symbol pro poznámky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C556117-B546-4273-B139-40404781F9B3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6798723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Dobrý den vážená komise, vážený předsedo a členové komise.</a:t>
            </a:r>
          </a:p>
          <a:p>
            <a:endParaRPr lang="cs-CZ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Dnes vám budu prezentovat svou diplomovou práci na </a:t>
            </a:r>
            <a:r>
              <a:rPr lang="cs-CZ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tema</a:t>
            </a:r>
            <a:endParaRPr lang="cs-CZ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cs-CZ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cs-CZ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Představit se: jméno, studijní program, vedoucí</a:t>
            </a:r>
          </a:p>
          <a:p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Uvést kontext: výpočetní nároky v posledních letech rostou (AI, vědecké simulace, zpracování obrazu)</a:t>
            </a:r>
          </a:p>
          <a:p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Kolem roku 2005 se zastavil růst taktovacích frekvencí kvůli tepelným limitům</a:t>
            </a:r>
          </a:p>
          <a:p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Odpovědí je paralelismus, konkrétně GPU s tisíci jednoduchými jádry</a:t>
            </a:r>
          </a:p>
          <a:p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GPU jsou navrženy pro datový paralelismus (stejná operace na milionech datových bodů)</a:t>
            </a:r>
          </a:p>
          <a:p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Práce zkoumá, jak tyto možnosti využít v prostředí jazyka C# a .NET</a:t>
            </a:r>
          </a:p>
          <a:p>
            <a:endParaRPr lang="cs-CZ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556117-B546-4273-B139-40404781F9B3}" type="slidenum">
              <a:rPr lang="cs-CZ" smtClean="0"/>
              <a:t>1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4362525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b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cs-CZ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**▶ ÚVOD (10 s)**</a:t>
            </a:r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základní kontext CPU vs GPU</a:t>
            </a:r>
          </a:p>
          <a:p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CPU = pár velkých chytrých jader (sekvenčně rychlé)</a:t>
            </a:r>
          </a:p>
          <a:p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GPU = tisíce malých jednoduchých jader (masivně paralelní)</a:t>
            </a:r>
          </a:p>
          <a:p>
            <a:endParaRPr lang="cs-CZ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cs-CZ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**▶ MOTIVACE (20 s)**</a:t>
            </a:r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PROČ to zkoumat</a:t>
            </a:r>
          </a:p>
          <a:p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1. Nároky rostou — AI, simulace, data</a:t>
            </a:r>
          </a:p>
          <a:p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2. Sekvenční CPU narazilo na limit — frekvence stagnuje od 2005, řeší se přidáváním jader</a:t>
            </a:r>
          </a:p>
          <a:p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3. GPU nabízí cestu pomocí masivní paralelizace — ale kdy se to REÁLNĚ vyplatí? V C#?</a:t>
            </a:r>
          </a:p>
          <a:p>
            <a:endParaRPr lang="cs-CZ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cs-CZ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**▶ CÍL (30 s)**</a:t>
            </a:r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CO konkrétně dělám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3. GPU: od jaké velikosti se vyplatí? → crossover point</a:t>
            </a:r>
          </a:p>
          <a:p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1. 2 úlohy × 4 varianty (</a:t>
            </a:r>
            <a:r>
              <a:rPr lang="cs-CZ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seq</a:t>
            </a:r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CPU, par CPU, GPU – </a:t>
            </a:r>
            <a:r>
              <a:rPr lang="cs-CZ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ILGPu</a:t>
            </a:r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</a:t>
            </a:r>
            <a:r>
              <a:rPr lang="cs-CZ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ComputeSharp</a:t>
            </a:r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</a:p>
          <a:p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2. CPU: jak škáluje s vlákny? → </a:t>
            </a:r>
            <a:r>
              <a:rPr lang="cs-CZ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Amdahl</a:t>
            </a:r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cs-CZ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Gustafson</a:t>
            </a:r>
            <a:endParaRPr lang="cs-CZ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4. Porovnat C# knihovny která je lepší? → ILGPU vs </a:t>
            </a:r>
            <a:r>
              <a:rPr lang="cs-CZ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ComputeSharp</a:t>
            </a:r>
            <a:endParaRPr lang="cs-CZ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5. Proč C#: méně prozkoumaný, relevantní pro .NET vývojáře</a:t>
            </a:r>
          </a:p>
          <a:p>
            <a:endParaRPr lang="cs-CZ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cs-CZ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### 🔥 Dotazy</a:t>
            </a:r>
            <a:endParaRPr lang="cs-CZ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| Otázka | Odpověď |</a:t>
            </a:r>
          </a:p>
          <a:p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|--------|---------|</a:t>
            </a:r>
          </a:p>
          <a:p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| Proč C# a ne Python? | Méně prozkoumaný ekosystém, praktická relevance pro .NET |</a:t>
            </a:r>
          </a:p>
          <a:p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| Proč ne 4 varianty? | 3 varianty (</a:t>
            </a:r>
            <a:r>
              <a:rPr lang="cs-CZ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seq</a:t>
            </a:r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par, GPU). GPU testováno s 2 knihovnami |</a:t>
            </a:r>
          </a:p>
          <a:p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| Struktura práce? | 8 kap: 3 teoretické + 5 praktických |</a:t>
            </a:r>
          </a:p>
          <a:p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| Co je crossover point? | Velikost dat od které GPU překonává CPU |</a:t>
            </a:r>
          </a:p>
          <a:p>
            <a:endParaRPr lang="cs-CZ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cs-CZ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### 📋 Tahák</a:t>
            </a:r>
            <a:endParaRPr lang="cs-CZ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b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cs-CZ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cs-CZ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**▶ ÚVOD (10 s)**</a:t>
            </a:r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základní kontext CPU vs GPU</a:t>
            </a:r>
          </a:p>
          <a:p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CPU = pár velkých chytrých jader (sekvenčně rychlé)</a:t>
            </a:r>
          </a:p>
          <a:p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GPU = tisíce malých jednoduchých jader (masivně paralelní)</a:t>
            </a:r>
          </a:p>
          <a:p>
            <a:b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cs-CZ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cs-CZ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**▶ MOTIVACE (20 s)**</a:t>
            </a:r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PROČ to zkoumat</a:t>
            </a:r>
          </a:p>
          <a:p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1. Nároky rostou — AI, simulace, data</a:t>
            </a:r>
          </a:p>
          <a:p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2. CPU narazilo — frekvence stagnuje od 2005, řeší se přidáváním jader</a:t>
            </a:r>
          </a:p>
          <a:p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3. GPU nabízí cestu — ale kdy se to REÁLNĚ vyplatí? V C#?</a:t>
            </a:r>
          </a:p>
          <a:p>
            <a:b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cs-CZ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cs-CZ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**▶ CÍL (30 s)**</a:t>
            </a:r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CO konkrétně dělám</a:t>
            </a:r>
          </a:p>
          <a:p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1. 2 úlohy × 3 varianty (</a:t>
            </a:r>
            <a:r>
              <a:rPr lang="cs-CZ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seq</a:t>
            </a:r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CPU, par CPU, GPU)</a:t>
            </a:r>
          </a:p>
          <a:p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2. CPU: jak škáluje s vlákny? → </a:t>
            </a:r>
            <a:r>
              <a:rPr lang="cs-CZ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Amdahl</a:t>
            </a:r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cs-CZ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Gustafson</a:t>
            </a:r>
            <a:endParaRPr lang="cs-CZ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3. GPU: od jaké velikosti se vyplatí? → crossover point</a:t>
            </a:r>
          </a:p>
          <a:p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4. Která knihovna je lepší? → ILGPU vs </a:t>
            </a:r>
            <a:r>
              <a:rPr lang="cs-CZ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ComputeSharp</a:t>
            </a:r>
            <a:endParaRPr lang="cs-CZ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5. Proč C#: méně prozkoumaný, relevantní pro .NET vývojáře</a:t>
            </a:r>
          </a:p>
          <a:p>
            <a:b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cs-CZ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cs-CZ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### 🔥 Dotazy</a:t>
            </a:r>
            <a:endParaRPr lang="cs-CZ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| Otázka | Odpověď |</a:t>
            </a:r>
          </a:p>
          <a:p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|--------|---------|</a:t>
            </a:r>
          </a:p>
          <a:p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| Proč C# a ne Python? | Méně prozkoumaný ekosystém, praktická relevance pro .NET |</a:t>
            </a:r>
          </a:p>
          <a:p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| Proč ne 4 varianty? | 3 varianty (</a:t>
            </a:r>
            <a:r>
              <a:rPr lang="cs-CZ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seq</a:t>
            </a:r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par, GPU). GPU testováno s 2 knihovnami |</a:t>
            </a:r>
          </a:p>
          <a:p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| Struktura práce? | 8 kap: 3 teoretické + 5 praktických |</a:t>
            </a:r>
          </a:p>
          <a:p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| Co je crossover point? | Velikost dat od které GPU překonává CPU |</a:t>
            </a:r>
          </a:p>
          <a:p>
            <a:b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cs-CZ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cs-CZ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cs-CZ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Motivací práce bylo zjistit, kdy se paralelizace pomocí GPU reálně vyplatí a jaký výkon lze získat oproti klasickému CPU</a:t>
            </a:r>
          </a:p>
          <a:p>
            <a:r>
              <a:rPr lang="cs-CZ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 posledních dvou dekádách rostou výpočetní nároky, CPU to řeší přidáváním jader, ale GPU to řeší jinak: tisíce jednoduchých jader pro stejnou operaci na velkém množství dat</a:t>
            </a:r>
          </a:p>
          <a:p>
            <a:r>
              <a:rPr lang="cs-CZ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Záměrně zkoumám C#/.NET ekosystém, který je v GPU </a:t>
            </a:r>
            <a:r>
              <a:rPr lang="cs-CZ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computingu</a:t>
            </a:r>
            <a:r>
              <a:rPr lang="cs-CZ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méně prozkoumaný než Python nebo C++</a:t>
            </a:r>
          </a:p>
          <a:p>
            <a:r>
              <a:rPr lang="cs-CZ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Crossover point je prakticky nejužitečnější výstup: říká vývojáři "od této velikosti dat se GPU investice vyplatí"</a:t>
            </a:r>
          </a:p>
          <a:p>
            <a:r>
              <a:rPr lang="cs-CZ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Práce má teoretický i praktický cíl: popsat principy a ověřit je experimentem</a:t>
            </a:r>
          </a:p>
          <a:p>
            <a:endParaRPr lang="cs-CZ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556117-B546-4273-B139-40404781F9B3}" type="slidenum">
              <a:rPr lang="cs-CZ" smtClean="0"/>
              <a:t>2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97864952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061EE4-D575-C8F8-4D48-5E7A32C9B5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>
            <a:extLst>
              <a:ext uri="{FF2B5EF4-FFF2-40B4-BE49-F238E27FC236}">
                <a16:creationId xmlns:a16="http://schemas.microsoft.com/office/drawing/2014/main" id="{1CAB102B-F98D-96DB-2B6E-0B15EB083F4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>
            <a:extLst>
              <a:ext uri="{FF2B5EF4-FFF2-40B4-BE49-F238E27FC236}">
                <a16:creationId xmlns:a16="http://schemas.microsoft.com/office/drawing/2014/main" id="{F482AE2F-A8C9-2469-F13B-8D13FD129C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s-CZ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### 📋 Tahák</a:t>
            </a:r>
            <a:endParaRPr lang="cs-CZ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1. </a:t>
            </a:r>
            <a:r>
              <a:rPr lang="cs-CZ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**Teorie**</a:t>
            </a:r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</a:t>
            </a:r>
            <a:r>
              <a:rPr lang="cs-CZ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Flynn</a:t>
            </a:r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cs-CZ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Amdahl</a:t>
            </a:r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cs-CZ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Gustafson</a:t>
            </a:r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→ GPU architektura → CUDA, </a:t>
            </a:r>
            <a:r>
              <a:rPr lang="cs-CZ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OpenCL</a:t>
            </a:r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.NET knihovny</a:t>
            </a:r>
          </a:p>
          <a:p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2. </a:t>
            </a:r>
            <a:r>
              <a:rPr lang="cs-CZ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**Praxe**</a:t>
            </a:r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experiment + framework (.NET 10, </a:t>
            </a:r>
            <a:r>
              <a:rPr lang="cs-CZ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Strategy</a:t>
            </a:r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cs-CZ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pattern</a:t>
            </a:r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→ výsledky → diskuse</a:t>
            </a:r>
          </a:p>
          <a:p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3. </a:t>
            </a:r>
            <a:r>
              <a:rPr lang="cs-CZ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**Framework zmínit**</a:t>
            </a:r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</a:t>
            </a:r>
            <a:r>
              <a:rPr lang="cs-CZ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IBenchmark</a:t>
            </a:r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interface, 8 implementací, </a:t>
            </a:r>
            <a:r>
              <a:rPr lang="cs-CZ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BenchmarkRunner</a:t>
            </a:r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cs-CZ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orchestrátor</a:t>
            </a:r>
            <a:endParaRPr lang="cs-CZ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4. </a:t>
            </a:r>
            <a:r>
              <a:rPr lang="cs-CZ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**Validace**</a:t>
            </a:r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GPU výsledky automaticky ověřeny proti CPU referenci</a:t>
            </a:r>
          </a:p>
          <a:p>
            <a:b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cs-CZ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cs-CZ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### 🔥 Dotazy</a:t>
            </a:r>
            <a:endParaRPr lang="cs-CZ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| Otázka | Odpověď |</a:t>
            </a:r>
          </a:p>
          <a:p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|--------|---------|</a:t>
            </a:r>
          </a:p>
          <a:p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| Architektura? | </a:t>
            </a:r>
            <a:r>
              <a:rPr lang="cs-CZ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Strategy</a:t>
            </a:r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cs-CZ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pattern</a:t>
            </a:r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cs-CZ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IBenchmark</a:t>
            </a:r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→ Setup/Run/</a:t>
            </a:r>
            <a:r>
              <a:rPr lang="cs-CZ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Validate</a:t>
            </a:r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r>
              <a:rPr lang="cs-CZ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Cleanup</a:t>
            </a:r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|</a:t>
            </a:r>
          </a:p>
          <a:p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| Co měří </a:t>
            </a:r>
            <a:r>
              <a:rPr lang="cs-CZ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Runner</a:t>
            </a:r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 | Jen Run() — Setup/</a:t>
            </a:r>
            <a:r>
              <a:rPr lang="cs-CZ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Cleanup</a:t>
            </a:r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mimo stopky |</a:t>
            </a:r>
          </a:p>
          <a:p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| Kolik běhů? | 3× </a:t>
            </a:r>
            <a:r>
              <a:rPr lang="cs-CZ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warmup</a:t>
            </a:r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pak 3–10 adaptivně, medián |</a:t>
            </a:r>
          </a:p>
          <a:p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| Proč </a:t>
            </a:r>
            <a:r>
              <a:rPr lang="cs-CZ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Strategy</a:t>
            </a:r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 | Rozšiřitelnost, izolace měření, zaměnitelnost |</a:t>
            </a:r>
          </a:p>
          <a:p>
            <a:b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cs-CZ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 </a:t>
            </a:r>
            <a:r>
              <a:rPr lang="cs-CZ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teoreticke</a:t>
            </a:r>
            <a:r>
              <a:rPr lang="cs-CZ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časti se </a:t>
            </a:r>
            <a:r>
              <a:rPr lang="cs-CZ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zabyvam</a:t>
            </a:r>
            <a:r>
              <a:rPr lang="cs-CZ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…</a:t>
            </a:r>
          </a:p>
          <a:p>
            <a:pPr lvl="1">
              <a:buBlip>
                <a:blip r:embed="rId3"/>
              </a:buBlip>
            </a:pPr>
            <a:r>
              <a:rPr lang="cs-CZ" sz="1200" b="1" dirty="0"/>
              <a:t>Základy paralelních výpočtů (</a:t>
            </a:r>
            <a:r>
              <a:rPr lang="cs-CZ" sz="1200" b="1" dirty="0" err="1"/>
              <a:t>Flynnova</a:t>
            </a:r>
            <a:r>
              <a:rPr lang="cs-CZ" sz="1200" b="1" dirty="0"/>
              <a:t> taxonomie, </a:t>
            </a:r>
            <a:r>
              <a:rPr lang="cs-CZ" sz="1200" b="1" dirty="0" err="1"/>
              <a:t>Amdahlův</a:t>
            </a:r>
            <a:r>
              <a:rPr lang="cs-CZ" sz="1200" b="1" dirty="0"/>
              <a:t> a </a:t>
            </a:r>
            <a:r>
              <a:rPr lang="cs-CZ" sz="1200" b="1" dirty="0" err="1"/>
              <a:t>Gustafsonův</a:t>
            </a:r>
            <a:r>
              <a:rPr lang="cs-CZ" sz="1200" b="1" dirty="0"/>
              <a:t> zákon)</a:t>
            </a:r>
          </a:p>
          <a:p>
            <a:pPr lvl="1">
              <a:buBlip>
                <a:blip r:embed="rId3"/>
              </a:buBlip>
            </a:pPr>
            <a:r>
              <a:rPr lang="cs-CZ" sz="1200" b="1" dirty="0"/>
              <a:t>Architektury GPU (základní rozdíly CPU a GPU, paměťová hierarchie, </a:t>
            </a:r>
            <a:r>
              <a:rPr lang="cs-CZ" sz="1200" b="1" dirty="0" err="1"/>
              <a:t>execution</a:t>
            </a:r>
            <a:r>
              <a:rPr lang="cs-CZ" sz="1200" b="1" dirty="0"/>
              <a:t> model, přenos dat)</a:t>
            </a:r>
          </a:p>
          <a:p>
            <a:pPr lvl="1">
              <a:buBlip>
                <a:blip r:embed="rId3"/>
              </a:buBlip>
            </a:pPr>
            <a:r>
              <a:rPr lang="cs-CZ" sz="1200" b="1" dirty="0"/>
              <a:t>Technologie a nástroje (CUDA, </a:t>
            </a:r>
            <a:r>
              <a:rPr lang="cs-CZ" sz="1200" b="1" dirty="0" err="1"/>
              <a:t>OpenCL</a:t>
            </a:r>
            <a:r>
              <a:rPr lang="cs-CZ" sz="1200" b="1" dirty="0"/>
              <a:t>, .NET a Python knihovny a jejich porovnání)</a:t>
            </a:r>
          </a:p>
          <a:p>
            <a:pPr>
              <a:buBlip>
                <a:blip r:embed="rId3"/>
              </a:buBlip>
            </a:pPr>
            <a:r>
              <a:rPr lang="cs-CZ" sz="1600" b="1" dirty="0"/>
              <a:t>Praktická část</a:t>
            </a:r>
          </a:p>
          <a:p>
            <a:pPr lvl="1">
              <a:buBlip>
                <a:blip r:embed="rId3"/>
              </a:buBlip>
            </a:pPr>
            <a:r>
              <a:rPr lang="cs-CZ" sz="1200" b="1" dirty="0"/>
              <a:t>Návrh experimentu (silné a slabé škálování, 2 úlohy ve 4 variantách)</a:t>
            </a:r>
          </a:p>
          <a:p>
            <a:pPr lvl="1">
              <a:buBlip>
                <a:blip r:embed="rId3"/>
              </a:buBlip>
            </a:pPr>
            <a:r>
              <a:rPr lang="cs-CZ" sz="1200" b="1" dirty="0"/>
              <a:t>Implementace (architektura, detaily implementace úloh a měřícího frameworku)</a:t>
            </a:r>
          </a:p>
          <a:p>
            <a:pPr lvl="1">
              <a:buBlip>
                <a:blip r:embed="rId3"/>
              </a:buBlip>
            </a:pPr>
            <a:r>
              <a:rPr lang="cs-CZ" sz="1200" b="1" dirty="0"/>
              <a:t>Měření a analýza (Crossover, porovnání zrychlení a knihoven, silné a slabé škálování)</a:t>
            </a:r>
          </a:p>
          <a:p>
            <a:pPr lvl="1">
              <a:buBlip>
                <a:blip r:embed="rId3"/>
              </a:buBlip>
            </a:pPr>
            <a:r>
              <a:rPr lang="cs-CZ" sz="1200" b="1" dirty="0"/>
              <a:t>Diskuse výsledků, anomálií, omezení a budoucí práce</a:t>
            </a:r>
          </a:p>
          <a:p>
            <a:endParaRPr lang="cs-CZ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cs-CZ" dirty="0"/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3DAC7282-AC3F-F7C1-4724-920289282A3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556117-B546-4273-B139-40404781F9B3}" type="slidenum">
              <a:rPr lang="cs-CZ" smtClean="0"/>
              <a:t>3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0241719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s-CZ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Zvolil jsem dvě úlohy s odlišnými vlastnostmi: násobení matic testuje čistý výpočetní výkon (</a:t>
            </a:r>
            <a:r>
              <a:rPr lang="cs-CZ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compute-bound</a:t>
            </a:r>
            <a:r>
              <a:rPr lang="cs-CZ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), Game </a:t>
            </a:r>
            <a:r>
              <a:rPr lang="cs-CZ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of</a:t>
            </a:r>
            <a:r>
              <a:rPr lang="cs-CZ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cs-CZ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Life</a:t>
            </a:r>
            <a:r>
              <a:rPr lang="cs-CZ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testuje propustnost paměti (</a:t>
            </a:r>
            <a:r>
              <a:rPr lang="cs-CZ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memory-bound</a:t>
            </a:r>
            <a:r>
              <a:rPr lang="cs-CZ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</a:p>
          <a:p>
            <a:r>
              <a:rPr lang="cs-CZ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Každá úloha implementována ve 4 variantách pro postupné porovnání (co dá CPU paralelizace, co přidá GPU)</a:t>
            </a:r>
          </a:p>
          <a:p>
            <a:r>
              <a:rPr lang="cs-CZ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Hardware: středně výkonný </a:t>
            </a:r>
            <a:r>
              <a:rPr lang="cs-CZ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šestijádrový</a:t>
            </a:r>
            <a:r>
              <a:rPr lang="cs-CZ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procesor proti </a:t>
            </a:r>
            <a:r>
              <a:rPr lang="cs-CZ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high</a:t>
            </a:r>
            <a:r>
              <a:rPr lang="cs-CZ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-end GPU, aby rozdíly byly dobře viditelné</a:t>
            </a:r>
          </a:p>
          <a:p>
            <a:r>
              <a:rPr lang="cs-CZ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Statistický protokol zajišťuje spolehlivost: </a:t>
            </a:r>
            <a:r>
              <a:rPr lang="cs-CZ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warmup</a:t>
            </a:r>
            <a:r>
              <a:rPr lang="cs-CZ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eliminuje vliv JIT kompilace, adaptivní počet běhů šetří čas u dlouhých testů, medián je robustní vůči náhodným výkyvům</a:t>
            </a:r>
          </a:p>
          <a:p>
            <a:r>
              <a:rPr lang="cs-CZ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CPU testováno na 1, 2, 4, 6, 8, 12 vláknech pro analýzu škálování</a:t>
            </a:r>
          </a:p>
          <a:p>
            <a:r>
              <a:rPr lang="cs-CZ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Měření zahrnuje kompletní čas včetně přenosu dat na GPU (reálný scénář)</a:t>
            </a:r>
          </a:p>
          <a:p>
            <a:b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cs-CZ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cs-CZ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### 📋 Tahák</a:t>
            </a:r>
            <a:endParaRPr lang="cs-CZ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1. </a:t>
            </a:r>
            <a:r>
              <a:rPr lang="cs-CZ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**2 úlohy**</a:t>
            </a:r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</a:t>
            </a:r>
            <a:r>
              <a:rPr lang="cs-CZ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compute-bound</a:t>
            </a:r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vs </a:t>
            </a:r>
            <a:r>
              <a:rPr lang="cs-CZ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memory-bound</a:t>
            </a:r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(komplementární)</a:t>
            </a:r>
          </a:p>
          <a:p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2. </a:t>
            </a:r>
            <a:r>
              <a:rPr lang="cs-CZ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**3 varianty**</a:t>
            </a:r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postupná eskalace: </a:t>
            </a:r>
            <a:r>
              <a:rPr lang="cs-CZ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seq</a:t>
            </a:r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→ par CPU → GPU</a:t>
            </a:r>
          </a:p>
          <a:p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3. </a:t>
            </a:r>
            <a:r>
              <a:rPr lang="cs-CZ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**HW**</a:t>
            </a:r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střední CPU vs </a:t>
            </a:r>
            <a:r>
              <a:rPr lang="cs-CZ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high</a:t>
            </a:r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-end GPU, aby rozdíly viditelné</a:t>
            </a:r>
          </a:p>
          <a:p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4. </a:t>
            </a:r>
            <a:r>
              <a:rPr lang="cs-CZ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**Protokol**</a:t>
            </a:r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</a:t>
            </a:r>
            <a:r>
              <a:rPr lang="cs-CZ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warmup</a:t>
            </a:r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= JIT, medián = robustní, čas VČETNĚ přenosu dat</a:t>
            </a:r>
          </a:p>
          <a:p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5. </a:t>
            </a:r>
            <a:r>
              <a:rPr lang="cs-CZ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**Validace**</a:t>
            </a:r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GPU počítá správně (element-by-element vs sekvenční)</a:t>
            </a:r>
          </a:p>
          <a:p>
            <a:b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cs-CZ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cs-CZ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### 🔥 Dotazy</a:t>
            </a:r>
            <a:endParaRPr lang="cs-CZ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| Otázka | Odpověď |</a:t>
            </a:r>
          </a:p>
          <a:p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|--------|---------|</a:t>
            </a:r>
          </a:p>
          <a:p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| Proč tyto 2 úlohy? | Kanonické GPU benchmarky (GEMM, </a:t>
            </a:r>
            <a:r>
              <a:rPr lang="cs-CZ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stencil</a:t>
            </a:r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), literatura |</a:t>
            </a:r>
          </a:p>
          <a:p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| Proč ne více? | Hloubka &gt; šířka: 2 × detailní analýza |</a:t>
            </a:r>
          </a:p>
          <a:p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| Proč medián? | Robustní vůči </a:t>
            </a:r>
            <a:r>
              <a:rPr lang="cs-CZ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outlierům</a:t>
            </a:r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stabilnější než </a:t>
            </a:r>
            <a:r>
              <a:rPr lang="cs-CZ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mean</a:t>
            </a:r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|</a:t>
            </a:r>
          </a:p>
          <a:p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| Včetně přenosu? | Ano = reálný scénář. Bez = </a:t>
            </a:r>
            <a:r>
              <a:rPr lang="cs-CZ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nerealitická</a:t>
            </a:r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situace |</a:t>
            </a:r>
          </a:p>
          <a:p>
            <a:b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cs-CZ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cs-CZ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556117-B546-4273-B139-40404781F9B3}" type="slidenum">
              <a:rPr lang="cs-CZ" smtClean="0"/>
              <a:t>4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87162059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505C08-A1A3-FE39-5BCC-D4665AD85A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>
            <a:extLst>
              <a:ext uri="{FF2B5EF4-FFF2-40B4-BE49-F238E27FC236}">
                <a16:creationId xmlns:a16="http://schemas.microsoft.com/office/drawing/2014/main" id="{D0261F29-0C0A-611D-E1D9-F7A097437E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>
            <a:extLst>
              <a:ext uri="{FF2B5EF4-FFF2-40B4-BE49-F238E27FC236}">
                <a16:creationId xmlns:a16="http://schemas.microsoft.com/office/drawing/2014/main" id="{905A61D3-B7E0-38AF-893A-3A979966F9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 "Tady vidíme CPU paralelní škálování pro Game </a:t>
            </a:r>
            <a:r>
              <a:rPr lang="cs-CZ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of</a:t>
            </a:r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cs-CZ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Life</a:t>
            </a:r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Škáluje téměř ideálně — 6 vláken na 6 jádrech dává 6× zrychlení. </a:t>
            </a:r>
            <a:r>
              <a:rPr lang="cs-CZ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Amdahlova</a:t>
            </a:r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analýza ukazuje P = 0,99, tedy jen 1 % programu je sekvenční.</a:t>
            </a:r>
          </a:p>
          <a:p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 </a:t>
            </a:r>
            <a:r>
              <a:rPr lang="cs-CZ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Hyperthreading</a:t>
            </a:r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na 12 vláknech už nepomáhá, protože 2 logická vlákna sdílejí fyzické prostředky jádra.</a:t>
            </a:r>
          </a:p>
          <a:p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 </a:t>
            </a:r>
            <a:r>
              <a:rPr lang="cs-CZ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MatMul</a:t>
            </a:r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škáluje sub-lineárně, typicky 4–5× na 6 jádrech — je to omezeno paměťovou propustností.</a:t>
            </a:r>
          </a:p>
          <a:p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 V obou případech je strop jasný — CPU paralelizace škáluje maximálně do počtu fyzických jader. Na dalším slidu ukážu, jak GPU tento strop překonává řádově."</a:t>
            </a:r>
          </a:p>
          <a:p>
            <a:b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b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cs-CZ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cs-CZ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### Proč neukazuješ graf pro </a:t>
            </a:r>
            <a:r>
              <a:rPr lang="cs-CZ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MatMul</a:t>
            </a:r>
            <a:r>
              <a:rPr lang="cs-CZ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</a:t>
            </a:r>
            <a:endParaRPr lang="cs-CZ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cs-CZ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MatMul</a:t>
            </a:r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graf je v práci (Obr. 6.2), ale pro prezentaci jsem zvolil </a:t>
            </a:r>
            <a:r>
              <a:rPr lang="cs-CZ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GoL</a:t>
            </a:r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protože čistěji demonstruje princip. </a:t>
            </a:r>
            <a:r>
              <a:rPr lang="cs-CZ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MatMul</a:t>
            </a:r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má u velikosti 1024² anomálii — super-lineární škálování způsobené </a:t>
            </a:r>
            <a:r>
              <a:rPr lang="cs-CZ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cache</a:t>
            </a:r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efektem, kterou v práci detailně diskutuji v sekci 7.4."</a:t>
            </a:r>
            <a:b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cs-CZ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indent="-171450">
              <a:buFont typeface="Wingdings" panose="05000000000000000000" pitchFamily="2" charset="2"/>
              <a:buChar char="Ø"/>
            </a:pPr>
            <a:endParaRPr lang="cs-CZ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cs-CZ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cs-CZ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### 📋 Tahák</a:t>
            </a:r>
            <a:endParaRPr lang="cs-CZ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1. </a:t>
            </a:r>
            <a:r>
              <a:rPr lang="cs-CZ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**Ukázat graf**</a:t>
            </a:r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</a:t>
            </a:r>
            <a:r>
              <a:rPr lang="cs-CZ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GoL</a:t>
            </a:r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škáluje ideálně do 6 jader, pak </a:t>
            </a:r>
            <a:r>
              <a:rPr lang="cs-CZ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plateau</a:t>
            </a:r>
            <a:endParaRPr lang="cs-CZ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2. </a:t>
            </a:r>
            <a:r>
              <a:rPr lang="cs-CZ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</a:t>
            </a:r>
            <a:r>
              <a:rPr lang="cs-CZ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Amdahl</a:t>
            </a:r>
            <a:r>
              <a:rPr lang="cs-CZ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</a:t>
            </a:r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P = 0,99, jen 1 % sekvenční → proto téměř ideální</a:t>
            </a:r>
          </a:p>
          <a:p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3. </a:t>
            </a:r>
            <a:r>
              <a:rPr lang="cs-CZ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**HT nepomáhá**</a:t>
            </a:r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2 logická vlákna sdílejí fyzické prostředky 1 jádra</a:t>
            </a:r>
          </a:p>
          <a:p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4. </a:t>
            </a:r>
            <a:r>
              <a:rPr lang="cs-CZ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</a:t>
            </a:r>
            <a:r>
              <a:rPr lang="cs-CZ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MatMul</a:t>
            </a:r>
            <a:r>
              <a:rPr lang="cs-CZ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horší**</a:t>
            </a:r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omezeno </a:t>
            </a:r>
            <a:r>
              <a:rPr lang="cs-CZ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memory</a:t>
            </a:r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cs-CZ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bandwidth</a:t>
            </a:r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ne </a:t>
            </a:r>
            <a:r>
              <a:rPr lang="cs-CZ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compute</a:t>
            </a:r>
            <a:endParaRPr lang="cs-CZ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5. </a:t>
            </a:r>
            <a:r>
              <a:rPr lang="cs-CZ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**KLÍČOVÉ**</a:t>
            </a:r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→ "strop jasný, na dalším slidu GPU ho láme"</a:t>
            </a:r>
          </a:p>
          <a:p>
            <a:b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cs-CZ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cs-CZ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### 🔥 Dotazy</a:t>
            </a:r>
            <a:endParaRPr lang="cs-CZ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| Otázka | Odpověď |</a:t>
            </a:r>
          </a:p>
          <a:p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|--------|---------|</a:t>
            </a:r>
          </a:p>
          <a:p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| </a:t>
            </a:r>
            <a:r>
              <a:rPr lang="cs-CZ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MatMul</a:t>
            </a:r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1024² anomálie? | </a:t>
            </a:r>
            <a:r>
              <a:rPr lang="cs-CZ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Cache</a:t>
            </a:r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efekt: </a:t>
            </a:r>
            <a:r>
              <a:rPr lang="cs-CZ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stride</a:t>
            </a:r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4096B = L2 </a:t>
            </a:r>
            <a:r>
              <a:rPr lang="cs-CZ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thrashing</a:t>
            </a:r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paralelismus skrývá latenci. Sec 7.4 |</a:t>
            </a:r>
          </a:p>
          <a:p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| Proč ne </a:t>
            </a:r>
            <a:r>
              <a:rPr lang="cs-CZ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MatMul</a:t>
            </a:r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graf? | </a:t>
            </a:r>
            <a:r>
              <a:rPr lang="cs-CZ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GoL</a:t>
            </a:r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čistší demonstrace. </a:t>
            </a:r>
            <a:r>
              <a:rPr lang="cs-CZ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MatMul</a:t>
            </a:r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= Obr. 6.2 v práci |</a:t>
            </a:r>
          </a:p>
          <a:p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| </a:t>
            </a:r>
            <a:r>
              <a:rPr lang="cs-CZ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Gustafson</a:t>
            </a:r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 | </a:t>
            </a:r>
            <a:r>
              <a:rPr lang="cs-CZ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Weak-scaling</a:t>
            </a:r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cs-CZ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GoL</a:t>
            </a:r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74 % ideálu/6 jader, </a:t>
            </a:r>
            <a:r>
              <a:rPr lang="cs-CZ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MatMul</a:t>
            </a:r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26–54 %. Sec 6.5 |</a:t>
            </a:r>
          </a:p>
          <a:p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| HT proč nepomáhá? | Sdílejí ALU, </a:t>
            </a:r>
            <a:r>
              <a:rPr lang="cs-CZ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cache</a:t>
            </a:r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cs-CZ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execution</a:t>
            </a:r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cs-CZ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ports</a:t>
            </a:r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cs-CZ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GoL</a:t>
            </a:r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cs-CZ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compute-bound</a:t>
            </a:r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na jádro |</a:t>
            </a:r>
          </a:p>
          <a:p>
            <a:b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cs-CZ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cs-CZ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### Co je ta anomálie u </a:t>
            </a:r>
            <a:r>
              <a:rPr lang="cs-CZ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MatMul</a:t>
            </a:r>
            <a:r>
              <a:rPr lang="cs-CZ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1024²?</a:t>
            </a:r>
            <a:endParaRPr lang="cs-CZ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cs-CZ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 "Normalizováno na </a:t>
            </a:r>
            <a:r>
              <a:rPr lang="cs-CZ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Parallel</a:t>
            </a:r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(1): na 6 vláknech máme 6,7×, na 8 vláknech 8,3×, na 12 vláknech 11,3×. To je super-lineární. Příčinou je patologický přístupový vzor k matici B, který způsobuje masivní L2 </a:t>
            </a:r>
            <a:r>
              <a:rPr lang="cs-CZ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cache</a:t>
            </a:r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cs-CZ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thrashing</a:t>
            </a:r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u </a:t>
            </a:r>
            <a:r>
              <a:rPr lang="cs-CZ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jednovláknového</a:t>
            </a:r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běhu. Paralelizace tento efekt zmírňuje — vysvětlím za moment."</a:t>
            </a:r>
            <a:b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cs-CZ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cs-CZ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### </a:t>
            </a:r>
            <a:r>
              <a:rPr lang="cs-CZ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Gustafson</a:t>
            </a:r>
            <a:r>
              <a:rPr lang="cs-CZ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/ slabé škálování?</a:t>
            </a:r>
            <a:endParaRPr lang="cs-CZ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 "V práci mám i </a:t>
            </a:r>
            <a:r>
              <a:rPr lang="cs-CZ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weak-scaling</a:t>
            </a:r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experiment (</a:t>
            </a:r>
            <a:r>
              <a:rPr lang="cs-CZ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Gustafson</a:t>
            </a:r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). </a:t>
            </a:r>
            <a:r>
              <a:rPr lang="cs-CZ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GoL</a:t>
            </a:r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škáluje na 74 % ideálu na 6 jádrech, </a:t>
            </a:r>
            <a:r>
              <a:rPr lang="cs-CZ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MatMul</a:t>
            </a:r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jen 26–54 % kvůli sekvenční režii. To je separátní experiment kde velikost úlohy roste s vlákny."</a:t>
            </a:r>
          </a:p>
          <a:p>
            <a:endParaRPr lang="cs-CZ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cs-CZ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b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cs-CZ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cs-CZ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## Vysvětlení L2 </a:t>
            </a:r>
            <a:r>
              <a:rPr lang="cs-CZ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cache</a:t>
            </a:r>
            <a:r>
              <a:rPr lang="cs-CZ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efektu u </a:t>
            </a:r>
            <a:r>
              <a:rPr lang="cs-CZ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MatMul</a:t>
            </a:r>
            <a:r>
              <a:rPr lang="cs-CZ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1024² (pro vlastní pochopení)</a:t>
            </a:r>
            <a:endParaRPr lang="cs-CZ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b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cs-CZ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cs-CZ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### Proč je </a:t>
            </a:r>
            <a:r>
              <a:rPr lang="cs-CZ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Parallel</a:t>
            </a:r>
            <a:r>
              <a:rPr lang="cs-CZ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(1) abnormálně pomalý</a:t>
            </a:r>
            <a:endParaRPr lang="cs-CZ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b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cs-CZ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cs-CZ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**Přístupový vzor naivního </a:t>
            </a:r>
            <a:r>
              <a:rPr lang="cs-CZ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MatMul</a:t>
            </a:r>
            <a:r>
              <a:rPr lang="cs-CZ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:**</a:t>
            </a:r>
            <a:endParaRPr lang="cs-CZ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b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cs-CZ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</a:p>
          <a:p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C[</a:t>
            </a:r>
            <a:r>
              <a:rPr lang="cs-CZ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i,j</a:t>
            </a:r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] = Σ(k=0..n-1) A[</a:t>
            </a:r>
            <a:r>
              <a:rPr lang="cs-CZ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i,k</a:t>
            </a:r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] × B[</a:t>
            </a:r>
            <a:r>
              <a:rPr lang="cs-CZ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k,j</a:t>
            </a:r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]</a:t>
            </a:r>
          </a:p>
          <a:p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</a:p>
          <a:p>
            <a:b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cs-CZ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</a:t>
            </a:r>
            <a:r>
              <a:rPr lang="cs-CZ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**A**</a:t>
            </a:r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se čte po řádcích → sekvenční přístup → výborná lokalita ✓</a:t>
            </a:r>
          </a:p>
          <a:p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</a:t>
            </a:r>
            <a:r>
              <a:rPr lang="cs-CZ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**B**</a:t>
            </a:r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se čte po sloupcích → </a:t>
            </a:r>
            <a:r>
              <a:rPr lang="cs-CZ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stride</a:t>
            </a:r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= n × 4 bytů mezi po sobě jdoucími prvky ✗</a:t>
            </a:r>
          </a:p>
          <a:p>
            <a:b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cs-CZ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cs-CZ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**Pro n = 1024:**</a:t>
            </a:r>
            <a:endParaRPr lang="cs-CZ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</a:t>
            </a:r>
            <a:r>
              <a:rPr lang="cs-CZ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Stride</a:t>
            </a:r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= 1024 × 4 = </a:t>
            </a:r>
            <a:r>
              <a:rPr lang="cs-CZ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**4096 bytů**</a:t>
            </a:r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mezi B[</a:t>
            </a:r>
            <a:r>
              <a:rPr lang="cs-CZ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k,j</a:t>
            </a:r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] a B[k+1,j]</a:t>
            </a:r>
          </a:p>
          <a:p>
            <a:b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cs-CZ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cs-CZ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### Proč je </a:t>
            </a:r>
            <a:r>
              <a:rPr lang="cs-CZ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stride</a:t>
            </a:r>
            <a:r>
              <a:rPr lang="cs-CZ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4096 patologický pro L2 </a:t>
            </a:r>
            <a:r>
              <a:rPr lang="cs-CZ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cache</a:t>
            </a:r>
            <a:endParaRPr lang="cs-CZ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b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cs-CZ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cs-CZ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</a:t>
            </a:r>
            <a:r>
              <a:rPr lang="cs-CZ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Ryzen</a:t>
            </a:r>
            <a:r>
              <a:rPr lang="cs-CZ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5 3600 L2 </a:t>
            </a:r>
            <a:r>
              <a:rPr lang="cs-CZ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cache</a:t>
            </a:r>
            <a:r>
              <a:rPr lang="cs-CZ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:**</a:t>
            </a:r>
            <a:endParaRPr lang="cs-CZ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- 512 KB na jádro, 8-way set asociativní, 64B </a:t>
            </a:r>
            <a:r>
              <a:rPr lang="cs-CZ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cache</a:t>
            </a:r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line</a:t>
            </a:r>
          </a:p>
          <a:p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Počet setů = 512 KB / (8 × 64 B) = </a:t>
            </a:r>
            <a:r>
              <a:rPr lang="cs-CZ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**1024 setů**</a:t>
            </a:r>
            <a:endParaRPr lang="cs-CZ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Set index = bity [15:6] adresy</a:t>
            </a:r>
          </a:p>
          <a:p>
            <a:b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cs-CZ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cs-CZ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**Jak se mapuje sloupec B do L2:**</a:t>
            </a:r>
            <a:endParaRPr lang="cs-CZ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B[0,j] → nějaký set S</a:t>
            </a:r>
          </a:p>
          <a:p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B[1,j] → adresa + 4096 → set posun = 4096/64 = </a:t>
            </a:r>
            <a:r>
              <a:rPr lang="cs-CZ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**64 setů dále**</a:t>
            </a:r>
            <a:endParaRPr lang="cs-CZ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B[2,j] → set posun = 128</a:t>
            </a:r>
          </a:p>
          <a:p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...</a:t>
            </a:r>
          </a:p>
          <a:p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B[16,j] → posun = 16 × 64 = 1024 → </a:t>
            </a:r>
            <a:r>
              <a:rPr lang="cs-CZ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**zpět na set S!**</a:t>
            </a:r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</a:t>
            </a:r>
            <a:r>
              <a:rPr lang="cs-CZ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wraparound</a:t>
            </a:r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</a:p>
          <a:p>
            <a:b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cs-CZ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→ Každý 16. prvek sloupce mapuje na STEJNÝ L2 set.</a:t>
            </a:r>
          </a:p>
          <a:p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→ Sloupec má 1024 prvků → 1024/16 = </a:t>
            </a:r>
            <a:r>
              <a:rPr lang="cs-CZ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**64 prvků**</a:t>
            </a:r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soutěží o 8 slotů (</a:t>
            </a:r>
            <a:r>
              <a:rPr lang="cs-CZ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ways</a:t>
            </a:r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v jednom setu.</a:t>
            </a:r>
          </a:p>
          <a:p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→ Jen 8 může přežít → </a:t>
            </a:r>
            <a:r>
              <a:rPr lang="cs-CZ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**56 </a:t>
            </a:r>
            <a:r>
              <a:rPr lang="cs-CZ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evictions</a:t>
            </a:r>
            <a:r>
              <a:rPr lang="cs-CZ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na set**</a:t>
            </a:r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→ </a:t>
            </a:r>
            <a:r>
              <a:rPr lang="cs-CZ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**katastrofální L2 </a:t>
            </a:r>
            <a:r>
              <a:rPr lang="cs-CZ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thrashing</a:t>
            </a:r>
            <a:r>
              <a:rPr lang="cs-CZ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</a:t>
            </a:r>
            <a:endParaRPr lang="cs-CZ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b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cs-CZ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cs-CZ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### Výsledek pro 1 vlákno</a:t>
            </a:r>
            <a:endParaRPr lang="cs-CZ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b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cs-CZ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</a:p>
          <a:p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 KAŽDÝ přístup k B[</a:t>
            </a:r>
            <a:r>
              <a:rPr lang="cs-CZ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k,j</a:t>
            </a:r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]:</a:t>
            </a:r>
          </a:p>
          <a:p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1. L1 miss (B element nebyl nedávno použit)</a:t>
            </a:r>
          </a:p>
          <a:p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2. L2 miss (byl </a:t>
            </a:r>
            <a:r>
              <a:rPr lang="cs-CZ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evictován</a:t>
            </a:r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kvůli konfliktu)</a:t>
            </a:r>
          </a:p>
          <a:p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3. → </a:t>
            </a:r>
            <a:r>
              <a:rPr lang="cs-CZ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Fetch</a:t>
            </a:r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z L3 (~10-20 </a:t>
            </a:r>
            <a:r>
              <a:rPr lang="cs-CZ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ns</a:t>
            </a:r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latence)</a:t>
            </a:r>
          </a:p>
          <a:p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4. CPU STOJÍ a čeká (</a:t>
            </a:r>
            <a:r>
              <a:rPr lang="cs-CZ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pipeline</a:t>
            </a:r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stall)</a:t>
            </a:r>
          </a:p>
          <a:p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</a:p>
          <a:p>
            <a:b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cs-CZ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Jedno vlákno generuje proud L2 </a:t>
            </a:r>
            <a:r>
              <a:rPr lang="cs-CZ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missů</a:t>
            </a:r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nemá co dělat zatímco čeká.</a:t>
            </a:r>
          </a:p>
          <a:p>
            <a:b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cs-CZ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cs-CZ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### Proč paralelismus pomáhá VÍCE než lineárně</a:t>
            </a:r>
            <a:endParaRPr lang="cs-CZ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b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cs-CZ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cs-CZ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**1. Hyper-</a:t>
            </a:r>
            <a:r>
              <a:rPr lang="cs-CZ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threading</a:t>
            </a:r>
            <a:r>
              <a:rPr lang="cs-CZ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skrývá latenci:**</a:t>
            </a:r>
            <a:endParaRPr lang="cs-CZ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- 2 HT vlákna na jednom jádře sdílejí </a:t>
            </a:r>
            <a:r>
              <a:rPr lang="cs-CZ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execution</a:t>
            </a:r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cs-CZ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units</a:t>
            </a:r>
            <a:endParaRPr lang="cs-CZ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Vlákno A čeká na L3 </a:t>
            </a:r>
            <a:r>
              <a:rPr lang="cs-CZ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fetch</a:t>
            </a:r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→ CPU přepne na vlákno B které má data v registrech/L1</a:t>
            </a:r>
          </a:p>
          <a:p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→ L3 latence se "skryje" za výpočet druhého vlákna</a:t>
            </a:r>
          </a:p>
          <a:p>
            <a:b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cs-CZ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cs-CZ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**2. Více jader = vyšší agregovaná L3 propustnost:**</a:t>
            </a:r>
            <a:endParaRPr lang="cs-CZ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Každé jádro nezávisle generuje L3 požadavky</a:t>
            </a:r>
          </a:p>
          <a:p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L3 </a:t>
            </a:r>
            <a:r>
              <a:rPr lang="cs-CZ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controller</a:t>
            </a:r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(ring bus u Zen 2) obsluhuje více jader paralelně</a:t>
            </a:r>
          </a:p>
          <a:p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- 1 jádro = 1 proud požadavků. 6 jader = 6 proudů → vyšší efektivní </a:t>
            </a:r>
            <a:r>
              <a:rPr lang="cs-CZ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bandwidth</a:t>
            </a:r>
            <a:endParaRPr lang="cs-CZ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b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cs-CZ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cs-CZ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**3. B (4 MB) se vejde do L3 (32 MB):**</a:t>
            </a:r>
            <a:endParaRPr lang="cs-CZ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Všechny L2 </a:t>
            </a:r>
            <a:r>
              <a:rPr lang="cs-CZ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missy</a:t>
            </a:r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jdou do L3, NE do RAM (70-100 </a:t>
            </a:r>
            <a:r>
              <a:rPr lang="cs-CZ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ns</a:t>
            </a:r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</a:p>
          <a:p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Paralelismus tedy neztrácí nic na RAM </a:t>
            </a:r>
            <a:r>
              <a:rPr lang="cs-CZ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bottlenecku</a:t>
            </a:r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vše je v L3</a:t>
            </a:r>
          </a:p>
          <a:p>
            <a:b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cs-CZ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cs-CZ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### Proč to NEFUNGUJE u jiných velikostí</a:t>
            </a:r>
            <a:endParaRPr lang="cs-CZ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b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cs-CZ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| Velikost | B (MB) | </a:t>
            </a:r>
            <a:r>
              <a:rPr lang="cs-CZ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Stride</a:t>
            </a:r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| Vejde do L3? | Efekt |</a:t>
            </a:r>
          </a:p>
          <a:p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|----------|--------|--------|-------------|-------|</a:t>
            </a:r>
          </a:p>
          <a:p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| 512² | 1 | 2048 B | ✅ ano | Menší absolutní miss </a:t>
            </a:r>
            <a:r>
              <a:rPr lang="cs-CZ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count</a:t>
            </a:r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L2 stačí pro </a:t>
            </a:r>
            <a:r>
              <a:rPr lang="cs-CZ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working</a:t>
            </a:r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set |</a:t>
            </a:r>
          </a:p>
          <a:p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| </a:t>
            </a:r>
            <a:r>
              <a:rPr lang="cs-CZ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**1024²**</a:t>
            </a:r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| </a:t>
            </a:r>
            <a:r>
              <a:rPr lang="cs-CZ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**4**</a:t>
            </a:r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| </a:t>
            </a:r>
            <a:r>
              <a:rPr lang="cs-CZ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**4096 B**</a:t>
            </a:r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| </a:t>
            </a:r>
            <a:r>
              <a:rPr lang="cs-CZ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**✅ ano**</a:t>
            </a:r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| </a:t>
            </a:r>
            <a:r>
              <a:rPr lang="cs-CZ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**Max L2 </a:t>
            </a:r>
            <a:r>
              <a:rPr lang="cs-CZ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thrashing</a:t>
            </a:r>
            <a:r>
              <a:rPr lang="cs-CZ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ale L3 zachrání → paralelismus skryje L3 latenci**</a:t>
            </a:r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|</a:t>
            </a:r>
          </a:p>
          <a:p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| 2048² | 16 | 8192 B | ⚠️ na hraně | L3 pod tlakem, částečně RAM-</a:t>
            </a:r>
            <a:r>
              <a:rPr lang="cs-CZ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bound</a:t>
            </a:r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|</a:t>
            </a:r>
          </a:p>
          <a:p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| 4096² | 64 | 16 KB | ❌ ne | RAM </a:t>
            </a:r>
            <a:r>
              <a:rPr lang="cs-CZ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bottleneck</a:t>
            </a:r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→ </a:t>
            </a:r>
            <a:r>
              <a:rPr lang="cs-CZ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bandwidth</a:t>
            </a:r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-limited, paralelismus nepomůže |</a:t>
            </a:r>
          </a:p>
          <a:p>
            <a:b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cs-CZ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cs-CZ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### Jednoduché shrnutí (co říct komisi)</a:t>
            </a:r>
            <a:endParaRPr lang="cs-CZ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b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cs-CZ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 "Naivní násobení matic přistupuje k matici B po sloupcích se </a:t>
            </a:r>
            <a:r>
              <a:rPr lang="cs-CZ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stride</a:t>
            </a:r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4096 bytů. Pro n=1024 je to přesně </a:t>
            </a:r>
            <a:r>
              <a:rPr lang="cs-CZ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pathologický</a:t>
            </a:r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případ pro L2 </a:t>
            </a:r>
            <a:r>
              <a:rPr lang="cs-CZ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cache</a:t>
            </a:r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každý 16. prvek sloupce koliduje ve stejném </a:t>
            </a:r>
            <a:r>
              <a:rPr lang="cs-CZ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cache</a:t>
            </a:r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setu. Jedno vlákno je zaseknuté na proudu L2 </a:t>
            </a:r>
            <a:r>
              <a:rPr lang="cs-CZ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missů</a:t>
            </a:r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 latencí L3. Když přidám vlákna, hyper-</a:t>
            </a:r>
            <a:r>
              <a:rPr lang="cs-CZ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threading</a:t>
            </a:r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</a:t>
            </a:r>
            <a:r>
              <a:rPr lang="cs-CZ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vícejadrový</a:t>
            </a:r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přístup efektivně skrývají tuto latenci. Proto super-lineární </a:t>
            </a:r>
            <a:r>
              <a:rPr lang="cs-CZ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scaling</a:t>
            </a:r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nejde o to, že by vlákna počítala rychleji, ale o to, že jedno vlákno je neefektivně pomalé kvůli </a:t>
            </a:r>
            <a:r>
              <a:rPr lang="cs-CZ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cache</a:t>
            </a:r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cs-CZ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conflicts</a:t>
            </a:r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."</a:t>
            </a:r>
          </a:p>
          <a:p>
            <a:b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cs-CZ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cs-CZ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### Proč </a:t>
            </a:r>
            <a:r>
              <a:rPr lang="cs-CZ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Sequential</a:t>
            </a:r>
            <a:r>
              <a:rPr lang="cs-CZ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je ještě pomalejší než </a:t>
            </a:r>
            <a:r>
              <a:rPr lang="cs-CZ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Parallel</a:t>
            </a:r>
            <a:r>
              <a:rPr lang="cs-CZ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(1)?</a:t>
            </a:r>
            <a:endParaRPr lang="cs-CZ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b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cs-CZ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</a:t>
            </a:r>
            <a:r>
              <a:rPr lang="cs-CZ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Sequential</a:t>
            </a:r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5275 </a:t>
            </a:r>
            <a:r>
              <a:rPr lang="cs-CZ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ms</a:t>
            </a:r>
            <a:endParaRPr lang="cs-CZ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</a:t>
            </a:r>
            <a:r>
              <a:rPr lang="cs-CZ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Parallel</a:t>
            </a:r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(1): 4054 </a:t>
            </a:r>
            <a:r>
              <a:rPr lang="cs-CZ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ms</a:t>
            </a:r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(1,3× rychlejší)</a:t>
            </a:r>
          </a:p>
          <a:p>
            <a:b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cs-CZ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cs-CZ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**Příčina:**</a:t>
            </a:r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`</a:t>
            </a:r>
            <a:r>
              <a:rPr lang="cs-CZ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Parallel.For</a:t>
            </a:r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 i s jedním vláknem generuje jiný JIT kód než </a:t>
            </a:r>
            <a:r>
              <a:rPr lang="cs-CZ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plain</a:t>
            </a:r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`</a:t>
            </a:r>
            <a:r>
              <a:rPr lang="cs-CZ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</a:t>
            </a:r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 </a:t>
            </a:r>
            <a:r>
              <a:rPr lang="cs-CZ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loop</a:t>
            </a:r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</a:p>
          <a:p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</a:t>
            </a:r>
            <a:r>
              <a:rPr lang="cs-CZ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Task</a:t>
            </a:r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cs-CZ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Parallel</a:t>
            </a:r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cs-CZ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Library</a:t>
            </a:r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vytváří jiné </a:t>
            </a:r>
            <a:r>
              <a:rPr lang="cs-CZ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scope</a:t>
            </a:r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→ JIT může lépe alokovat registry</a:t>
            </a:r>
          </a:p>
          <a:p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Jiný paměťový layout lambda </a:t>
            </a:r>
            <a:r>
              <a:rPr lang="cs-CZ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capture</a:t>
            </a:r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vs. přímý přístup k poli</a:t>
            </a:r>
          </a:p>
          <a:p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Možná jiný </a:t>
            </a:r>
            <a:r>
              <a:rPr lang="cs-CZ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loop</a:t>
            </a:r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cs-CZ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unrolling</a:t>
            </a:r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/ </a:t>
            </a:r>
            <a:r>
              <a:rPr lang="cs-CZ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vectorization</a:t>
            </a:r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díky odlišné IL struktuře</a:t>
            </a:r>
          </a:p>
          <a:p>
            <a:b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cs-CZ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Toto potvrzuje, že problém je v JEDNOVLÁKNOVÉM běhu (špatný kód/</a:t>
            </a:r>
            <a:r>
              <a:rPr lang="cs-CZ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cache</a:t>
            </a:r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vzor), ne v paralelní variantě.</a:t>
            </a:r>
          </a:p>
          <a:p>
            <a:b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cs-CZ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cs-CZ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cs-CZ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Toto je silné škálování (</a:t>
            </a:r>
            <a:r>
              <a:rPr lang="cs-CZ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fixed</a:t>
            </a:r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cs-CZ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problem</a:t>
            </a:r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cs-CZ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size</a:t>
            </a:r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vary </a:t>
            </a:r>
            <a:r>
              <a:rPr lang="cs-CZ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threads</a:t>
            </a:r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). V práci mám i slabé škálování (</a:t>
            </a:r>
            <a:r>
              <a:rPr lang="cs-CZ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Gustafson</a:t>
            </a:r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— to je odlišný experiment kde velikost úlohy roste s vlákny</a:t>
            </a:r>
          </a:p>
          <a:p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</a:t>
            </a:r>
            <a:r>
              <a:rPr lang="cs-CZ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Amdahlův</a:t>
            </a:r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zákon říká: zrychlení je omezeno sekvenční částí programu. U </a:t>
            </a:r>
            <a:r>
              <a:rPr lang="cs-CZ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GoL</a:t>
            </a:r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je sekvenční část jen 1%, proto téměř ideální škálování</a:t>
            </a:r>
          </a:p>
          <a:p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Škálování odpovídá počtu fyzických jader. 12 vláken na 6 jádrech (</a:t>
            </a:r>
            <a:r>
              <a:rPr lang="cs-CZ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hyperthreading</a:t>
            </a:r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nepřináší dvojnásobek, protože 2 vlákna sdílejí fyzické prostředky jádra</a:t>
            </a:r>
          </a:p>
          <a:p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**Pokud se zeptají na </a:t>
            </a:r>
            <a:r>
              <a:rPr lang="cs-CZ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MatMul</a:t>
            </a:r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1024² super-lineární:** Graf je normalizován na </a:t>
            </a:r>
            <a:r>
              <a:rPr lang="cs-CZ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Parallel</a:t>
            </a:r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(1), přesto 1024² zůstává super-lineární na 2–8 vláknech. Sekvenční varianta je pro tuto velikost abnormálně pomalá (i </a:t>
            </a:r>
            <a:r>
              <a:rPr lang="cs-CZ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Parallel</a:t>
            </a:r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(1) je 1,3× rychlejší). I po normalizaci zůstává anomálie. Přesná příčina neznámá — v práci diskutováno otevřeně, mohl by to být efekt </a:t>
            </a:r>
            <a:r>
              <a:rPr lang="cs-CZ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cache</a:t>
            </a:r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hierarchie, JIT optimalizace nebo </a:t>
            </a:r>
            <a:r>
              <a:rPr lang="cs-CZ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task</a:t>
            </a:r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cs-CZ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scheduling</a:t>
            </a:r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Bez HW </a:t>
            </a:r>
            <a:r>
              <a:rPr lang="cs-CZ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profileru</a:t>
            </a:r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nelze určit. Toto je explicitně uvedeno jako omezení práce.</a:t>
            </a:r>
          </a:p>
          <a:p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Prakticky: CPU paralelizace s </a:t>
            </a:r>
            <a:r>
              <a:rPr lang="cs-CZ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Parallel.For</a:t>
            </a:r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je efektivní a jednoduchá, ale má strop daný počtem jader. GPU tento strop překonává řádově.</a:t>
            </a:r>
          </a:p>
          <a:p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**Pokud se zeptají na </a:t>
            </a:r>
            <a:r>
              <a:rPr lang="cs-CZ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Gustafson</a:t>
            </a:r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/slabé škálování:** V práci je separátní </a:t>
            </a:r>
            <a:r>
              <a:rPr lang="cs-CZ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weak-scaling</a:t>
            </a:r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experiment kde velikost úlohy roste s počtem vláken (</a:t>
            </a:r>
            <a:r>
              <a:rPr lang="cs-CZ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MatMul</a:t>
            </a:r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n = 512·P^(1/3), </a:t>
            </a:r>
            <a:r>
              <a:rPr lang="cs-CZ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GoL</a:t>
            </a:r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n = 512·√P). </a:t>
            </a:r>
            <a:r>
              <a:rPr lang="cs-CZ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GoL</a:t>
            </a:r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škáluje na 74% ideálu </a:t>
            </a:r>
            <a:r>
              <a:rPr lang="cs-CZ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Gustafsona</a:t>
            </a:r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na 6 jádrech, </a:t>
            </a:r>
            <a:r>
              <a:rPr lang="cs-CZ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MatMul</a:t>
            </a:r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jen 26-54% kvůli vyšší sekvenční režii.</a:t>
            </a:r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EDC5635D-6177-03C0-717B-151667D626D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556117-B546-4273-B139-40404781F9B3}" type="slidenum">
              <a:rPr lang="cs-CZ" smtClean="0"/>
              <a:t>5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23403066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75B052-51FF-A25A-6496-E849D7C0B0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>
            <a:extLst>
              <a:ext uri="{FF2B5EF4-FFF2-40B4-BE49-F238E27FC236}">
                <a16:creationId xmlns:a16="http://schemas.microsoft.com/office/drawing/2014/main" id="{695EC720-FE21-1C58-E7C4-7C9A5BD16DB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>
            <a:extLst>
              <a:ext uri="{FF2B5EF4-FFF2-40B4-BE49-F238E27FC236}">
                <a16:creationId xmlns:a16="http://schemas.microsoft.com/office/drawing/2014/main" id="{EF924ED6-96D2-E67B-3FAA-B43F6588AF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cs-CZ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cs-CZ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### 📋 Tahák</a:t>
            </a:r>
            <a:endParaRPr lang="cs-CZ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1. </a:t>
            </a:r>
            <a:r>
              <a:rPr lang="cs-CZ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**Malé = GPU pomalejší**</a:t>
            </a:r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</a:t>
            </a:r>
            <a:r>
              <a:rPr lang="cs-CZ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overhead</a:t>
            </a:r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3 </a:t>
            </a:r>
            <a:r>
              <a:rPr lang="cs-CZ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ms</a:t>
            </a:r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&gt; samotný výpočet</a:t>
            </a:r>
          </a:p>
          <a:p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2. </a:t>
            </a:r>
            <a:r>
              <a:rPr lang="cs-CZ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**Velké = řádové tisíce**</a:t>
            </a:r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GPU dominuje jednoznačně</a:t>
            </a:r>
          </a:p>
          <a:p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3. </a:t>
            </a:r>
            <a:r>
              <a:rPr lang="cs-CZ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**WOW číslo**</a:t>
            </a:r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24 minut CPU → 224 </a:t>
            </a:r>
            <a:r>
              <a:rPr lang="cs-CZ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ms</a:t>
            </a:r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GPU (</a:t>
            </a:r>
            <a:r>
              <a:rPr lang="cs-CZ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MatMul</a:t>
            </a:r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4096², CS)</a:t>
            </a:r>
          </a:p>
          <a:p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4. </a:t>
            </a:r>
            <a:r>
              <a:rPr lang="cs-CZ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**VS PARALLEL!**</a:t>
            </a:r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i po optimálním CPU (12 </a:t>
            </a:r>
            <a:r>
              <a:rPr lang="cs-CZ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vl</a:t>
            </a:r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.) je GPU STÁLE 222×/259× rychlejší</a:t>
            </a:r>
          </a:p>
          <a:p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5. </a:t>
            </a:r>
            <a:r>
              <a:rPr lang="cs-CZ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</a:t>
            </a:r>
            <a:r>
              <a:rPr lang="cs-CZ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GoL</a:t>
            </a:r>
            <a:r>
              <a:rPr lang="cs-CZ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proč vyšší**</a:t>
            </a:r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100 iterací amortizuje jednorázový přenos</a:t>
            </a:r>
          </a:p>
          <a:p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6. </a:t>
            </a:r>
            <a:r>
              <a:rPr lang="cs-CZ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</a:t>
            </a:r>
            <a:r>
              <a:rPr lang="cs-CZ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Overhead</a:t>
            </a:r>
            <a:r>
              <a:rPr lang="cs-CZ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</a:t>
            </a:r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~3 </a:t>
            </a:r>
            <a:r>
              <a:rPr lang="cs-CZ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ms</a:t>
            </a:r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konstantní (alokace + přenos + kernel + zpět)</a:t>
            </a:r>
          </a:p>
          <a:p>
            <a:b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cs-CZ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cs-CZ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### 🔥 Dotazy</a:t>
            </a:r>
            <a:endParaRPr lang="cs-CZ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| Otázka | Odpověď |</a:t>
            </a:r>
          </a:p>
          <a:p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|--------|---------|</a:t>
            </a:r>
          </a:p>
          <a:p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| Odkud 222×? | </a:t>
            </a:r>
            <a:r>
              <a:rPr lang="cs-CZ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MatMul</a:t>
            </a:r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2048²: ILGPU 34,6 </a:t>
            </a:r>
            <a:r>
              <a:rPr lang="cs-CZ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ms</a:t>
            </a:r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vs CPU par12 7675 </a:t>
            </a:r>
            <a:r>
              <a:rPr lang="cs-CZ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ms</a:t>
            </a:r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|</a:t>
            </a:r>
          </a:p>
          <a:p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| Odkud 259×? | </a:t>
            </a:r>
            <a:r>
              <a:rPr lang="cs-CZ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GoL</a:t>
            </a:r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10000²: ILGPU 368 </a:t>
            </a:r>
            <a:r>
              <a:rPr lang="cs-CZ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ms</a:t>
            </a:r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vs CPU par12 95333 </a:t>
            </a:r>
            <a:r>
              <a:rPr lang="cs-CZ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ms</a:t>
            </a:r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|</a:t>
            </a:r>
          </a:p>
          <a:p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| Proč </a:t>
            </a:r>
            <a:r>
              <a:rPr lang="cs-CZ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GoL</a:t>
            </a:r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víc i malé? | 100 iterací = </a:t>
            </a:r>
            <a:r>
              <a:rPr lang="cs-CZ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overhead</a:t>
            </a:r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se rozloží |</a:t>
            </a:r>
          </a:p>
          <a:p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| Naivní </a:t>
            </a:r>
            <a:r>
              <a:rPr lang="cs-CZ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impl</a:t>
            </a:r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.? | Záměrně — izolace efektu platformy, ne algoritmu |</a:t>
            </a:r>
          </a:p>
          <a:p>
            <a:b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Pro malé vstupy je GPU pomalejší. Režie inicializace a přenosu dat (~3 </a:t>
            </a:r>
            <a:r>
              <a:rPr lang="cs-CZ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ms</a:t>
            </a:r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je větší než samotný výpočet</a:t>
            </a:r>
          </a:p>
          <a:p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Od určité velikosti GPU dramaticky dominuje: řádově tisícinásobné zrychlení</a:t>
            </a:r>
          </a:p>
          <a:p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Konkrétně: co CPU počítalo 24 minut (</a:t>
            </a:r>
            <a:r>
              <a:rPr lang="cs-CZ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MatMul</a:t>
            </a:r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4096² sekvenčně), GPU zvládlo za 224 </a:t>
            </a:r>
            <a:r>
              <a:rPr lang="cs-CZ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ms</a:t>
            </a:r>
            <a:endParaRPr lang="cs-CZ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Game </a:t>
            </a:r>
            <a:r>
              <a:rPr lang="cs-CZ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of</a:t>
            </a:r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cs-CZ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Life</a:t>
            </a:r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dosahuje vysokých </a:t>
            </a:r>
            <a:r>
              <a:rPr lang="cs-CZ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speedupů</a:t>
            </a:r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 pro menší vstupy díky 100 iteracím (režie přenosu se "amortizuje")</a:t>
            </a:r>
          </a:p>
          <a:p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ILGPU i </a:t>
            </a:r>
            <a:r>
              <a:rPr lang="cs-CZ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ComputeSharp</a:t>
            </a:r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dosahují obrovských zrychlení, ale s odlišným profilem (více na slide 8)</a:t>
            </a:r>
          </a:p>
          <a:p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Oproti paralelnímu CPU na všech 12 vláknech je GPU stále 200-260× rychlejší, GPU dominance je jednoznačná (222× je konkrétně pro </a:t>
            </a:r>
            <a:r>
              <a:rPr lang="cs-CZ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MatMul</a:t>
            </a:r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2048², 259× pro </a:t>
            </a:r>
            <a:r>
              <a:rPr lang="cs-CZ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GoL</a:t>
            </a:r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10000²)</a:t>
            </a:r>
          </a:p>
          <a:p>
            <a:pPr marL="171450" indent="-171450">
              <a:buFontTx/>
              <a:buChar char="-"/>
            </a:pPr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Důležité: tato čísla platí pro konkrétní hardware a naivní implementaci, nejsou univerzální, ale demonstrují potenciál</a:t>
            </a:r>
          </a:p>
          <a:p>
            <a:endParaRPr lang="cs-CZ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indent="-171450">
              <a:buFontTx/>
              <a:buChar char="-"/>
            </a:pPr>
            <a:endParaRPr lang="cs-CZ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EFDABF37-7366-3E07-E738-523A82868F0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556117-B546-4273-B139-40404781F9B3}" type="slidenum">
              <a:rPr lang="cs-CZ" smtClean="0"/>
              <a:t>6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90553715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07DB56-DFD7-31CA-C0E5-B831E8D8DA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>
            <a:extLst>
              <a:ext uri="{FF2B5EF4-FFF2-40B4-BE49-F238E27FC236}">
                <a16:creationId xmlns:a16="http://schemas.microsoft.com/office/drawing/2014/main" id="{2478F7C6-68BB-93E1-1666-E20AA15D20B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>
            <a:extLst>
              <a:ext uri="{FF2B5EF4-FFF2-40B4-BE49-F238E27FC236}">
                <a16:creationId xmlns:a16="http://schemas.microsoft.com/office/drawing/2014/main" id="{1030C325-8408-36C8-AB2A-2F2BA9B8EC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1">
              <a:buBlip>
                <a:blip r:embed="rId3"/>
              </a:buBlip>
            </a:pPr>
            <a:endParaRPr lang="cs-CZ" sz="1200" b="1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457200" lvl="1" indent="0">
              <a:buNone/>
            </a:pPr>
            <a:r>
              <a:rPr lang="cs-CZ" sz="1200" b="1" dirty="0"/>
              <a:t>GPU </a:t>
            </a:r>
            <a:r>
              <a:rPr lang="cs-CZ" sz="1200" b="1" dirty="0" err="1"/>
              <a:t>overhead</a:t>
            </a:r>
            <a:r>
              <a:rPr lang="cs-CZ" sz="1200" b="1" dirty="0"/>
              <a:t> je cca 3 </a:t>
            </a:r>
            <a:r>
              <a:rPr lang="cs-CZ" sz="1200" b="1" dirty="0" err="1"/>
              <a:t>ms</a:t>
            </a:r>
            <a:r>
              <a:rPr lang="cs-CZ" sz="1200" b="1" dirty="0"/>
              <a:t> (alokace bufferů + přenos dat + spuštění kernelu)</a:t>
            </a:r>
          </a:p>
          <a:p>
            <a:pPr marL="457200" lvl="1" indent="0">
              <a:buNone/>
            </a:pPr>
            <a:b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cs-CZ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### 📋 Tahák</a:t>
            </a:r>
            <a:endParaRPr lang="cs-CZ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1. </a:t>
            </a:r>
            <a:r>
              <a:rPr lang="cs-CZ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**Nejpraktičtější výstup**</a:t>
            </a:r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říká vývojáři "od jakého N se GPU vyplatí"</a:t>
            </a:r>
          </a:p>
          <a:p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2. </a:t>
            </a:r>
            <a:r>
              <a:rPr lang="cs-CZ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</a:t>
            </a:r>
            <a:r>
              <a:rPr lang="cs-CZ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GoL</a:t>
            </a:r>
            <a:r>
              <a:rPr lang="cs-CZ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nízko (28²)**</a:t>
            </a:r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100 iterací amortizuje přenos přes </a:t>
            </a:r>
            <a:r>
              <a:rPr lang="cs-CZ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PCIe</a:t>
            </a:r>
            <a:endParaRPr lang="cs-CZ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3. </a:t>
            </a:r>
            <a:r>
              <a:rPr lang="cs-CZ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</a:t>
            </a:r>
            <a:r>
              <a:rPr lang="cs-CZ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MatMul</a:t>
            </a:r>
            <a:r>
              <a:rPr lang="cs-CZ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výše (140²)**</a:t>
            </a:r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ale kubická → s rostoucím N stále výhodnější</a:t>
            </a:r>
          </a:p>
          <a:p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4. </a:t>
            </a:r>
            <a:r>
              <a:rPr lang="cs-CZ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**Proč rozdíl**</a:t>
            </a:r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poměr </a:t>
            </a:r>
            <a:r>
              <a:rPr lang="cs-CZ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compute</a:t>
            </a:r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/transfer: </a:t>
            </a:r>
            <a:r>
              <a:rPr lang="cs-CZ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GoL</a:t>
            </a:r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= 100:1 fixní, </a:t>
            </a:r>
            <a:r>
              <a:rPr lang="cs-CZ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MatMul</a:t>
            </a:r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= n roste</a:t>
            </a:r>
          </a:p>
          <a:p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5. </a:t>
            </a:r>
            <a:r>
              <a:rPr lang="cs-CZ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**Prakticky**</a:t>
            </a:r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pod 140² matice = GPU nemá smysl. Nad = jednoznačně GPU</a:t>
            </a:r>
          </a:p>
          <a:p>
            <a:b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cs-CZ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cs-CZ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### 🔥 Dotazy</a:t>
            </a:r>
            <a:endParaRPr lang="cs-CZ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| Otázka | Odpověď |</a:t>
            </a:r>
          </a:p>
          <a:p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|--------|---------|</a:t>
            </a:r>
          </a:p>
          <a:p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| Crossover vs par CPU? | </a:t>
            </a:r>
            <a:r>
              <a:rPr lang="cs-CZ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GoL</a:t>
            </a:r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~100² (ILGPU 4,34 </a:t>
            </a:r>
            <a:r>
              <a:rPr lang="cs-CZ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ms</a:t>
            </a:r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vs par12 13,11 </a:t>
            </a:r>
            <a:r>
              <a:rPr lang="cs-CZ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ms</a:t>
            </a:r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|</a:t>
            </a:r>
          </a:p>
          <a:p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| Co je </a:t>
            </a:r>
            <a:r>
              <a:rPr lang="cs-CZ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overhead</a:t>
            </a:r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 | Alokace buffer + CPU→GPU copy + kernel </a:t>
            </a:r>
            <a:r>
              <a:rPr lang="cs-CZ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launch</a:t>
            </a:r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+ GPU→CPU copy |</a:t>
            </a:r>
          </a:p>
          <a:p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| </a:t>
            </a:r>
            <a:r>
              <a:rPr lang="cs-CZ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Pipeline</a:t>
            </a:r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 | Data na GPU = </a:t>
            </a:r>
            <a:r>
              <a:rPr lang="cs-CZ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overhead</a:t>
            </a:r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klesá = crossover níže |</a:t>
            </a:r>
          </a:p>
          <a:p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| Bez přenosu? | Crossover by klesl, ale nereálný scénář. S přenosem = praxe |</a:t>
            </a:r>
          </a:p>
          <a:p>
            <a:pPr marL="457200" lvl="1" indent="0">
              <a:buNone/>
            </a:pPr>
            <a:b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cs-CZ" sz="1200" b="1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cs-CZ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Graf na slidu (nový Obr. 6.5) ukazuje crossover pro obě úlohy najednou — 4 křivky, ale přehledné díky barevnému kódování (červená = </a:t>
            </a:r>
            <a:r>
              <a:rPr lang="cs-CZ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MatMul</a:t>
            </a:r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modrá = </a:t>
            </a:r>
            <a:r>
              <a:rPr lang="cs-CZ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GoL</a:t>
            </a:r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čárkovaná = CPU, plná = GPU)</a:t>
            </a:r>
          </a:p>
          <a:p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Crossover point je nejpraktičtější výstup celé práce: říká vývojáři, od jaké velikosti dat má smysl investovat do GPU implementace</a:t>
            </a:r>
          </a:p>
          <a:p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Game </a:t>
            </a:r>
            <a:r>
              <a:rPr lang="cs-CZ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of</a:t>
            </a:r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cs-CZ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Life</a:t>
            </a:r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má crossover mnohem níže (~28²), protože 100 iterací výpočtu "amortizuje" jednorázovou režii přenosu dat přes </a:t>
            </a:r>
            <a:r>
              <a:rPr lang="cs-CZ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PCIe</a:t>
            </a:r>
            <a:endParaRPr lang="cs-CZ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Upřesnění: </a:t>
            </a:r>
            <a:r>
              <a:rPr lang="cs-CZ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GoL</a:t>
            </a:r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crossover ~32² platí vs. sekvenční CPU. Oproti paralelnímu CPU (12 </a:t>
            </a:r>
            <a:r>
              <a:rPr lang="cs-CZ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vl</a:t>
            </a:r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.) je crossover výše, přibližně u 100² (ILGPU 4,34 </a:t>
            </a:r>
            <a:r>
              <a:rPr lang="cs-CZ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ms</a:t>
            </a:r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vs. CPU par 13,11 </a:t>
            </a:r>
            <a:r>
              <a:rPr lang="cs-CZ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ms</a:t>
            </a:r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</a:p>
          <a:p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U násobení matic kubická složitost výpočtu vs. kvadratická velikost přenosu znamená, že s rostoucím n se GPU vyplatí stále více</a:t>
            </a:r>
          </a:p>
          <a:p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Prakticky: pro matice pod 140×140 nemá GPU smysl. Pro větší úlohy je GPU jednoznačně výhodnější.</a:t>
            </a:r>
          </a:p>
          <a:p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GPU </a:t>
            </a:r>
            <a:r>
              <a:rPr lang="cs-CZ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overhead</a:t>
            </a:r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~3 </a:t>
            </a:r>
            <a:r>
              <a:rPr lang="cs-CZ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ms</a:t>
            </a:r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zahrnuje: alokaci GPU bufferů, kopírování dat CPU→GPU, spuštění kernelu, kopírování výsledků GPU→CPU</a:t>
            </a:r>
          </a:p>
          <a:p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Pokud aplikace drží data na GPU mezi voláními (</a:t>
            </a:r>
            <a:r>
              <a:rPr lang="cs-CZ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pipeline</a:t>
            </a:r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), </a:t>
            </a:r>
            <a:r>
              <a:rPr lang="cs-CZ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overhead</a:t>
            </a:r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se dále snižuje a crossover klesá</a:t>
            </a:r>
          </a:p>
          <a:p>
            <a:endParaRPr lang="cs-CZ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cs-CZ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09B1CAC0-71B9-3CF7-F3D7-CB4640CBBA9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556117-B546-4273-B139-40404781F9B3}" type="slidenum">
              <a:rPr lang="cs-CZ" smtClean="0"/>
              <a:t>7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71946523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9C9D5E-A510-1EB0-CCDE-38B7875C1A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>
            <a:extLst>
              <a:ext uri="{FF2B5EF4-FFF2-40B4-BE49-F238E27FC236}">
                <a16:creationId xmlns:a16="http://schemas.microsoft.com/office/drawing/2014/main" id="{A40F2EC0-0630-AB53-9EDB-9CDF974CAD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>
            <a:extLst>
              <a:ext uri="{FF2B5EF4-FFF2-40B4-BE49-F238E27FC236}">
                <a16:creationId xmlns:a16="http://schemas.microsoft.com/office/drawing/2014/main" id="{DF966611-DEBE-5AC7-A7E3-1DC723922A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s-CZ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Vidime</a:t>
            </a:r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…</a:t>
            </a:r>
          </a:p>
          <a:p>
            <a:r>
              <a:rPr lang="cs-CZ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Vídíme</a:t>
            </a:r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že trend jasny </a:t>
            </a:r>
            <a:r>
              <a:rPr lang="cs-CZ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GoL</a:t>
            </a:r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je konzistentně rychlejší na ILGPU implementaci</a:t>
            </a:r>
          </a:p>
          <a:p>
            <a:endParaRPr lang="cs-CZ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Game </a:t>
            </a:r>
            <a:r>
              <a:rPr lang="cs-CZ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of</a:t>
            </a:r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cs-CZ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Life</a:t>
            </a:r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– se od </a:t>
            </a:r>
            <a:r>
              <a:rPr lang="cs-CZ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nasobení</a:t>
            </a:r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matic </a:t>
            </a:r>
            <a:r>
              <a:rPr lang="cs-CZ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liší</a:t>
            </a:r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tím že je </a:t>
            </a:r>
            <a:r>
              <a:rPr lang="cs-CZ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náročnější na </a:t>
            </a:r>
            <a:r>
              <a:rPr lang="cs-CZ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přistupy</a:t>
            </a:r>
            <a:r>
              <a:rPr lang="cs-CZ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do paměti </a:t>
            </a:r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(každá buňka 8 sousedů + </a:t>
            </a:r>
            <a:r>
              <a:rPr lang="cs-CZ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jednoduchy</a:t>
            </a:r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vypočet) a vyžaduje po </a:t>
            </a:r>
            <a:r>
              <a:rPr lang="cs-CZ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každé iteraci synchronizaci </a:t>
            </a:r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 CPU a </a:t>
            </a:r>
            <a:r>
              <a:rPr lang="cs-CZ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nový </a:t>
            </a:r>
            <a:r>
              <a:rPr lang="cs-CZ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dispatch</a:t>
            </a:r>
            <a:r>
              <a:rPr lang="cs-CZ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(spuštění kernelu), </a:t>
            </a:r>
          </a:p>
          <a:p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</a:t>
            </a:r>
            <a:r>
              <a:rPr lang="cs-CZ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Zajimavost</a:t>
            </a:r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pro zamezení nutnosti po </a:t>
            </a:r>
            <a:r>
              <a:rPr lang="cs-CZ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každe</a:t>
            </a:r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cs-CZ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iteraci </a:t>
            </a:r>
            <a:r>
              <a:rPr lang="cs-CZ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kopirovat</a:t>
            </a:r>
            <a:r>
              <a:rPr lang="cs-CZ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data </a:t>
            </a:r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zpět na CPU byl použít tak zvaný double </a:t>
            </a:r>
            <a:r>
              <a:rPr lang="cs-CZ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buffering</a:t>
            </a:r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neboli </a:t>
            </a:r>
            <a:r>
              <a:rPr lang="cs-CZ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ping pong </a:t>
            </a:r>
            <a:r>
              <a:rPr lang="cs-CZ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buffering</a:t>
            </a:r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kdy se GPU </a:t>
            </a:r>
            <a:r>
              <a:rPr lang="cs-CZ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buffer</a:t>
            </a:r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 </a:t>
            </a:r>
            <a:r>
              <a:rPr lang="cs-CZ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výsledkem</a:t>
            </a:r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jen </a:t>
            </a:r>
            <a:r>
              <a:rPr lang="cs-CZ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prohodí</a:t>
            </a:r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 </a:t>
            </a:r>
            <a:r>
              <a:rPr lang="cs-CZ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bufffrem</a:t>
            </a:r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cs-CZ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obsahujicim</a:t>
            </a:r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cs-CZ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původní hodnoty</a:t>
            </a:r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díky tomu </a:t>
            </a:r>
            <a:r>
              <a:rPr lang="cs-CZ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není nutné </a:t>
            </a:r>
            <a:r>
              <a:rPr lang="cs-CZ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kopirovat</a:t>
            </a:r>
            <a:r>
              <a:rPr lang="cs-CZ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data </a:t>
            </a:r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Z GPU na Cpu po </a:t>
            </a:r>
            <a:r>
              <a:rPr lang="cs-CZ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každé iteraci.</a:t>
            </a:r>
            <a:b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cs-CZ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cs-CZ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Nasobeni</a:t>
            </a:r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Matic – ILGPU konzistentní, ale u </a:t>
            </a:r>
            <a:r>
              <a:rPr lang="cs-CZ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ComputeSharp</a:t>
            </a:r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vetší fluktuace, výsledky jsou méně průkazné a nejde určit který je </a:t>
            </a:r>
            <a:r>
              <a:rPr lang="cs-CZ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celkove</a:t>
            </a:r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lepší. (vidíme že CS je lepši pro male a </a:t>
            </a:r>
            <a:r>
              <a:rPr lang="cs-CZ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velke</a:t>
            </a:r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matice takže se muže jednat o </a:t>
            </a:r>
            <a:r>
              <a:rPr lang="cs-CZ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anomalii</a:t>
            </a:r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</a:p>
          <a:p>
            <a:endParaRPr lang="cs-CZ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cs-CZ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Nasobeni</a:t>
            </a:r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matic naopak je </a:t>
            </a:r>
            <a:r>
              <a:rPr lang="cs-CZ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vypočetně</a:t>
            </a:r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náročné a nevyžaduje takovou správu od CPU</a:t>
            </a:r>
          </a:p>
          <a:p>
            <a:endParaRPr lang="cs-CZ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cs-CZ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**ILGPU**</a:t>
            </a:r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= většina | </a:t>
            </a:r>
            <a:r>
              <a:rPr lang="cs-CZ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**CS**</a:t>
            </a:r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= velké jednorázové</a:t>
            </a:r>
          </a:p>
          <a:p>
            <a:b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cs-CZ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cs-CZ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### 📋 Tahák</a:t>
            </a:r>
            <a:endParaRPr lang="cs-CZ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1. </a:t>
            </a:r>
            <a:r>
              <a:rPr lang="cs-CZ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**ILGPU = CUDA**</a:t>
            </a:r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nízká latence opakovaných kernel volání → </a:t>
            </a:r>
            <a:r>
              <a:rPr lang="cs-CZ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GoL</a:t>
            </a:r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100 iterací</a:t>
            </a:r>
          </a:p>
          <a:p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2. </a:t>
            </a:r>
            <a:r>
              <a:rPr lang="cs-CZ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**CS = DX12**</a:t>
            </a:r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efektivní správa velkých bufferů → </a:t>
            </a:r>
            <a:r>
              <a:rPr lang="cs-CZ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MatMul</a:t>
            </a:r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4096² jednorázový</a:t>
            </a:r>
          </a:p>
          <a:p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3. </a:t>
            </a:r>
            <a:r>
              <a:rPr lang="cs-CZ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**Většina = ILGPU**</a:t>
            </a:r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CS vyhrává jen u jednoho velkého výpočtu</a:t>
            </a:r>
          </a:p>
          <a:p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4. </a:t>
            </a:r>
            <a:r>
              <a:rPr lang="cs-CZ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**Obě životaschopné**</a:t>
            </a:r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GPU </a:t>
            </a:r>
            <a:r>
              <a:rPr lang="cs-CZ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computing</a:t>
            </a:r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v C# bez nativní CUDA C++</a:t>
            </a:r>
          </a:p>
          <a:p>
            <a:b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cs-CZ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cs-CZ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### 🔥 Dotazy</a:t>
            </a:r>
            <a:endParaRPr lang="cs-CZ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| Otázka | Odpověď |</a:t>
            </a:r>
          </a:p>
          <a:p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|--------|---------|</a:t>
            </a:r>
          </a:p>
          <a:p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| Přenositelnost? | ILGPU: </a:t>
            </a:r>
            <a:r>
              <a:rPr lang="cs-CZ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CUDA+OpenCL</a:t>
            </a:r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cs-CZ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multi</a:t>
            </a:r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-OS. CS: DX12, Windows, jakýkoliv GPU |</a:t>
            </a:r>
          </a:p>
          <a:p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| Proč CS u 4096²? | Pravděpodobně efektivnější </a:t>
            </a:r>
            <a:r>
              <a:rPr lang="cs-CZ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memory</a:t>
            </a:r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management DX12. Bez </a:t>
            </a:r>
            <a:r>
              <a:rPr lang="cs-CZ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profileru</a:t>
            </a:r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nelze potvrdit |</a:t>
            </a:r>
          </a:p>
          <a:p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| DX limit? | 65535 </a:t>
            </a:r>
            <a:r>
              <a:rPr lang="cs-CZ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thread</a:t>
            </a:r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cs-CZ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groups</a:t>
            </a:r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→ řešeno 2D </a:t>
            </a:r>
            <a:r>
              <a:rPr lang="cs-CZ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dispatch</a:t>
            </a:r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|</a:t>
            </a:r>
          </a:p>
          <a:p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| Doporučení? | ILGPU pro většinu. CS pokud velké jednorázové + jen Windows |</a:t>
            </a:r>
          </a:p>
          <a:p>
            <a:b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cs-CZ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cs-CZ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0D455288-F3B7-5A5D-4CE9-447D7F513A4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556117-B546-4273-B139-40404781F9B3}" type="slidenum">
              <a:rPr lang="cs-CZ" smtClean="0"/>
              <a:t>8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1621045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s-CZ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### 📋 Tahák</a:t>
            </a:r>
            <a:endParaRPr lang="cs-CZ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1. </a:t>
            </a:r>
            <a:r>
              <a:rPr lang="cs-CZ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**Shrnout 1 větou**</a:t>
            </a:r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GPU v C# funguje, řádově rychlejší, rozhoduje poměr výpočet/přenos</a:t>
            </a:r>
          </a:p>
          <a:p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2. </a:t>
            </a:r>
            <a:r>
              <a:rPr lang="cs-CZ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**Přínos**</a:t>
            </a:r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vývojář ví: od jaké velikosti + jakou knihovnou</a:t>
            </a:r>
          </a:p>
          <a:p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3. </a:t>
            </a:r>
            <a:r>
              <a:rPr lang="cs-CZ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**Omezení = design**</a:t>
            </a:r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naivní algoritmy = izolace efektu platformy, ne nedostatek</a:t>
            </a:r>
          </a:p>
          <a:p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4. </a:t>
            </a:r>
            <a:r>
              <a:rPr lang="cs-CZ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**Budoucí**</a:t>
            </a:r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AMD, </a:t>
            </a:r>
            <a:r>
              <a:rPr lang="cs-CZ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tiled</a:t>
            </a:r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cs-CZ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profiling</a:t>
            </a:r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(zmínit jen krátce)</a:t>
            </a:r>
          </a:p>
          <a:p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5. </a:t>
            </a:r>
            <a:r>
              <a:rPr lang="cs-CZ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**NEŘÍKAT**</a:t>
            </a:r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"cíl splněn" / "práce se povedla" (to hodnotí komise)</a:t>
            </a:r>
          </a:p>
          <a:p>
            <a:b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cs-CZ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cs-CZ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### 🔥 Dotazy</a:t>
            </a:r>
            <a:endParaRPr lang="cs-CZ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| Otázka | Odpověď |</a:t>
            </a:r>
          </a:p>
          <a:p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|--------|---------|</a:t>
            </a:r>
          </a:p>
          <a:p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| Naivní algoritmy? | Záměrný design — izolace platformy, ne algoritmu |</a:t>
            </a:r>
          </a:p>
          <a:p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| Komunikace s vedoucím? | "Uznávám, nebyla dostatečná. Zpětně bych jinak. Na kvalitě jsem neubral." |</a:t>
            </a:r>
          </a:p>
          <a:p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| AMD? | Kód by fungoval beze změn (ILGPU </a:t>
            </a:r>
            <a:r>
              <a:rPr lang="cs-CZ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OpenCL</a:t>
            </a:r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/ CS DX12). Navrženo jako budoucí práce |</a:t>
            </a:r>
          </a:p>
          <a:p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| Proč jen 2 úlohy? | Pokrývají 2 hlavní vzory (</a:t>
            </a:r>
            <a:r>
              <a:rPr lang="cs-CZ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compute</a:t>
            </a:r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+ </a:t>
            </a:r>
            <a:r>
              <a:rPr lang="cs-CZ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memory</a:t>
            </a:r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cs-CZ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bound</a:t>
            </a:r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). Pro širší závěry třeba víc |</a:t>
            </a:r>
          </a:p>
          <a:p>
            <a:endParaRPr lang="cs-CZ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556117-B546-4273-B139-40404781F9B3}" type="slidenum">
              <a:rPr lang="cs-CZ" smtClean="0"/>
              <a:t>9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79555636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"Děkuji za pozornost. Rád zodpovím vaše otázky."</a:t>
            </a:r>
          </a:p>
          <a:p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Poděkovat vedoucímu za vedení práce</a:t>
            </a:r>
          </a:p>
          <a:p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Připravit se na přečtení hlavních bodů z posudků a následné zodpovězení otázek</a:t>
            </a:r>
          </a:p>
          <a:p>
            <a:endParaRPr lang="cs-CZ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556117-B546-4273-B139-40404781F9B3}" type="slidenum">
              <a:rPr lang="cs-CZ" smtClean="0"/>
              <a:t>10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78960734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DFC84F-0E2C-B6D4-015B-0E58CA1855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>
            <a:extLst>
              <a:ext uri="{FF2B5EF4-FFF2-40B4-BE49-F238E27FC236}">
                <a16:creationId xmlns:a16="http://schemas.microsoft.com/office/drawing/2014/main" id="{E0D3D076-6CC5-1295-BF31-0B7537D5D8F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>
            <a:extLst>
              <a:ext uri="{FF2B5EF4-FFF2-40B4-BE49-F238E27FC236}">
                <a16:creationId xmlns:a16="http://schemas.microsoft.com/office/drawing/2014/main" id="{E679EBC0-9C03-0516-588C-5BF52C895B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s-CZ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Motivací práce bylo zjistit, kdy se paralelizace pomocí GPU reálně vyplatí a jaký výkon lze získat oproti klasickému CPU</a:t>
            </a:r>
          </a:p>
          <a:p>
            <a:r>
              <a:rPr lang="cs-CZ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 posledních dvou dekádách rostou výpočetní nároky, CPU to řeší přidáváním jader, ale GPU to řeší jinak: tisíce jednoduchých jader pro stejnou operaci na velkém množství dat</a:t>
            </a:r>
          </a:p>
          <a:p>
            <a:r>
              <a:rPr lang="cs-CZ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Záměrně zkoumám C#/.NET ekosystém, který je v GPU </a:t>
            </a:r>
            <a:r>
              <a:rPr lang="cs-CZ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computingu</a:t>
            </a:r>
            <a:r>
              <a:rPr lang="cs-CZ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méně prozkoumaný než Python nebo C++</a:t>
            </a:r>
          </a:p>
          <a:p>
            <a:r>
              <a:rPr lang="cs-CZ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Crossover point je prakticky nejužitečnější výstup: říká vývojáři "od této velikosti dat se GPU investice vyplatí"</a:t>
            </a:r>
          </a:p>
          <a:p>
            <a:r>
              <a:rPr lang="cs-CZ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Práce má teoretický i praktický cíl: popsat principy a ověřit je experimentem</a:t>
            </a:r>
          </a:p>
          <a:p>
            <a:endParaRPr lang="cs-CZ" dirty="0"/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5863AA2D-412C-17C4-C53A-A66FF48C3D3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556117-B546-4273-B139-40404781F9B3}" type="slidenum">
              <a:rPr lang="cs-CZ" smtClean="0"/>
              <a:t>11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8380816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D60B6D-E06A-5A5F-60C4-0DF011CB96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>
            <a:extLst>
              <a:ext uri="{FF2B5EF4-FFF2-40B4-BE49-F238E27FC236}">
                <a16:creationId xmlns:a16="http://schemas.microsoft.com/office/drawing/2014/main" id="{50F4DD2C-53B7-1EA5-63D7-2FC7CCC0C1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>
            <a:extLst>
              <a:ext uri="{FF2B5EF4-FFF2-40B4-BE49-F238E27FC236}">
                <a16:creationId xmlns:a16="http://schemas.microsoft.com/office/drawing/2014/main" id="{1A90942F-BCF0-1366-38BB-8E75EFDDDD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s-CZ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Motivací práce bylo zjistit, kdy se paralelizace pomocí GPU reálně vyplatí a jaký výkon lze získat oproti klasickému CPU</a:t>
            </a:r>
          </a:p>
          <a:p>
            <a:r>
              <a:rPr lang="cs-CZ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 posledních dvou dekádách rostou výpočetní nároky, CPU to řeší přidáváním jader, ale GPU to řeší jinak: tisíce jednoduchých jader pro stejnou operaci na velkém množství dat</a:t>
            </a:r>
          </a:p>
          <a:p>
            <a:r>
              <a:rPr lang="cs-CZ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Záměrně zkoumám C#/.NET ekosystém, který je v GPU </a:t>
            </a:r>
            <a:r>
              <a:rPr lang="cs-CZ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computingu</a:t>
            </a:r>
            <a:r>
              <a:rPr lang="cs-CZ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méně prozkoumaný než Python nebo C++</a:t>
            </a:r>
          </a:p>
          <a:p>
            <a:r>
              <a:rPr lang="cs-CZ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Crossover point je prakticky nejužitečnější výstup: říká vývojáři "od této velikosti dat se GPU investice vyplatí"</a:t>
            </a:r>
          </a:p>
          <a:p>
            <a:r>
              <a:rPr lang="cs-CZ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Práce má teoretický i praktický cíl: popsat principy a ověřit je experimentem</a:t>
            </a:r>
          </a:p>
          <a:p>
            <a:endParaRPr lang="cs-CZ" dirty="0"/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F944403F-E75F-AFAD-A8BA-F4B28F8B3CD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556117-B546-4273-B139-40404781F9B3}" type="slidenum">
              <a:rPr lang="cs-CZ" smtClean="0"/>
              <a:t>12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29861211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89A80D-E990-0BB3-28CE-0EAB24A07D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>
            <a:extLst>
              <a:ext uri="{FF2B5EF4-FFF2-40B4-BE49-F238E27FC236}">
                <a16:creationId xmlns:a16="http://schemas.microsoft.com/office/drawing/2014/main" id="{3D1EEF6F-8A5E-58E5-49AD-4EF18DC77D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>
            <a:extLst>
              <a:ext uri="{FF2B5EF4-FFF2-40B4-BE49-F238E27FC236}">
                <a16:creationId xmlns:a16="http://schemas.microsoft.com/office/drawing/2014/main" id="{D987383B-742F-F716-2623-0D2060BC7D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s-CZ" dirty="0"/>
              <a:t>Nechtěl jsem testovat jen jednu úlohu, protože ta by ukázala pouze jeden typ chování GPU. Násobení matic je typicky </a:t>
            </a:r>
            <a:r>
              <a:rPr lang="cs-CZ" dirty="0" err="1"/>
              <a:t>compute-bound</a:t>
            </a:r>
            <a:r>
              <a:rPr lang="cs-CZ" dirty="0"/>
              <a:t>, takže GPU těží z velkého množství paralelních aritmetických operací. Game </a:t>
            </a:r>
            <a:r>
              <a:rPr lang="cs-CZ" dirty="0" err="1"/>
              <a:t>of</a:t>
            </a:r>
            <a:r>
              <a:rPr lang="cs-CZ" dirty="0"/>
              <a:t> </a:t>
            </a:r>
            <a:r>
              <a:rPr lang="cs-CZ" dirty="0" err="1"/>
              <a:t>Life</a:t>
            </a:r>
            <a:r>
              <a:rPr lang="cs-CZ" dirty="0"/>
              <a:t> je naopak více </a:t>
            </a:r>
            <a:r>
              <a:rPr lang="cs-CZ" dirty="0" err="1"/>
              <a:t>memory-bound</a:t>
            </a:r>
            <a:r>
              <a:rPr lang="cs-CZ" dirty="0"/>
              <a:t> a iterativní, protože opakovaně čte okolní buňky a spouští kernel. Díky kombinaci těchto dvou úloh lze lépe vysvětlit, proč se crossover bod i zrychlení mezi úlohami liší.</a:t>
            </a:r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93330F05-C7AB-617B-A642-D2B12515099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556117-B546-4273-B139-40404781F9B3}" type="slidenum">
              <a:rPr lang="cs-CZ" smtClean="0"/>
              <a:t>13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5658301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B6D9F7-0C9B-2456-148E-61C8A8ECC9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>
            <a:extLst>
              <a:ext uri="{FF2B5EF4-FFF2-40B4-BE49-F238E27FC236}">
                <a16:creationId xmlns:a16="http://schemas.microsoft.com/office/drawing/2014/main" id="{8A95F618-2D83-3639-7BEA-17F7FF6CE8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>
            <a:extLst>
              <a:ext uri="{FF2B5EF4-FFF2-40B4-BE49-F238E27FC236}">
                <a16:creationId xmlns:a16="http://schemas.microsoft.com/office/drawing/2014/main" id="{CD50B854-77AB-096A-35EB-68A62B6A44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ILGPU </a:t>
            </a:r>
            <a:r>
              <a:rPr lang="cs-CZ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multi-backend</a:t>
            </a:r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je záměr, kód to podporuje. Jen jsem neměl AMD HW. Není to design </a:t>
            </a:r>
            <a:r>
              <a:rPr lang="cs-CZ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flaw</a:t>
            </a:r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je to </a:t>
            </a:r>
            <a:r>
              <a:rPr lang="cs-CZ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scope</a:t>
            </a:r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omezení.</a:t>
            </a:r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F63CB109-E45E-AD3A-3EC5-4C9137C63E7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556117-B546-4273-B139-40404781F9B3}" type="slidenum">
              <a:rPr lang="cs-CZ" smtClean="0"/>
              <a:t>14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43839641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3D4D51-B94B-8B1C-624E-37B024DDC1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>
            <a:extLst>
              <a:ext uri="{FF2B5EF4-FFF2-40B4-BE49-F238E27FC236}">
                <a16:creationId xmlns:a16="http://schemas.microsoft.com/office/drawing/2014/main" id="{032083D4-041C-0FD9-6733-B1674EAB400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>
            <a:extLst>
              <a:ext uri="{FF2B5EF4-FFF2-40B4-BE49-F238E27FC236}">
                <a16:creationId xmlns:a16="http://schemas.microsoft.com/office/drawing/2014/main" id="{1A067EEB-78D2-8751-0515-BBEBD2C93D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"Děkuji za pozornost. Rád zodpovím vaše otázky."</a:t>
            </a:r>
          </a:p>
          <a:p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Poděkovat vedoucímu za vedení práce</a:t>
            </a:r>
          </a:p>
          <a:p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Připravit se na přečtení hlavních bodů z posudků a následné zodpovězení otázek</a:t>
            </a:r>
          </a:p>
          <a:p>
            <a:endParaRPr lang="cs-CZ" dirty="0"/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2EA874FE-7A36-1224-33D4-B177DBA02FB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556117-B546-4273-B139-40404781F9B3}" type="slidenum">
              <a:rPr lang="cs-CZ" smtClean="0"/>
              <a:t>15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81063160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CFD23F-D3BE-F4CC-206C-2270764B49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>
            <a:extLst>
              <a:ext uri="{FF2B5EF4-FFF2-40B4-BE49-F238E27FC236}">
                <a16:creationId xmlns:a16="http://schemas.microsoft.com/office/drawing/2014/main" id="{E8383BA8-E6E6-122A-8205-5EC86DAA32B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>
            <a:extLst>
              <a:ext uri="{FF2B5EF4-FFF2-40B4-BE49-F238E27FC236}">
                <a16:creationId xmlns:a16="http://schemas.microsoft.com/office/drawing/2014/main" id="{2282931A-61DD-FAC3-4BF2-7E4DB181DB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s-CZ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Zvolil jsem dvě úlohy s odlišnými vlastnostmi: násobení matic testuje čistý výpočetní výkon (</a:t>
            </a:r>
            <a:r>
              <a:rPr lang="cs-CZ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compute-bound</a:t>
            </a:r>
            <a:r>
              <a:rPr lang="cs-CZ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), Game </a:t>
            </a:r>
            <a:r>
              <a:rPr lang="cs-CZ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of</a:t>
            </a:r>
            <a:r>
              <a:rPr lang="cs-CZ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cs-CZ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Life</a:t>
            </a:r>
            <a:r>
              <a:rPr lang="cs-CZ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testuje propustnost paměti (</a:t>
            </a:r>
            <a:r>
              <a:rPr lang="cs-CZ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memory-bound</a:t>
            </a:r>
            <a:r>
              <a:rPr lang="cs-CZ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</a:p>
          <a:p>
            <a:r>
              <a:rPr lang="cs-CZ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Každá úloha implementována ve 4 variantách pro postupné porovnání (co dá CPU paralelizace, co přidá GPU)</a:t>
            </a:r>
          </a:p>
          <a:p>
            <a:r>
              <a:rPr lang="cs-CZ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Hardware: středně výkonný </a:t>
            </a:r>
            <a:r>
              <a:rPr lang="cs-CZ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šestijádrový</a:t>
            </a:r>
            <a:r>
              <a:rPr lang="cs-CZ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procesor proti </a:t>
            </a:r>
            <a:r>
              <a:rPr lang="cs-CZ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high</a:t>
            </a:r>
            <a:r>
              <a:rPr lang="cs-CZ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-end GPU, aby rozdíly byly dobře viditelné</a:t>
            </a:r>
          </a:p>
          <a:p>
            <a:r>
              <a:rPr lang="cs-CZ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Statistický protokol zajišťuje spolehlivost: </a:t>
            </a:r>
            <a:r>
              <a:rPr lang="cs-CZ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warmup</a:t>
            </a:r>
            <a:r>
              <a:rPr lang="cs-CZ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eliminuje vliv JIT kompilace, adaptivní počet běhů šetří čas u dlouhých testů, medián je robustní vůči náhodným výkyvům</a:t>
            </a:r>
          </a:p>
          <a:p>
            <a:r>
              <a:rPr lang="cs-CZ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CPU testováno na 1, 2, 4, 6, 8, 12 vláknech pro analýzu škálování</a:t>
            </a:r>
          </a:p>
          <a:p>
            <a:r>
              <a:rPr lang="cs-CZ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Měření zahrnuje kompletní čas včetně přenosu dat na GPU (reálný scénář)</a:t>
            </a:r>
          </a:p>
          <a:p>
            <a:endParaRPr lang="cs-CZ" dirty="0"/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779F2C7B-3E59-1E73-89A4-832432CBE41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556117-B546-4273-B139-40404781F9B3}" type="slidenum">
              <a:rPr lang="cs-CZ" smtClean="0"/>
              <a:t>17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60748910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47C1B8-809F-267B-B045-625F5DE773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>
            <a:extLst>
              <a:ext uri="{FF2B5EF4-FFF2-40B4-BE49-F238E27FC236}">
                <a16:creationId xmlns:a16="http://schemas.microsoft.com/office/drawing/2014/main" id="{4CC3697E-3D45-7249-4537-5A3E46FE19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>
            <a:extLst>
              <a:ext uri="{FF2B5EF4-FFF2-40B4-BE49-F238E27FC236}">
                <a16:creationId xmlns:a16="http://schemas.microsoft.com/office/drawing/2014/main" id="{F757BFD7-08EA-9BCD-5CBB-79253B186B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b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cs-CZ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cs-CZ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### 📋 Tahák</a:t>
            </a:r>
            <a:endParaRPr lang="cs-CZ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1. </a:t>
            </a:r>
            <a:r>
              <a:rPr lang="cs-CZ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**Ukázat graf**</a:t>
            </a:r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</a:t>
            </a:r>
            <a:r>
              <a:rPr lang="cs-CZ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GoL</a:t>
            </a:r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škáluje ideálně do 6 jader, pak </a:t>
            </a:r>
            <a:r>
              <a:rPr lang="cs-CZ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plateau</a:t>
            </a:r>
            <a:endParaRPr lang="cs-CZ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2. </a:t>
            </a:r>
            <a:r>
              <a:rPr lang="cs-CZ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</a:t>
            </a:r>
            <a:r>
              <a:rPr lang="cs-CZ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Amdahl</a:t>
            </a:r>
            <a:r>
              <a:rPr lang="cs-CZ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</a:t>
            </a:r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P = 0,99, jen 1 % sekvenční → proto téměř ideální</a:t>
            </a:r>
          </a:p>
          <a:p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3. </a:t>
            </a:r>
            <a:r>
              <a:rPr lang="cs-CZ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**HT nepomáhá**</a:t>
            </a:r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2 logická vlákna sdílejí fyzické prostředky 1 jádra</a:t>
            </a:r>
          </a:p>
          <a:p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4. </a:t>
            </a:r>
            <a:r>
              <a:rPr lang="cs-CZ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</a:t>
            </a:r>
            <a:r>
              <a:rPr lang="cs-CZ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MatMul</a:t>
            </a:r>
            <a:r>
              <a:rPr lang="cs-CZ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horší**</a:t>
            </a:r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omezeno </a:t>
            </a:r>
            <a:r>
              <a:rPr lang="cs-CZ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memory</a:t>
            </a:r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cs-CZ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bandwidth</a:t>
            </a:r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ne </a:t>
            </a:r>
            <a:r>
              <a:rPr lang="cs-CZ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compute</a:t>
            </a:r>
            <a:endParaRPr lang="cs-CZ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5. </a:t>
            </a:r>
            <a:r>
              <a:rPr lang="cs-CZ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**KLÍČOVÉ**</a:t>
            </a:r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→ "strop jasný, na dalším slidu GPU ho láme"</a:t>
            </a:r>
          </a:p>
          <a:p>
            <a:b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cs-CZ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cs-CZ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### 🔥 Dotazy</a:t>
            </a:r>
            <a:endParaRPr lang="cs-CZ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| Otázka | Odpověď |</a:t>
            </a:r>
          </a:p>
          <a:p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|--------|---------|</a:t>
            </a:r>
          </a:p>
          <a:p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| </a:t>
            </a:r>
            <a:r>
              <a:rPr lang="cs-CZ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MatMul</a:t>
            </a:r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1024² anomálie? | </a:t>
            </a:r>
            <a:r>
              <a:rPr lang="cs-CZ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Cache</a:t>
            </a:r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efekt: </a:t>
            </a:r>
            <a:r>
              <a:rPr lang="cs-CZ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stride</a:t>
            </a:r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4096B = L2 </a:t>
            </a:r>
            <a:r>
              <a:rPr lang="cs-CZ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thrashing</a:t>
            </a:r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paralelismus skrývá latenci. Sec 7.4 |</a:t>
            </a:r>
          </a:p>
          <a:p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| Proč ne </a:t>
            </a:r>
            <a:r>
              <a:rPr lang="cs-CZ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MatMul</a:t>
            </a:r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graf? | </a:t>
            </a:r>
            <a:r>
              <a:rPr lang="cs-CZ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GoL</a:t>
            </a:r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čistší demonstrace. </a:t>
            </a:r>
            <a:r>
              <a:rPr lang="cs-CZ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MatMul</a:t>
            </a:r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= Obr. 6.2 v práci |</a:t>
            </a:r>
          </a:p>
          <a:p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| </a:t>
            </a:r>
            <a:r>
              <a:rPr lang="cs-CZ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Gustafson</a:t>
            </a:r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 | </a:t>
            </a:r>
            <a:r>
              <a:rPr lang="cs-CZ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Weak-scaling</a:t>
            </a:r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cs-CZ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GoL</a:t>
            </a:r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74 % ideálu/6 jader, </a:t>
            </a:r>
            <a:r>
              <a:rPr lang="cs-CZ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MatMul</a:t>
            </a:r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26–54 %. Sec 6.5 |</a:t>
            </a:r>
          </a:p>
          <a:p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| HT proč nepomáhá? | Sdílejí ALU, </a:t>
            </a:r>
            <a:r>
              <a:rPr lang="cs-CZ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cache</a:t>
            </a:r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cs-CZ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execution</a:t>
            </a:r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cs-CZ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ports</a:t>
            </a:r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cs-CZ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GoL</a:t>
            </a:r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cs-CZ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compute-bound</a:t>
            </a:r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na jádro |</a:t>
            </a:r>
          </a:p>
          <a:p>
            <a:b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cs-CZ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cs-CZ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cs-CZ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Toto je silné škálování (</a:t>
            </a:r>
            <a:r>
              <a:rPr lang="cs-CZ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fixed</a:t>
            </a:r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cs-CZ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problem</a:t>
            </a:r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cs-CZ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size</a:t>
            </a:r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vary </a:t>
            </a:r>
            <a:r>
              <a:rPr lang="cs-CZ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threads</a:t>
            </a:r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). V práci mám i slabé škálování (</a:t>
            </a:r>
            <a:r>
              <a:rPr lang="cs-CZ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Gustafson</a:t>
            </a:r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— to je odlišný experiment kde velikost úlohy roste s vlákny</a:t>
            </a:r>
          </a:p>
          <a:p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</a:t>
            </a:r>
            <a:r>
              <a:rPr lang="cs-CZ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Amdahlův</a:t>
            </a:r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zákon říká: zrychlení je omezeno sekvenční částí programu. U </a:t>
            </a:r>
            <a:r>
              <a:rPr lang="cs-CZ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GoL</a:t>
            </a:r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je sekvenční část jen 1%, proto téměř ideální škálování</a:t>
            </a:r>
          </a:p>
          <a:p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Škálování odpovídá počtu fyzických jader. 12 vláken na 6 jádrech (</a:t>
            </a:r>
            <a:r>
              <a:rPr lang="cs-CZ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hyperthreading</a:t>
            </a:r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nepřináší dvojnásobek, protože 2 vlákna sdílejí fyzické prostředky jádra</a:t>
            </a:r>
          </a:p>
          <a:p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**Pokud se zeptají na </a:t>
            </a:r>
            <a:r>
              <a:rPr lang="cs-CZ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MatMul</a:t>
            </a:r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1024² super-lineární:** Graf je normalizován na </a:t>
            </a:r>
            <a:r>
              <a:rPr lang="cs-CZ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Parallel</a:t>
            </a:r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(1), přesto 1024² zůstává super-lineární na 2–8 vláknech. Sekvenční varianta je pro tuto velikost abnormálně pomalá (i </a:t>
            </a:r>
            <a:r>
              <a:rPr lang="cs-CZ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Parallel</a:t>
            </a:r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(1) je 1,3× rychlejší). I po normalizaci zůstává anomálie. Přesná příčina neznámá — v práci diskutováno otevřeně, mohl by to být efekt </a:t>
            </a:r>
            <a:r>
              <a:rPr lang="cs-CZ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cache</a:t>
            </a:r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hierarchie, JIT optimalizace nebo </a:t>
            </a:r>
            <a:r>
              <a:rPr lang="cs-CZ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task</a:t>
            </a:r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cs-CZ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scheduling</a:t>
            </a:r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Bez HW </a:t>
            </a:r>
            <a:r>
              <a:rPr lang="cs-CZ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profileru</a:t>
            </a:r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nelze určit. Toto je explicitně uvedeno jako omezení práce.</a:t>
            </a:r>
          </a:p>
          <a:p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Prakticky: CPU paralelizace s </a:t>
            </a:r>
            <a:r>
              <a:rPr lang="cs-CZ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Parallel.For</a:t>
            </a:r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je efektivní a jednoduchá, ale má strop daný počtem jader. GPU tento strop překonává řádově.</a:t>
            </a:r>
          </a:p>
          <a:p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**Pokud se zeptají na </a:t>
            </a:r>
            <a:r>
              <a:rPr lang="cs-CZ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Gustafson</a:t>
            </a:r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/slabé škálování:** V práci je separátní </a:t>
            </a:r>
            <a:r>
              <a:rPr lang="cs-CZ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weak-scaling</a:t>
            </a:r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experiment kde velikost úlohy roste s počtem vláken (</a:t>
            </a:r>
            <a:r>
              <a:rPr lang="cs-CZ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MatMul</a:t>
            </a:r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n = 512·P^(1/3), </a:t>
            </a:r>
            <a:r>
              <a:rPr lang="cs-CZ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GoL</a:t>
            </a:r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n = 512·√P). </a:t>
            </a:r>
            <a:r>
              <a:rPr lang="cs-CZ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GoL</a:t>
            </a:r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škáluje na 74% ideálu </a:t>
            </a:r>
            <a:r>
              <a:rPr lang="cs-CZ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Gustafsona</a:t>
            </a:r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na 6 jádrech, </a:t>
            </a:r>
            <a:r>
              <a:rPr lang="cs-CZ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MatMul</a:t>
            </a:r>
            <a:r>
              <a:rPr lang="cs-CZ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jen 26-54% kvůli vyšší sekvenční režii.</a:t>
            </a:r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D82F3389-9DDB-76DD-E530-E0191620558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556117-B546-4273-B139-40404781F9B3}" type="slidenum">
              <a:rPr lang="cs-CZ" smtClean="0"/>
              <a:t>18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1475733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ctrTitle"/>
          </p:nvPr>
        </p:nvSpPr>
        <p:spPr>
          <a:xfrm>
            <a:off x="685800" y="1597820"/>
            <a:ext cx="7772400" cy="1102519"/>
          </a:xfrm>
        </p:spPr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Podnadpis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cs-CZ"/>
              <a:t>Kliknutím lze upravit styl předlohy.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AC8B1C-927A-47B0-A48E-07839BA1748C}" type="datetimeFigureOut">
              <a:rPr lang="cs-CZ" smtClean="0"/>
              <a:t>30.05.2026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0808B9-4D1F-4069-9EB9-CD8802008F4E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9128808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AC8B1C-927A-47B0-A48E-07839BA1748C}" type="datetimeFigureOut">
              <a:rPr lang="cs-CZ" smtClean="0"/>
              <a:t>30.05.2026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0808B9-4D1F-4069-9EB9-CD8802008F4E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8906028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čás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7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Kliknutím lze upravit styly předlohy textu.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AC8B1C-927A-47B0-A48E-07839BA1748C}" type="datetimeFigureOut">
              <a:rPr lang="cs-CZ" smtClean="0"/>
              <a:t>30.05.2026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0808B9-4D1F-4069-9EB9-CD8802008F4E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9155513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sz="half" idx="1"/>
          </p:nvPr>
        </p:nvSpPr>
        <p:spPr>
          <a:xfrm>
            <a:off x="457200" y="1200150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/>
          </p:nvPr>
        </p:nvSpPr>
        <p:spPr>
          <a:xfrm>
            <a:off x="4648200" y="1200150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AC8B1C-927A-47B0-A48E-07839BA1748C}" type="datetimeFigureOut">
              <a:rPr lang="cs-CZ" smtClean="0"/>
              <a:t>30.05.2026</a:t>
            </a:fld>
            <a:endParaRPr lang="cs-CZ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0808B9-4D1F-4069-9EB9-CD8802008F4E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5934835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Kliknutím lze upravit styly předlohy textu.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text 4"/>
          <p:cNvSpPr>
            <a:spLocks noGrp="1"/>
          </p:cNvSpPr>
          <p:nvPr>
            <p:ph type="body" sz="quarter" idx="3"/>
          </p:nvPr>
        </p:nvSpPr>
        <p:spPr>
          <a:xfrm>
            <a:off x="4645027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Kliknutím lze upravit styly předlohy textu.</a:t>
            </a:r>
          </a:p>
        </p:txBody>
      </p:sp>
      <p:sp>
        <p:nvSpPr>
          <p:cNvPr id="6" name="Zástupný symbol pro obsah 5"/>
          <p:cNvSpPr>
            <a:spLocks noGrp="1"/>
          </p:cNvSpPr>
          <p:nvPr>
            <p:ph sz="quarter" idx="4"/>
          </p:nvPr>
        </p:nvSpPr>
        <p:spPr>
          <a:xfrm>
            <a:off x="4645027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7" name="Zástupný symbol pro datum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AC8B1C-927A-47B0-A48E-07839BA1748C}" type="datetimeFigureOut">
              <a:rPr lang="cs-CZ" smtClean="0"/>
              <a:t>30.05.2026</a:t>
            </a:fld>
            <a:endParaRPr lang="cs-CZ"/>
          </a:p>
        </p:txBody>
      </p:sp>
      <p:sp>
        <p:nvSpPr>
          <p:cNvPr id="8" name="Zástupný symbol pro zápatí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9" name="Zástupný symbol pro číslo snímku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0808B9-4D1F-4069-9EB9-CD8802008F4E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1736978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Pouze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datum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AC8B1C-927A-47B0-A48E-07839BA1748C}" type="datetimeFigureOut">
              <a:rPr lang="cs-CZ" smtClean="0"/>
              <a:t>30.05.2026</a:t>
            </a:fld>
            <a:endParaRPr lang="cs-CZ"/>
          </a:p>
        </p:txBody>
      </p:sp>
      <p:sp>
        <p:nvSpPr>
          <p:cNvPr id="4" name="Zástupný symbol pro zápatí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Zástupný symbol pro číslo snímk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0808B9-4D1F-4069-9EB9-CD8802008F4E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8586805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datum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AC8B1C-927A-47B0-A48E-07839BA1748C}" type="datetimeFigureOut">
              <a:rPr lang="cs-CZ" smtClean="0"/>
              <a:t>30.05.2026</a:t>
            </a:fld>
            <a:endParaRPr lang="cs-CZ"/>
          </a:p>
        </p:txBody>
      </p:sp>
      <p:sp>
        <p:nvSpPr>
          <p:cNvPr id="3" name="Zástupný symbol pro zápatí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0808B9-4D1F-4069-9EB9-CD8802008F4E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0182256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457202" y="204788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text 3"/>
          <p:cNvSpPr>
            <a:spLocks noGrp="1"/>
          </p:cNvSpPr>
          <p:nvPr>
            <p:ph type="body" sz="half" idx="2"/>
          </p:nvPr>
        </p:nvSpPr>
        <p:spPr>
          <a:xfrm>
            <a:off x="457202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/>
              <a:t>Kliknutím lze upravit styly předlohy textu.</a:t>
            </a:r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AC8B1C-927A-47B0-A48E-07839BA1748C}" type="datetimeFigureOut">
              <a:rPr lang="cs-CZ" smtClean="0"/>
              <a:t>30.05.2026</a:t>
            </a:fld>
            <a:endParaRPr lang="cs-CZ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0808B9-4D1F-4069-9EB9-CD8802008F4E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539975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obrázek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cs-CZ"/>
          </a:p>
        </p:txBody>
      </p:sp>
      <p:sp>
        <p:nvSpPr>
          <p:cNvPr id="4" name="Zástupný symbol pro text 3"/>
          <p:cNvSpPr>
            <a:spLocks noGrp="1"/>
          </p:cNvSpPr>
          <p:nvPr>
            <p:ph type="body" sz="half" idx="2"/>
          </p:nvPr>
        </p:nvSpPr>
        <p:spPr>
          <a:xfrm>
            <a:off x="1792288" y="4025504"/>
            <a:ext cx="5486400" cy="60364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/>
              <a:t>Kliknutím lze upravit styly předlohy textu.</a:t>
            </a:r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AC8B1C-927A-47B0-A48E-07839BA1748C}" type="datetimeFigureOut">
              <a:rPr lang="cs-CZ" smtClean="0"/>
              <a:t>30.05.2026</a:t>
            </a:fld>
            <a:endParaRPr lang="cs-CZ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0808B9-4D1F-4069-9EB9-CD8802008F4E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3563982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AC8B1C-927A-47B0-A48E-07839BA1748C}" type="datetimeFigureOut">
              <a:rPr lang="cs-CZ" smtClean="0"/>
              <a:t>30.05.2026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0808B9-4D1F-4069-9EB9-CD8802008F4E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3952462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vislý nadpis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AC8B1C-927A-47B0-A48E-07839BA1748C}" type="datetimeFigureOut">
              <a:rPr lang="cs-CZ" smtClean="0"/>
              <a:t>30.05.2026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0808B9-4D1F-4069-9EB9-CD8802008F4E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522119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nadpis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457200" y="1200150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2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AC8B1C-927A-47B0-A48E-07839BA1748C}" type="datetimeFigureOut">
              <a:rPr lang="cs-CZ" smtClean="0"/>
              <a:t>30.05.2026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3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4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0808B9-4D1F-4069-9EB9-CD8802008F4E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8388454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svg"/><Relationship Id="rId4" Type="http://schemas.openxmlformats.org/officeDocument/2006/relationships/image" Target="../media/image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Skupina 3">
            <a:extLst>
              <a:ext uri="{FF2B5EF4-FFF2-40B4-BE49-F238E27FC236}">
                <a16:creationId xmlns:a16="http://schemas.microsoft.com/office/drawing/2014/main" id="{CF937454-C819-4C95-813A-73E6A1E76613}"/>
              </a:ext>
            </a:extLst>
          </p:cNvPr>
          <p:cNvGrpSpPr/>
          <p:nvPr/>
        </p:nvGrpSpPr>
        <p:grpSpPr>
          <a:xfrm>
            <a:off x="-163148" y="0"/>
            <a:ext cx="9307148" cy="5143500"/>
            <a:chOff x="-163148" y="0"/>
            <a:chExt cx="9307148" cy="5143500"/>
          </a:xfrm>
        </p:grpSpPr>
        <p:pic>
          <p:nvPicPr>
            <p:cNvPr id="3" name="Obrázek 2">
              <a:extLst>
                <a:ext uri="{FF2B5EF4-FFF2-40B4-BE49-F238E27FC236}">
                  <a16:creationId xmlns:a16="http://schemas.microsoft.com/office/drawing/2014/main" id="{3DB907D3-9F92-4892-8CBE-EA7F3D6838D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0" y="0"/>
              <a:ext cx="9144000" cy="5143500"/>
            </a:xfrm>
            <a:prstGeom prst="rect">
              <a:avLst/>
            </a:prstGeom>
          </p:spPr>
        </p:pic>
        <p:sp>
          <p:nvSpPr>
            <p:cNvPr id="13" name="Obdélník: se zakulacenými rohy 12">
              <a:extLst>
                <a:ext uri="{FF2B5EF4-FFF2-40B4-BE49-F238E27FC236}">
                  <a16:creationId xmlns:a16="http://schemas.microsoft.com/office/drawing/2014/main" id="{85237D80-94D7-45A4-A3FA-12A54210D606}"/>
                </a:ext>
              </a:extLst>
            </p:cNvPr>
            <p:cNvSpPr/>
            <p:nvPr/>
          </p:nvSpPr>
          <p:spPr>
            <a:xfrm>
              <a:off x="-163148" y="4515966"/>
              <a:ext cx="2480595" cy="288032"/>
            </a:xfrm>
            <a:prstGeom prst="roundRect">
              <a:avLst>
                <a:gd name="adj" fmla="val 50000"/>
              </a:avLst>
            </a:prstGeom>
            <a:solidFill>
              <a:srgbClr val="30787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 dirty="0"/>
            </a:p>
          </p:txBody>
        </p:sp>
        <p:sp>
          <p:nvSpPr>
            <p:cNvPr id="14" name="TextovéPole 13">
              <a:extLst>
                <a:ext uri="{FF2B5EF4-FFF2-40B4-BE49-F238E27FC236}">
                  <a16:creationId xmlns:a16="http://schemas.microsoft.com/office/drawing/2014/main" id="{7524115B-EB76-44B4-A8B2-02837B9EB826}"/>
                </a:ext>
              </a:extLst>
            </p:cNvPr>
            <p:cNvSpPr txBox="1"/>
            <p:nvPr/>
          </p:nvSpPr>
          <p:spPr>
            <a:xfrm>
              <a:off x="611559" y="4496221"/>
              <a:ext cx="17058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cs-CZ" sz="1400" b="1" dirty="0">
                  <a:solidFill>
                    <a:schemeClr val="bg1"/>
                  </a:solidFill>
                </a:rPr>
                <a:t>www.slu.cz/opf/cz</a:t>
              </a:r>
            </a:p>
          </p:txBody>
        </p:sp>
        <p:pic>
          <p:nvPicPr>
            <p:cNvPr id="16" name="Obrázek 15">
              <a:extLst>
                <a:ext uri="{FF2B5EF4-FFF2-40B4-BE49-F238E27FC236}">
                  <a16:creationId xmlns:a16="http://schemas.microsoft.com/office/drawing/2014/main" id="{A0950B4E-DAB5-43A2-898E-94A6A076921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442392" y="325900"/>
              <a:ext cx="1953684" cy="956834"/>
            </a:xfrm>
            <a:prstGeom prst="rect">
              <a:avLst/>
            </a:prstGeom>
          </p:spPr>
        </p:pic>
      </p:grpSp>
      <p:sp>
        <p:nvSpPr>
          <p:cNvPr id="9" name="Nadpis 1">
            <a:extLst>
              <a:ext uri="{FF2B5EF4-FFF2-40B4-BE49-F238E27FC236}">
                <a16:creationId xmlns:a16="http://schemas.microsoft.com/office/drawing/2014/main" id="{687E8438-E225-4B7F-A764-FEFBC2D78C02}"/>
              </a:ext>
            </a:extLst>
          </p:cNvPr>
          <p:cNvSpPr txBox="1">
            <a:spLocks/>
          </p:cNvSpPr>
          <p:nvPr/>
        </p:nvSpPr>
        <p:spPr>
          <a:xfrm>
            <a:off x="611559" y="1563639"/>
            <a:ext cx="6094041" cy="874761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 lnSpcReduction="2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cs-CZ" sz="3200" b="1" cap="all" dirty="0">
                <a:solidFill>
                  <a:srgbClr val="307871"/>
                </a:solidFill>
              </a:rPr>
              <a:t>Možnosti paralelizace výpočtů pomocí grafických karet</a:t>
            </a:r>
          </a:p>
        </p:txBody>
      </p:sp>
      <p:sp>
        <p:nvSpPr>
          <p:cNvPr id="11" name="Podnadpis 2">
            <a:extLst>
              <a:ext uri="{FF2B5EF4-FFF2-40B4-BE49-F238E27FC236}">
                <a16:creationId xmlns:a16="http://schemas.microsoft.com/office/drawing/2014/main" id="{5C589846-0791-43CE-8FFB-8E00A7889DA2}"/>
              </a:ext>
            </a:extLst>
          </p:cNvPr>
          <p:cNvSpPr txBox="1">
            <a:spLocks/>
          </p:cNvSpPr>
          <p:nvPr/>
        </p:nvSpPr>
        <p:spPr>
          <a:xfrm>
            <a:off x="5292079" y="3867894"/>
            <a:ext cx="2203229" cy="11521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cs-CZ" altLang="cs-CZ" sz="1000" b="1" dirty="0">
                <a:solidFill>
                  <a:schemeClr val="tx1"/>
                </a:solidFill>
                <a:latin typeface="+mj-lt"/>
                <a:cs typeface="Times New Roman" panose="02020603050405020304" pitchFamily="18" charset="0"/>
              </a:rPr>
              <a:t>Bc. Jakub Kubisz</a:t>
            </a:r>
          </a:p>
          <a:p>
            <a:pPr algn="r"/>
            <a:r>
              <a:rPr lang="cs-CZ" altLang="cs-CZ" sz="1000" dirty="0">
                <a:solidFill>
                  <a:schemeClr val="tx1"/>
                </a:solidFill>
                <a:latin typeface="+mj-lt"/>
                <a:cs typeface="Times New Roman" panose="02020603050405020304" pitchFamily="18" charset="0"/>
              </a:rPr>
              <a:t>Vedoucí: doc. Ing. Jan </a:t>
            </a:r>
            <a:r>
              <a:rPr lang="cs-CZ" altLang="cs-CZ" sz="1000" dirty="0" err="1">
                <a:solidFill>
                  <a:schemeClr val="tx1"/>
                </a:solidFill>
                <a:latin typeface="+mj-lt"/>
                <a:cs typeface="Times New Roman" panose="02020603050405020304" pitchFamily="18" charset="0"/>
              </a:rPr>
              <a:t>Górecki</a:t>
            </a:r>
            <a:r>
              <a:rPr lang="cs-CZ" altLang="cs-CZ" sz="1000" dirty="0">
                <a:solidFill>
                  <a:schemeClr val="tx1"/>
                </a:solidFill>
                <a:latin typeface="+mj-lt"/>
                <a:cs typeface="Times New Roman" panose="02020603050405020304" pitchFamily="18" charset="0"/>
              </a:rPr>
              <a:t>, Ph.D.</a:t>
            </a:r>
          </a:p>
          <a:p>
            <a:pPr algn="r"/>
            <a:r>
              <a:rPr lang="cs-CZ" altLang="cs-CZ" sz="1000" dirty="0">
                <a:solidFill>
                  <a:schemeClr val="tx1"/>
                </a:solidFill>
                <a:latin typeface="+mj-lt"/>
                <a:cs typeface="Times New Roman" panose="02020603050405020304" pitchFamily="18" charset="0"/>
              </a:rPr>
              <a:t>Oponent: Ing. Radomír </a:t>
            </a:r>
            <a:r>
              <a:rPr lang="cs-CZ" altLang="cs-CZ" sz="1000" dirty="0" err="1">
                <a:solidFill>
                  <a:schemeClr val="tx1"/>
                </a:solidFill>
                <a:latin typeface="+mj-lt"/>
                <a:cs typeface="Times New Roman" panose="02020603050405020304" pitchFamily="18" charset="0"/>
              </a:rPr>
              <a:t>Perzina</a:t>
            </a:r>
            <a:r>
              <a:rPr lang="cs-CZ" altLang="cs-CZ" sz="1000" dirty="0">
                <a:solidFill>
                  <a:schemeClr val="tx1"/>
                </a:solidFill>
                <a:latin typeface="+mj-lt"/>
                <a:cs typeface="Times New Roman" panose="02020603050405020304" pitchFamily="18" charset="0"/>
              </a:rPr>
              <a:t>, Ph.D. </a:t>
            </a:r>
          </a:p>
          <a:p>
            <a:pPr algn="r"/>
            <a:r>
              <a:rPr lang="cs-CZ" altLang="cs-CZ" sz="1000" dirty="0">
                <a:solidFill>
                  <a:schemeClr val="tx1"/>
                </a:solidFill>
                <a:latin typeface="+mj-lt"/>
                <a:cs typeface="Times New Roman" panose="02020603050405020304" pitchFamily="18" charset="0"/>
              </a:rPr>
              <a:t>28. 5. 2026</a:t>
            </a:r>
          </a:p>
        </p:txBody>
      </p:sp>
      <p:sp>
        <p:nvSpPr>
          <p:cNvPr id="12" name="Podnadpis 2">
            <a:extLst>
              <a:ext uri="{FF2B5EF4-FFF2-40B4-BE49-F238E27FC236}">
                <a16:creationId xmlns:a16="http://schemas.microsoft.com/office/drawing/2014/main" id="{78A62DA0-465C-4E19-B567-BEF2445B33A3}"/>
              </a:ext>
            </a:extLst>
          </p:cNvPr>
          <p:cNvSpPr txBox="1">
            <a:spLocks/>
          </p:cNvSpPr>
          <p:nvPr/>
        </p:nvSpPr>
        <p:spPr>
          <a:xfrm>
            <a:off x="630089" y="3219822"/>
            <a:ext cx="3672408" cy="7200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cs-CZ" sz="1600" dirty="0">
                <a:latin typeface="+mj-lt"/>
                <a:cs typeface="Times New Roman" panose="02020603050405020304" pitchFamily="18" charset="0"/>
              </a:rPr>
              <a:t>Obhajoba diplomové práce</a:t>
            </a:r>
          </a:p>
        </p:txBody>
      </p:sp>
      <p:cxnSp>
        <p:nvCxnSpPr>
          <p:cNvPr id="15" name="Přímá spojnice 14">
            <a:extLst>
              <a:ext uri="{FF2B5EF4-FFF2-40B4-BE49-F238E27FC236}">
                <a16:creationId xmlns:a16="http://schemas.microsoft.com/office/drawing/2014/main" id="{FB0B3410-AB3B-4EDF-9D45-E78871371410}"/>
              </a:ext>
            </a:extLst>
          </p:cNvPr>
          <p:cNvCxnSpPr>
            <a:cxnSpLocks/>
          </p:cNvCxnSpPr>
          <p:nvPr/>
        </p:nvCxnSpPr>
        <p:spPr>
          <a:xfrm flipH="1">
            <a:off x="709604" y="2295298"/>
            <a:ext cx="997276" cy="0"/>
          </a:xfrm>
          <a:prstGeom prst="line">
            <a:avLst/>
          </a:prstGeom>
          <a:ln w="19050">
            <a:solidFill>
              <a:srgbClr val="30787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380636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Obrázek 10">
            <a:extLst>
              <a:ext uri="{FF2B5EF4-FFF2-40B4-BE49-F238E27FC236}">
                <a16:creationId xmlns:a16="http://schemas.microsoft.com/office/drawing/2014/main" id="{13F11D11-9FCA-4671-BA5C-C8A78A2406F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14" name="Zástupný symbol pro obsah 2">
            <a:extLst>
              <a:ext uri="{FF2B5EF4-FFF2-40B4-BE49-F238E27FC236}">
                <a16:creationId xmlns:a16="http://schemas.microsoft.com/office/drawing/2014/main" id="{9F32186E-5A08-4375-B0BD-0C87E62A8DFA}"/>
              </a:ext>
            </a:extLst>
          </p:cNvPr>
          <p:cNvSpPr txBox="1">
            <a:spLocks/>
          </p:cNvSpPr>
          <p:nvPr/>
        </p:nvSpPr>
        <p:spPr>
          <a:xfrm>
            <a:off x="4596976" y="1449368"/>
            <a:ext cx="4608512" cy="31674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cs-CZ" sz="2400" b="1" dirty="0"/>
              <a:t>Cíle</a:t>
            </a:r>
          </a:p>
          <a:p>
            <a:pPr marL="0" indent="0" algn="ctr">
              <a:buNone/>
            </a:pPr>
            <a:endParaRPr lang="cs-CZ" sz="1400" b="1" dirty="0"/>
          </a:p>
          <a:p>
            <a:pPr>
              <a:buBlip>
                <a:blip r:embed="rId4"/>
              </a:buBlip>
            </a:pPr>
            <a:r>
              <a:rPr lang="cs-CZ" sz="1400" b="1" dirty="0"/>
              <a:t>Ověřit, kdy se GPU paralelizace v prostředí .NET reálně vyplatí oproti CPU</a:t>
            </a:r>
          </a:p>
          <a:p>
            <a:pPr>
              <a:buBlip>
                <a:blip r:embed="rId4"/>
              </a:buBlip>
            </a:pPr>
            <a:r>
              <a:rPr lang="cs-CZ" sz="1400" b="1" dirty="0"/>
              <a:t>Implementovat dvě úlohy ve variantách: sekvenční CPU, paralelní CPU, GPU</a:t>
            </a:r>
          </a:p>
          <a:p>
            <a:pPr>
              <a:buBlip>
                <a:blip r:embed="rId4"/>
              </a:buBlip>
            </a:pPr>
            <a:r>
              <a:rPr lang="cs-CZ" sz="1400" b="1" dirty="0"/>
              <a:t>Analyzovat škálování pomocí </a:t>
            </a:r>
            <a:r>
              <a:rPr lang="cs-CZ" sz="1400" b="1" dirty="0" err="1"/>
              <a:t>Amdahlova</a:t>
            </a:r>
            <a:r>
              <a:rPr lang="cs-CZ" sz="1400" b="1" dirty="0"/>
              <a:t> a </a:t>
            </a:r>
            <a:r>
              <a:rPr lang="cs-CZ" sz="1400" b="1" dirty="0" err="1"/>
              <a:t>Gustafsonova</a:t>
            </a:r>
            <a:r>
              <a:rPr lang="cs-CZ" sz="1400" b="1" dirty="0"/>
              <a:t> zákona</a:t>
            </a:r>
          </a:p>
          <a:p>
            <a:pPr>
              <a:buBlip>
                <a:blip r:embed="rId4"/>
              </a:buBlip>
            </a:pPr>
            <a:r>
              <a:rPr lang="cs-CZ" sz="1400" b="1" dirty="0"/>
              <a:t>Porovnat dvě .NET GPU knihovny (ILGPU a </a:t>
            </a:r>
            <a:r>
              <a:rPr lang="cs-CZ" sz="1400" b="1" dirty="0" err="1"/>
              <a:t>ComputeSharp</a:t>
            </a:r>
            <a:r>
              <a:rPr lang="cs-CZ" sz="1400" b="1" dirty="0"/>
              <a:t>)</a:t>
            </a:r>
            <a:endParaRPr lang="cs-CZ" altLang="cs-CZ" sz="1400" b="1" dirty="0">
              <a:solidFill>
                <a:srgbClr val="307871"/>
              </a:solidFill>
              <a:cs typeface="Times New Roman" panose="02020603050405020304" pitchFamily="18" charset="0"/>
            </a:endParaRPr>
          </a:p>
        </p:txBody>
      </p:sp>
      <p:sp>
        <p:nvSpPr>
          <p:cNvPr id="17" name="Nadpis 1">
            <a:extLst>
              <a:ext uri="{FF2B5EF4-FFF2-40B4-BE49-F238E27FC236}">
                <a16:creationId xmlns:a16="http://schemas.microsoft.com/office/drawing/2014/main" id="{E3EB44EC-C4DB-45B3-B140-89D74BD24ABC}"/>
              </a:ext>
            </a:extLst>
          </p:cNvPr>
          <p:cNvSpPr txBox="1">
            <a:spLocks/>
          </p:cNvSpPr>
          <p:nvPr/>
        </p:nvSpPr>
        <p:spPr>
          <a:xfrm>
            <a:off x="596752" y="462980"/>
            <a:ext cx="6279504" cy="66861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cs-CZ" sz="3200" b="1" cap="all" dirty="0">
                <a:solidFill>
                  <a:srgbClr val="307871"/>
                </a:solidFill>
              </a:rPr>
              <a:t>Motivace a cíle</a:t>
            </a:r>
          </a:p>
        </p:txBody>
      </p:sp>
      <p:cxnSp>
        <p:nvCxnSpPr>
          <p:cNvPr id="16" name="Přímá spojnice 15">
            <a:extLst>
              <a:ext uri="{FF2B5EF4-FFF2-40B4-BE49-F238E27FC236}">
                <a16:creationId xmlns:a16="http://schemas.microsoft.com/office/drawing/2014/main" id="{5F0C02EF-9092-4081-AAC3-2797EEE80548}"/>
              </a:ext>
            </a:extLst>
          </p:cNvPr>
          <p:cNvCxnSpPr>
            <a:cxnSpLocks/>
          </p:cNvCxnSpPr>
          <p:nvPr/>
        </p:nvCxnSpPr>
        <p:spPr>
          <a:xfrm flipH="1">
            <a:off x="709604" y="1175158"/>
            <a:ext cx="997276" cy="0"/>
          </a:xfrm>
          <a:prstGeom prst="line">
            <a:avLst/>
          </a:prstGeom>
          <a:ln w="19050">
            <a:solidFill>
              <a:srgbClr val="30787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" name="Skupina 4">
            <a:extLst>
              <a:ext uri="{FF2B5EF4-FFF2-40B4-BE49-F238E27FC236}">
                <a16:creationId xmlns:a16="http://schemas.microsoft.com/office/drawing/2014/main" id="{4024DE07-41B5-86BA-1F1B-9BB483A781F1}"/>
              </a:ext>
            </a:extLst>
          </p:cNvPr>
          <p:cNvGrpSpPr/>
          <p:nvPr/>
        </p:nvGrpSpPr>
        <p:grpSpPr>
          <a:xfrm>
            <a:off x="3802397" y="4659313"/>
            <a:ext cx="1539204" cy="288701"/>
            <a:chOff x="3802397" y="4659313"/>
            <a:chExt cx="1539204" cy="288701"/>
          </a:xfrm>
        </p:grpSpPr>
        <p:cxnSp>
          <p:nvCxnSpPr>
            <p:cNvPr id="6" name="Přímá spojnice 5">
              <a:extLst>
                <a:ext uri="{FF2B5EF4-FFF2-40B4-BE49-F238E27FC236}">
                  <a16:creationId xmlns:a16="http://schemas.microsoft.com/office/drawing/2014/main" id="{0C8291C8-494C-0945-9236-0EF536F33FD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211960" y="4659313"/>
              <a:ext cx="720080" cy="0"/>
            </a:xfrm>
            <a:prstGeom prst="line">
              <a:avLst/>
            </a:prstGeom>
            <a:ln>
              <a:solidFill>
                <a:srgbClr val="30787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TextovéPole 6">
              <a:extLst>
                <a:ext uri="{FF2B5EF4-FFF2-40B4-BE49-F238E27FC236}">
                  <a16:creationId xmlns:a16="http://schemas.microsoft.com/office/drawing/2014/main" id="{1661E9A3-47F9-AC71-EFA6-1AB9369B1CB1}"/>
                </a:ext>
              </a:extLst>
            </p:cNvPr>
            <p:cNvSpPr txBox="1"/>
            <p:nvPr/>
          </p:nvSpPr>
          <p:spPr>
            <a:xfrm>
              <a:off x="3802397" y="4701793"/>
              <a:ext cx="1539204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cs-CZ" sz="1000" b="1" cap="all" spc="100" dirty="0">
                  <a:solidFill>
                    <a:schemeClr val="bg1">
                      <a:lumMod val="50000"/>
                    </a:schemeClr>
                  </a:solidFill>
                </a:rPr>
                <a:t>Slezská univerzita</a:t>
              </a:r>
            </a:p>
          </p:txBody>
        </p:sp>
      </p:grpSp>
      <p:sp>
        <p:nvSpPr>
          <p:cNvPr id="2" name="Zástupný symbol pro obsah 2">
            <a:extLst>
              <a:ext uri="{FF2B5EF4-FFF2-40B4-BE49-F238E27FC236}">
                <a16:creationId xmlns:a16="http://schemas.microsoft.com/office/drawing/2014/main" id="{2B13901E-F60B-B71B-324F-41BAC99A06AC}"/>
              </a:ext>
            </a:extLst>
          </p:cNvPr>
          <p:cNvSpPr txBox="1">
            <a:spLocks/>
          </p:cNvSpPr>
          <p:nvPr/>
        </p:nvSpPr>
        <p:spPr>
          <a:xfrm>
            <a:off x="596752" y="1449369"/>
            <a:ext cx="3950274" cy="273630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cs-CZ" altLang="cs-CZ" sz="2400" b="1" dirty="0">
                <a:solidFill>
                  <a:srgbClr val="307871"/>
                </a:solidFill>
                <a:cs typeface="Times New Roman" panose="02020603050405020304" pitchFamily="18" charset="0"/>
              </a:rPr>
              <a:t>Motivace</a:t>
            </a:r>
          </a:p>
          <a:p>
            <a:pPr marL="0" indent="0" algn="ctr">
              <a:buNone/>
            </a:pPr>
            <a:endParaRPr lang="cs-CZ" altLang="cs-CZ" sz="1400" b="1" dirty="0">
              <a:solidFill>
                <a:srgbClr val="307871"/>
              </a:solidFill>
              <a:cs typeface="Times New Roman" panose="02020603050405020304" pitchFamily="18" charset="0"/>
            </a:endParaRPr>
          </a:p>
          <a:p>
            <a:pPr>
              <a:buBlip>
                <a:blip r:embed="rId4"/>
              </a:buBlip>
            </a:pPr>
            <a:r>
              <a:rPr lang="cs-CZ" altLang="cs-CZ" sz="1400" b="1" dirty="0">
                <a:solidFill>
                  <a:srgbClr val="307871"/>
                </a:solidFill>
                <a:cs typeface="Times New Roman" panose="02020603050405020304" pitchFamily="18" charset="0"/>
              </a:rPr>
              <a:t>Výpočetní nároky moderních aplikací neustále rostou (AI, simulace, zpracování dat)</a:t>
            </a:r>
          </a:p>
          <a:p>
            <a:pPr>
              <a:buBlip>
                <a:blip r:embed="rId4"/>
              </a:buBlip>
            </a:pPr>
            <a:r>
              <a:rPr lang="cs-CZ" altLang="cs-CZ" sz="1400" b="1" dirty="0">
                <a:solidFill>
                  <a:srgbClr val="307871"/>
                </a:solidFill>
                <a:cs typeface="Times New Roman" panose="02020603050405020304" pitchFamily="18" charset="0"/>
              </a:rPr>
              <a:t>Sekvenční výpočet na CPU narazil na fyzikální limity (taktovací frekvence stagnuje od 2005)</a:t>
            </a:r>
          </a:p>
          <a:p>
            <a:pPr>
              <a:buBlip>
                <a:blip r:embed="rId4"/>
              </a:buBlip>
            </a:pPr>
            <a:r>
              <a:rPr lang="cs-CZ" altLang="cs-CZ" sz="1400" b="1" dirty="0">
                <a:solidFill>
                  <a:srgbClr val="307871"/>
                </a:solidFill>
                <a:cs typeface="Times New Roman" panose="02020603050405020304" pitchFamily="18" charset="0"/>
              </a:rPr>
              <a:t>GPU nabízí tisíce jader pro masivně paralelní zpracování dat</a:t>
            </a:r>
          </a:p>
        </p:txBody>
      </p:sp>
    </p:spTree>
    <p:extLst>
      <p:ext uri="{BB962C8B-B14F-4D97-AF65-F5344CB8AC3E}">
        <p14:creationId xmlns:p14="http://schemas.microsoft.com/office/powerpoint/2010/main" val="33819369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03DD73-F264-FF27-BCB8-0A7211761C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Obrázek 10">
            <a:extLst>
              <a:ext uri="{FF2B5EF4-FFF2-40B4-BE49-F238E27FC236}">
                <a16:creationId xmlns:a16="http://schemas.microsoft.com/office/drawing/2014/main" id="{F03827A7-C849-35CA-149F-EEC82266D0F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14" name="Zástupný symbol pro obsah 2">
            <a:extLst>
              <a:ext uri="{FF2B5EF4-FFF2-40B4-BE49-F238E27FC236}">
                <a16:creationId xmlns:a16="http://schemas.microsoft.com/office/drawing/2014/main" id="{D9FD8F83-CE89-9217-3567-494BF1EA0923}"/>
              </a:ext>
            </a:extLst>
          </p:cNvPr>
          <p:cNvSpPr txBox="1">
            <a:spLocks/>
          </p:cNvSpPr>
          <p:nvPr/>
        </p:nvSpPr>
        <p:spPr>
          <a:xfrm>
            <a:off x="596752" y="1527299"/>
            <a:ext cx="7249756" cy="273630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Blip>
                <a:blip r:embed="rId4"/>
              </a:buBlip>
            </a:pPr>
            <a:r>
              <a:rPr lang="cs-CZ" sz="1600" b="1" dirty="0">
                <a:solidFill>
                  <a:srgbClr val="307871"/>
                </a:solidFill>
              </a:rPr>
              <a:t>Teoretická část</a:t>
            </a:r>
          </a:p>
          <a:p>
            <a:pPr lvl="1">
              <a:buBlip>
                <a:blip r:embed="rId4"/>
              </a:buBlip>
            </a:pPr>
            <a:r>
              <a:rPr lang="cs-CZ" sz="1200" b="1" dirty="0"/>
              <a:t>Základy paralelních výpočtů (</a:t>
            </a:r>
            <a:r>
              <a:rPr lang="cs-CZ" sz="1200" b="1" dirty="0" err="1"/>
              <a:t>Flynnova</a:t>
            </a:r>
            <a:r>
              <a:rPr lang="cs-CZ" sz="1200" b="1" dirty="0"/>
              <a:t> taxonomie, </a:t>
            </a:r>
            <a:r>
              <a:rPr lang="cs-CZ" sz="1200" b="1" dirty="0" err="1"/>
              <a:t>Amdahlův</a:t>
            </a:r>
            <a:r>
              <a:rPr lang="cs-CZ" sz="1200" b="1" dirty="0"/>
              <a:t> a </a:t>
            </a:r>
            <a:r>
              <a:rPr lang="cs-CZ" sz="1200" b="1" dirty="0" err="1"/>
              <a:t>Gustafsonův</a:t>
            </a:r>
            <a:r>
              <a:rPr lang="cs-CZ" sz="1200" b="1" dirty="0"/>
              <a:t> zákon)</a:t>
            </a:r>
          </a:p>
          <a:p>
            <a:pPr lvl="1">
              <a:buBlip>
                <a:blip r:embed="rId4"/>
              </a:buBlip>
            </a:pPr>
            <a:r>
              <a:rPr lang="cs-CZ" sz="1200" b="1" dirty="0"/>
              <a:t>Architektury GPU (základní rozdíly CPU a GPU, paměťová hierarchie, </a:t>
            </a:r>
            <a:r>
              <a:rPr lang="cs-CZ" sz="1200" b="1" dirty="0" err="1"/>
              <a:t>execution</a:t>
            </a:r>
            <a:r>
              <a:rPr lang="cs-CZ" sz="1200" b="1" dirty="0"/>
              <a:t> model, přenos dat)</a:t>
            </a:r>
          </a:p>
          <a:p>
            <a:pPr lvl="1">
              <a:buBlip>
                <a:blip r:embed="rId4"/>
              </a:buBlip>
            </a:pPr>
            <a:r>
              <a:rPr lang="cs-CZ" sz="1200" b="1" dirty="0"/>
              <a:t>Technologie a nástroje (CUDA, </a:t>
            </a:r>
            <a:r>
              <a:rPr lang="cs-CZ" sz="1200" b="1" dirty="0" err="1"/>
              <a:t>OpenCL</a:t>
            </a:r>
            <a:r>
              <a:rPr lang="cs-CZ" sz="1200" b="1" dirty="0"/>
              <a:t>, .NET a Python knihovny a jejich porovnání)</a:t>
            </a:r>
          </a:p>
          <a:p>
            <a:pPr>
              <a:buBlip>
                <a:blip r:embed="rId4"/>
              </a:buBlip>
            </a:pPr>
            <a:r>
              <a:rPr lang="cs-CZ" sz="1600" b="1" dirty="0">
                <a:solidFill>
                  <a:srgbClr val="307871"/>
                </a:solidFill>
              </a:rPr>
              <a:t>Praktická část</a:t>
            </a:r>
          </a:p>
          <a:p>
            <a:pPr lvl="1">
              <a:buBlip>
                <a:blip r:embed="rId4"/>
              </a:buBlip>
            </a:pPr>
            <a:r>
              <a:rPr lang="cs-CZ" sz="1200" b="1" dirty="0"/>
              <a:t>Návrh experimentu (silné a slabé škálování, 2 úlohy ve 4 variantách)</a:t>
            </a:r>
          </a:p>
          <a:p>
            <a:pPr lvl="1">
              <a:buBlip>
                <a:blip r:embed="rId4"/>
              </a:buBlip>
            </a:pPr>
            <a:r>
              <a:rPr lang="cs-CZ" sz="1200" b="1" dirty="0"/>
              <a:t>Implementace (architektura, detaily implementace úloh a měřícího frameworku)</a:t>
            </a:r>
          </a:p>
          <a:p>
            <a:pPr lvl="1">
              <a:buBlip>
                <a:blip r:embed="rId4"/>
              </a:buBlip>
            </a:pPr>
            <a:r>
              <a:rPr lang="cs-CZ" sz="1200" b="1" dirty="0"/>
              <a:t>Měření a analýza (Crossover, porovnání zrychlení a knihoven, silné a slabé škálování)</a:t>
            </a:r>
          </a:p>
          <a:p>
            <a:pPr lvl="1">
              <a:buBlip>
                <a:blip r:embed="rId4"/>
              </a:buBlip>
            </a:pPr>
            <a:r>
              <a:rPr lang="cs-CZ" sz="1200" b="1" dirty="0"/>
              <a:t>Diskuse výsledků, anomálií, omezení a budoucí práce</a:t>
            </a:r>
          </a:p>
        </p:txBody>
      </p:sp>
      <p:sp>
        <p:nvSpPr>
          <p:cNvPr id="17" name="Nadpis 1">
            <a:extLst>
              <a:ext uri="{FF2B5EF4-FFF2-40B4-BE49-F238E27FC236}">
                <a16:creationId xmlns:a16="http://schemas.microsoft.com/office/drawing/2014/main" id="{259EAF76-1D84-7ED1-B36E-3690448A88DD}"/>
              </a:ext>
            </a:extLst>
          </p:cNvPr>
          <p:cNvSpPr txBox="1">
            <a:spLocks/>
          </p:cNvSpPr>
          <p:nvPr/>
        </p:nvSpPr>
        <p:spPr>
          <a:xfrm>
            <a:off x="596752" y="462980"/>
            <a:ext cx="6279504" cy="66861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cs-CZ" sz="3200" b="1" cap="all" dirty="0">
                <a:solidFill>
                  <a:srgbClr val="307871"/>
                </a:solidFill>
              </a:rPr>
              <a:t>Obsah </a:t>
            </a:r>
            <a:r>
              <a:rPr lang="cs-CZ" sz="3200" b="1" cap="all" dirty="0" err="1">
                <a:solidFill>
                  <a:srgbClr val="307871"/>
                </a:solidFill>
              </a:rPr>
              <a:t>Diplmomové</a:t>
            </a:r>
            <a:r>
              <a:rPr lang="cs-CZ" sz="3200" b="1" cap="all" dirty="0">
                <a:solidFill>
                  <a:srgbClr val="307871"/>
                </a:solidFill>
              </a:rPr>
              <a:t> práce</a:t>
            </a:r>
          </a:p>
        </p:txBody>
      </p:sp>
      <p:cxnSp>
        <p:nvCxnSpPr>
          <p:cNvPr id="16" name="Přímá spojnice 15">
            <a:extLst>
              <a:ext uri="{FF2B5EF4-FFF2-40B4-BE49-F238E27FC236}">
                <a16:creationId xmlns:a16="http://schemas.microsoft.com/office/drawing/2014/main" id="{11C4BDD4-B290-9961-8946-C2F277BA434A}"/>
              </a:ext>
            </a:extLst>
          </p:cNvPr>
          <p:cNvCxnSpPr>
            <a:cxnSpLocks/>
          </p:cNvCxnSpPr>
          <p:nvPr/>
        </p:nvCxnSpPr>
        <p:spPr>
          <a:xfrm flipH="1">
            <a:off x="709604" y="1175158"/>
            <a:ext cx="997276" cy="0"/>
          </a:xfrm>
          <a:prstGeom prst="line">
            <a:avLst/>
          </a:prstGeom>
          <a:ln w="19050">
            <a:solidFill>
              <a:srgbClr val="30787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" name="Skupina 4">
            <a:extLst>
              <a:ext uri="{FF2B5EF4-FFF2-40B4-BE49-F238E27FC236}">
                <a16:creationId xmlns:a16="http://schemas.microsoft.com/office/drawing/2014/main" id="{BFF6A130-4371-AE4C-C134-976AD932B03E}"/>
              </a:ext>
            </a:extLst>
          </p:cNvPr>
          <p:cNvGrpSpPr/>
          <p:nvPr/>
        </p:nvGrpSpPr>
        <p:grpSpPr>
          <a:xfrm>
            <a:off x="3802397" y="4659313"/>
            <a:ext cx="1539204" cy="288701"/>
            <a:chOff x="3802397" y="4659313"/>
            <a:chExt cx="1539204" cy="288701"/>
          </a:xfrm>
        </p:grpSpPr>
        <p:cxnSp>
          <p:nvCxnSpPr>
            <p:cNvPr id="6" name="Přímá spojnice 5">
              <a:extLst>
                <a:ext uri="{FF2B5EF4-FFF2-40B4-BE49-F238E27FC236}">
                  <a16:creationId xmlns:a16="http://schemas.microsoft.com/office/drawing/2014/main" id="{A276AC5E-E91C-4AEB-5527-F70AD147D96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211960" y="4659313"/>
              <a:ext cx="720080" cy="0"/>
            </a:xfrm>
            <a:prstGeom prst="line">
              <a:avLst/>
            </a:prstGeom>
            <a:ln>
              <a:solidFill>
                <a:srgbClr val="30787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TextovéPole 6">
              <a:extLst>
                <a:ext uri="{FF2B5EF4-FFF2-40B4-BE49-F238E27FC236}">
                  <a16:creationId xmlns:a16="http://schemas.microsoft.com/office/drawing/2014/main" id="{AAAD7EB7-BCB8-DCC5-85C2-8335B1AF2F50}"/>
                </a:ext>
              </a:extLst>
            </p:cNvPr>
            <p:cNvSpPr txBox="1"/>
            <p:nvPr/>
          </p:nvSpPr>
          <p:spPr>
            <a:xfrm>
              <a:off x="3802397" y="4701793"/>
              <a:ext cx="1539204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cs-CZ" sz="1000" b="1" cap="all" spc="100" dirty="0">
                  <a:solidFill>
                    <a:schemeClr val="bg1">
                      <a:lumMod val="50000"/>
                    </a:schemeClr>
                  </a:solidFill>
                </a:rPr>
                <a:t>Slezská univerzita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2963668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Obrázek 13">
            <a:extLst>
              <a:ext uri="{FF2B5EF4-FFF2-40B4-BE49-F238E27FC236}">
                <a16:creationId xmlns:a16="http://schemas.microsoft.com/office/drawing/2014/main" id="{F3A4B768-70D3-4237-B093-4A78E621900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9" name="Nadpis 1">
            <a:extLst>
              <a:ext uri="{FF2B5EF4-FFF2-40B4-BE49-F238E27FC236}">
                <a16:creationId xmlns:a16="http://schemas.microsoft.com/office/drawing/2014/main" id="{333DD535-BEC4-44BC-A1E9-3D5CEA61D10A}"/>
              </a:ext>
            </a:extLst>
          </p:cNvPr>
          <p:cNvSpPr txBox="1">
            <a:spLocks/>
          </p:cNvSpPr>
          <p:nvPr/>
        </p:nvSpPr>
        <p:spPr>
          <a:xfrm>
            <a:off x="596752" y="462980"/>
            <a:ext cx="6279504" cy="66861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cs-CZ" sz="3200" b="1" cap="all" dirty="0">
                <a:solidFill>
                  <a:srgbClr val="307871"/>
                </a:solidFill>
              </a:rPr>
              <a:t>Metodika a testovací prostředí</a:t>
            </a:r>
          </a:p>
        </p:txBody>
      </p:sp>
      <p:sp>
        <p:nvSpPr>
          <p:cNvPr id="11" name="Zástupný symbol pro obsah 2">
            <a:extLst>
              <a:ext uri="{FF2B5EF4-FFF2-40B4-BE49-F238E27FC236}">
                <a16:creationId xmlns:a16="http://schemas.microsoft.com/office/drawing/2014/main" id="{B3E7D415-F789-40A2-B235-E95A0A59BE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8266" y="2686906"/>
            <a:ext cx="8280920" cy="2032228"/>
          </a:xfrm>
        </p:spPr>
        <p:txBody>
          <a:bodyPr>
            <a:noAutofit/>
          </a:bodyPr>
          <a:lstStyle/>
          <a:p>
            <a:pPr>
              <a:buBlip>
                <a:blip r:embed="rId4"/>
              </a:buBlip>
            </a:pPr>
            <a:r>
              <a:rPr lang="cs-CZ" sz="1400" b="1" dirty="0">
                <a:solidFill>
                  <a:srgbClr val="307871"/>
                </a:solidFill>
              </a:rPr>
              <a:t>Protokol měření</a:t>
            </a:r>
            <a:r>
              <a:rPr lang="cs-CZ" sz="1400" b="1" dirty="0"/>
              <a:t>: 3 zahřívací kola -&gt; sondovací běh -&gt; 3-10 měřených běhů</a:t>
            </a:r>
            <a:endParaRPr lang="cs-CZ" altLang="cs-CZ" sz="1400" b="1" dirty="0">
              <a:solidFill>
                <a:srgbClr val="307871"/>
              </a:solidFill>
              <a:cs typeface="Times New Roman" panose="02020603050405020304" pitchFamily="18" charset="0"/>
            </a:endParaRPr>
          </a:p>
          <a:p>
            <a:pPr>
              <a:buBlip>
                <a:blip r:embed="rId4"/>
              </a:buBlip>
            </a:pPr>
            <a:r>
              <a:rPr lang="cs-CZ" sz="1400" b="1" dirty="0">
                <a:solidFill>
                  <a:srgbClr val="307871"/>
                </a:solidFill>
                <a:latin typeface="+mj-lt"/>
              </a:rPr>
              <a:t>Varianty implementace</a:t>
            </a:r>
            <a:r>
              <a:rPr lang="cs-CZ" sz="1400" b="1" dirty="0">
                <a:latin typeface="+mj-lt"/>
              </a:rPr>
              <a:t>:</a:t>
            </a:r>
          </a:p>
          <a:p>
            <a:pPr lvl="1">
              <a:buBlip>
                <a:blip r:embed="rId4"/>
              </a:buBlip>
            </a:pPr>
            <a:r>
              <a:rPr lang="cs-CZ" sz="1100" b="1" dirty="0">
                <a:latin typeface="+mj-lt"/>
              </a:rPr>
              <a:t>Sekvenční CPU</a:t>
            </a:r>
          </a:p>
          <a:p>
            <a:pPr lvl="1">
              <a:buBlip>
                <a:blip r:embed="rId4"/>
              </a:buBlip>
            </a:pPr>
            <a:r>
              <a:rPr lang="cs-CZ" sz="1100" b="1" dirty="0">
                <a:latin typeface="+mj-lt"/>
              </a:rPr>
              <a:t>Paralelní CPU (1-12 vláken)</a:t>
            </a:r>
          </a:p>
          <a:p>
            <a:pPr lvl="1">
              <a:buBlip>
                <a:blip r:embed="rId4"/>
              </a:buBlip>
            </a:pPr>
            <a:r>
              <a:rPr lang="cs-CZ" sz="1100" b="1" dirty="0">
                <a:latin typeface="+mj-lt"/>
              </a:rPr>
              <a:t>GPU ILGPU (CUDA)</a:t>
            </a:r>
          </a:p>
          <a:p>
            <a:pPr lvl="1">
              <a:buBlip>
                <a:blip r:embed="rId4"/>
              </a:buBlip>
            </a:pPr>
            <a:r>
              <a:rPr lang="cs-CZ" sz="1100" b="1" dirty="0">
                <a:latin typeface="+mj-lt"/>
              </a:rPr>
              <a:t>GPU </a:t>
            </a:r>
            <a:r>
              <a:rPr lang="cs-CZ" sz="1100" b="1" dirty="0" err="1">
                <a:latin typeface="+mj-lt"/>
              </a:rPr>
              <a:t>ComputeSharp</a:t>
            </a:r>
            <a:r>
              <a:rPr lang="cs-CZ" sz="1100" b="1" dirty="0">
                <a:latin typeface="+mj-lt"/>
              </a:rPr>
              <a:t> (DirectX 12)</a:t>
            </a:r>
          </a:p>
          <a:p>
            <a:pPr>
              <a:buBlip>
                <a:blip r:embed="rId4"/>
              </a:buBlip>
            </a:pPr>
            <a:r>
              <a:rPr lang="cs-CZ" sz="1400" b="1" dirty="0">
                <a:solidFill>
                  <a:srgbClr val="307871"/>
                </a:solidFill>
                <a:latin typeface="+mj-lt"/>
              </a:rPr>
              <a:t>Testovací prostředí</a:t>
            </a:r>
            <a:r>
              <a:rPr lang="cs-CZ" sz="1400" b="1" dirty="0">
                <a:latin typeface="+mj-lt"/>
              </a:rPr>
              <a:t>:</a:t>
            </a:r>
          </a:p>
          <a:p>
            <a:pPr lvl="1">
              <a:buBlip>
                <a:blip r:embed="rId4"/>
              </a:buBlip>
            </a:pPr>
            <a:r>
              <a:rPr lang="cs-CZ" sz="1100" b="1" dirty="0">
                <a:latin typeface="+mj-lt"/>
              </a:rPr>
              <a:t>CPU: AMD </a:t>
            </a:r>
            <a:r>
              <a:rPr lang="cs-CZ" sz="1100" b="1" dirty="0" err="1">
                <a:latin typeface="+mj-lt"/>
              </a:rPr>
              <a:t>Ryzen</a:t>
            </a:r>
            <a:r>
              <a:rPr lang="cs-CZ" sz="1100" b="1" dirty="0">
                <a:latin typeface="+mj-lt"/>
              </a:rPr>
              <a:t> 5 3600 (6 jader / 12 vláken) </a:t>
            </a:r>
          </a:p>
          <a:p>
            <a:pPr lvl="1">
              <a:buBlip>
                <a:blip r:embed="rId4"/>
              </a:buBlip>
            </a:pPr>
            <a:r>
              <a:rPr lang="cs-CZ" sz="1100" b="1" dirty="0">
                <a:latin typeface="+mj-lt"/>
              </a:rPr>
              <a:t>GPU: NVIDIA RTX 3070 (5888 CUDA jader)</a:t>
            </a:r>
            <a:endParaRPr lang="cs-CZ" altLang="cs-CZ" sz="1400" b="1" dirty="0">
              <a:solidFill>
                <a:srgbClr val="307871"/>
              </a:solidFill>
              <a:latin typeface="+mj-lt"/>
              <a:cs typeface="Times New Roman" panose="02020603050405020304" pitchFamily="18" charset="0"/>
            </a:endParaRPr>
          </a:p>
        </p:txBody>
      </p:sp>
      <p:cxnSp>
        <p:nvCxnSpPr>
          <p:cNvPr id="12" name="Přímá spojnice 11">
            <a:extLst>
              <a:ext uri="{FF2B5EF4-FFF2-40B4-BE49-F238E27FC236}">
                <a16:creationId xmlns:a16="http://schemas.microsoft.com/office/drawing/2014/main" id="{EC988E75-0B0B-4E5B-9820-9ABAA2014EE1}"/>
              </a:ext>
            </a:extLst>
          </p:cNvPr>
          <p:cNvCxnSpPr>
            <a:cxnSpLocks/>
          </p:cNvCxnSpPr>
          <p:nvPr/>
        </p:nvCxnSpPr>
        <p:spPr>
          <a:xfrm flipH="1">
            <a:off x="709604" y="1175158"/>
            <a:ext cx="997276" cy="0"/>
          </a:xfrm>
          <a:prstGeom prst="line">
            <a:avLst/>
          </a:prstGeom>
          <a:ln w="19050">
            <a:solidFill>
              <a:srgbClr val="30787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" name="Skupina 4">
            <a:extLst>
              <a:ext uri="{FF2B5EF4-FFF2-40B4-BE49-F238E27FC236}">
                <a16:creationId xmlns:a16="http://schemas.microsoft.com/office/drawing/2014/main" id="{FDEC2CE5-A50E-2E92-3E6A-692598B455F9}"/>
              </a:ext>
            </a:extLst>
          </p:cNvPr>
          <p:cNvGrpSpPr/>
          <p:nvPr/>
        </p:nvGrpSpPr>
        <p:grpSpPr>
          <a:xfrm>
            <a:off x="3802397" y="4659313"/>
            <a:ext cx="1539204" cy="288701"/>
            <a:chOff x="3802397" y="4659313"/>
            <a:chExt cx="1539204" cy="288701"/>
          </a:xfrm>
        </p:grpSpPr>
        <p:cxnSp>
          <p:nvCxnSpPr>
            <p:cNvPr id="6" name="Přímá spojnice 5">
              <a:extLst>
                <a:ext uri="{FF2B5EF4-FFF2-40B4-BE49-F238E27FC236}">
                  <a16:creationId xmlns:a16="http://schemas.microsoft.com/office/drawing/2014/main" id="{C9C94C17-1791-AFEA-5C43-780CD87326E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211960" y="4659313"/>
              <a:ext cx="720080" cy="0"/>
            </a:xfrm>
            <a:prstGeom prst="line">
              <a:avLst/>
            </a:prstGeom>
            <a:ln>
              <a:solidFill>
                <a:srgbClr val="30787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TextovéPole 6">
              <a:extLst>
                <a:ext uri="{FF2B5EF4-FFF2-40B4-BE49-F238E27FC236}">
                  <a16:creationId xmlns:a16="http://schemas.microsoft.com/office/drawing/2014/main" id="{1FC38B40-5013-09C2-51EB-FA3C812E9708}"/>
                </a:ext>
              </a:extLst>
            </p:cNvPr>
            <p:cNvSpPr txBox="1"/>
            <p:nvPr/>
          </p:nvSpPr>
          <p:spPr>
            <a:xfrm>
              <a:off x="3802397" y="4701793"/>
              <a:ext cx="1539204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cs-CZ" sz="1000" b="1" cap="all" spc="100" dirty="0">
                  <a:solidFill>
                    <a:schemeClr val="bg1">
                      <a:lumMod val="50000"/>
                    </a:schemeClr>
                  </a:solidFill>
                </a:rPr>
                <a:t>Slezská univerzita</a:t>
              </a:r>
            </a:p>
          </p:txBody>
        </p:sp>
      </p:grpSp>
      <p:graphicFrame>
        <p:nvGraphicFramePr>
          <p:cNvPr id="2" name="Tabulka 1">
            <a:extLst>
              <a:ext uri="{FF2B5EF4-FFF2-40B4-BE49-F238E27FC236}">
                <a16:creationId xmlns:a16="http://schemas.microsoft.com/office/drawing/2014/main" id="{2E119E7D-8C3A-D5A5-1CDA-63AAC04AA2F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4583095"/>
              </p:ext>
            </p:extLst>
          </p:nvPr>
        </p:nvGraphicFramePr>
        <p:xfrm>
          <a:off x="708266" y="1325881"/>
          <a:ext cx="7727466" cy="131854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75822">
                  <a:extLst>
                    <a:ext uri="{9D8B030D-6E8A-4147-A177-3AD203B41FA5}">
                      <a16:colId xmlns:a16="http://schemas.microsoft.com/office/drawing/2014/main" val="384890370"/>
                    </a:ext>
                  </a:extLst>
                </a:gridCol>
                <a:gridCol w="2575822">
                  <a:extLst>
                    <a:ext uri="{9D8B030D-6E8A-4147-A177-3AD203B41FA5}">
                      <a16:colId xmlns:a16="http://schemas.microsoft.com/office/drawing/2014/main" val="2709388314"/>
                    </a:ext>
                  </a:extLst>
                </a:gridCol>
                <a:gridCol w="2575822">
                  <a:extLst>
                    <a:ext uri="{9D8B030D-6E8A-4147-A177-3AD203B41FA5}">
                      <a16:colId xmlns:a16="http://schemas.microsoft.com/office/drawing/2014/main" val="3147397382"/>
                    </a:ext>
                  </a:extLst>
                </a:gridCol>
              </a:tblGrid>
              <a:tr h="28475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cs-CZ" sz="1200" dirty="0">
                          <a:effectLst/>
                        </a:rPr>
                        <a:t>Úloha</a:t>
                      </a:r>
                    </a:p>
                  </a:txBody>
                  <a:tcPr marL="95250" marR="95250" marT="47625" marB="47625" anchor="ctr">
                    <a:solidFill>
                      <a:srgbClr val="30787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cs-CZ" sz="1200" dirty="0">
                          <a:effectLst/>
                        </a:rPr>
                        <a:t>Typ výpočtu</a:t>
                      </a:r>
                    </a:p>
                  </a:txBody>
                  <a:tcPr marL="95250" marR="95250" marT="47625" marB="47625" anchor="ctr">
                    <a:solidFill>
                      <a:srgbClr val="30787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cs-CZ" sz="1200" dirty="0">
                          <a:effectLst/>
                        </a:rPr>
                        <a:t>Charakteristika</a:t>
                      </a:r>
                    </a:p>
                  </a:txBody>
                  <a:tcPr marL="95250" marR="95250" marT="47625" marB="47625" anchor="ctr">
                    <a:solidFill>
                      <a:srgbClr val="30787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3631394"/>
                  </a:ext>
                </a:extLst>
              </a:tr>
              <a:tr h="5168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s-CZ" sz="1200" dirty="0">
                          <a:effectLst/>
                        </a:rPr>
                        <a:t>Násobení matic</a:t>
                      </a: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s-CZ" sz="1200" dirty="0">
                          <a:effectLst/>
                        </a:rPr>
                        <a:t>Lineární algebra, O(n³)</a:t>
                      </a: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s-CZ" sz="1200" dirty="0" err="1">
                          <a:effectLst/>
                        </a:rPr>
                        <a:t>Compute-bound</a:t>
                      </a:r>
                      <a:r>
                        <a:rPr lang="cs-CZ" sz="1200" dirty="0">
                          <a:effectLst/>
                        </a:rPr>
                        <a:t>, jednorázový výpočet</a:t>
                      </a:r>
                    </a:p>
                  </a:txBody>
                  <a:tcPr marL="95250" marR="95250" marT="47625" marB="47625" anchor="ctr"/>
                </a:tc>
                <a:extLst>
                  <a:ext uri="{0D108BD9-81ED-4DB2-BD59-A6C34878D82A}">
                    <a16:rowId xmlns:a16="http://schemas.microsoft.com/office/drawing/2014/main" val="1609076436"/>
                  </a:ext>
                </a:extLst>
              </a:tr>
              <a:tr h="5168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s-CZ" sz="1200" dirty="0">
                          <a:effectLst/>
                        </a:rPr>
                        <a:t>Game </a:t>
                      </a:r>
                      <a:r>
                        <a:rPr lang="cs-CZ" sz="1200" dirty="0" err="1">
                          <a:effectLst/>
                        </a:rPr>
                        <a:t>of</a:t>
                      </a:r>
                      <a:r>
                        <a:rPr lang="cs-CZ" sz="1200" dirty="0">
                          <a:effectLst/>
                        </a:rPr>
                        <a:t> </a:t>
                      </a:r>
                      <a:r>
                        <a:rPr lang="cs-CZ" sz="1200" dirty="0" err="1">
                          <a:effectLst/>
                        </a:rPr>
                        <a:t>Life</a:t>
                      </a:r>
                      <a:endParaRPr lang="cs-CZ" sz="1200" dirty="0">
                        <a:effectLst/>
                      </a:endParaRP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s-CZ" sz="1200" dirty="0" err="1">
                          <a:effectLst/>
                        </a:rPr>
                        <a:t>Stencil</a:t>
                      </a:r>
                      <a:r>
                        <a:rPr lang="cs-CZ" sz="1200" dirty="0">
                          <a:effectLst/>
                        </a:rPr>
                        <a:t> </a:t>
                      </a:r>
                      <a:r>
                        <a:rPr lang="cs-CZ" sz="1200" dirty="0" err="1">
                          <a:effectLst/>
                        </a:rPr>
                        <a:t>computation</a:t>
                      </a:r>
                      <a:r>
                        <a:rPr lang="cs-CZ" sz="1200" dirty="0">
                          <a:effectLst/>
                        </a:rPr>
                        <a:t>, O(n²)×100</a:t>
                      </a: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s-CZ" sz="1200" dirty="0" err="1">
                          <a:effectLst/>
                        </a:rPr>
                        <a:t>Memory-bound</a:t>
                      </a:r>
                      <a:r>
                        <a:rPr lang="cs-CZ" sz="1200" dirty="0">
                          <a:effectLst/>
                        </a:rPr>
                        <a:t>, iterativní simulace</a:t>
                      </a:r>
                    </a:p>
                  </a:txBody>
                  <a:tcPr marL="95250" marR="95250" marT="47625" marB="47625" anchor="ctr"/>
                </a:tc>
                <a:extLst>
                  <a:ext uri="{0D108BD9-81ED-4DB2-BD59-A6C34878D82A}">
                    <a16:rowId xmlns:a16="http://schemas.microsoft.com/office/drawing/2014/main" val="14690623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614000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50C69B-A584-54C7-B54C-D9B224944B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Obrázek 13">
            <a:extLst>
              <a:ext uri="{FF2B5EF4-FFF2-40B4-BE49-F238E27FC236}">
                <a16:creationId xmlns:a16="http://schemas.microsoft.com/office/drawing/2014/main" id="{003AF2B6-721A-9E60-A4B7-E4391AEB628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1299" y="0"/>
            <a:ext cx="9144000" cy="5143500"/>
          </a:xfrm>
          <a:prstGeom prst="rect">
            <a:avLst/>
          </a:prstGeom>
        </p:spPr>
      </p:pic>
      <p:sp>
        <p:nvSpPr>
          <p:cNvPr id="9" name="Nadpis 1">
            <a:extLst>
              <a:ext uri="{FF2B5EF4-FFF2-40B4-BE49-F238E27FC236}">
                <a16:creationId xmlns:a16="http://schemas.microsoft.com/office/drawing/2014/main" id="{AB785F1E-28C1-5E26-1D0D-1F5E136134DA}"/>
              </a:ext>
            </a:extLst>
          </p:cNvPr>
          <p:cNvSpPr txBox="1">
            <a:spLocks/>
          </p:cNvSpPr>
          <p:nvPr/>
        </p:nvSpPr>
        <p:spPr>
          <a:xfrm>
            <a:off x="596752" y="462980"/>
            <a:ext cx="6279504" cy="66861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cs-CZ" sz="3200" b="1" cap="all" dirty="0">
                <a:solidFill>
                  <a:srgbClr val="307871"/>
                </a:solidFill>
              </a:rPr>
              <a:t>Silné škálování CPU</a:t>
            </a:r>
          </a:p>
        </p:txBody>
      </p:sp>
      <p:sp>
        <p:nvSpPr>
          <p:cNvPr id="11" name="Zástupný symbol pro obsah 2">
            <a:extLst>
              <a:ext uri="{FF2B5EF4-FFF2-40B4-BE49-F238E27FC236}">
                <a16:creationId xmlns:a16="http://schemas.microsoft.com/office/drawing/2014/main" id="{F1E75596-8B56-5777-DCEF-BDE86DA279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9" y="1776055"/>
            <a:ext cx="4710785" cy="1986320"/>
          </a:xfrm>
        </p:spPr>
        <p:txBody>
          <a:bodyPr>
            <a:noAutofit/>
          </a:bodyPr>
          <a:lstStyle/>
          <a:p>
            <a:pPr>
              <a:buBlip>
                <a:blip r:embed="rId4"/>
              </a:buBlip>
            </a:pPr>
            <a:r>
              <a:rPr lang="cs-CZ" sz="1600" b="1" dirty="0">
                <a:solidFill>
                  <a:srgbClr val="307871"/>
                </a:solidFill>
                <a:latin typeface="+mj-lt"/>
              </a:rPr>
              <a:t>Game </a:t>
            </a:r>
            <a:r>
              <a:rPr lang="cs-CZ" sz="1600" b="1" dirty="0" err="1">
                <a:solidFill>
                  <a:srgbClr val="307871"/>
                </a:solidFill>
                <a:latin typeface="+mj-lt"/>
              </a:rPr>
              <a:t>of</a:t>
            </a:r>
            <a:r>
              <a:rPr lang="cs-CZ" sz="1600" b="1" dirty="0">
                <a:solidFill>
                  <a:srgbClr val="307871"/>
                </a:solidFill>
                <a:latin typeface="+mj-lt"/>
              </a:rPr>
              <a:t> </a:t>
            </a:r>
            <a:r>
              <a:rPr lang="cs-CZ" sz="1600" b="1" dirty="0" err="1">
                <a:solidFill>
                  <a:srgbClr val="307871"/>
                </a:solidFill>
                <a:latin typeface="+mj-lt"/>
              </a:rPr>
              <a:t>Life</a:t>
            </a:r>
            <a:r>
              <a:rPr lang="cs-CZ" sz="1600" b="1" dirty="0">
                <a:solidFill>
                  <a:srgbClr val="307871"/>
                </a:solidFill>
                <a:latin typeface="+mj-lt"/>
              </a:rPr>
              <a:t> </a:t>
            </a:r>
            <a:r>
              <a:rPr lang="cs-CZ" sz="1600" b="1" dirty="0">
                <a:latin typeface="+mj-lt"/>
              </a:rPr>
              <a:t>– téměř ideální lineární škálování</a:t>
            </a:r>
          </a:p>
          <a:p>
            <a:pPr lvl="1">
              <a:buBlip>
                <a:blip r:embed="rId4"/>
              </a:buBlip>
            </a:pPr>
            <a:r>
              <a:rPr lang="cs-CZ" sz="1400" b="1" dirty="0">
                <a:latin typeface="+mj-lt"/>
              </a:rPr>
              <a:t>6 vláken = 6x zrychlení (= počet fyzických jader)</a:t>
            </a:r>
          </a:p>
          <a:p>
            <a:pPr lvl="1">
              <a:buBlip>
                <a:blip r:embed="rId4"/>
              </a:buBlip>
            </a:pPr>
            <a:r>
              <a:rPr lang="cs-CZ" sz="1400" b="1" dirty="0">
                <a:latin typeface="+mj-lt"/>
              </a:rPr>
              <a:t>12 vláken (</a:t>
            </a:r>
            <a:r>
              <a:rPr lang="cs-CZ" sz="1400" b="1" dirty="0" err="1">
                <a:latin typeface="+mj-lt"/>
              </a:rPr>
              <a:t>hyperthreading</a:t>
            </a:r>
            <a:r>
              <a:rPr lang="cs-CZ" sz="1400" b="1" dirty="0">
                <a:latin typeface="+mj-lt"/>
              </a:rPr>
              <a:t>) - minimální přínos a dokonce pokles výkonu oproti 6 vláknům</a:t>
            </a:r>
          </a:p>
          <a:p>
            <a:pPr>
              <a:buBlip>
                <a:blip r:embed="rId4"/>
              </a:buBlip>
            </a:pPr>
            <a:r>
              <a:rPr lang="cs-CZ" sz="1600" b="1" dirty="0">
                <a:solidFill>
                  <a:srgbClr val="307871"/>
                </a:solidFill>
                <a:latin typeface="+mj-lt"/>
              </a:rPr>
              <a:t>Násobení matic </a:t>
            </a:r>
            <a:r>
              <a:rPr lang="cs-CZ" sz="1600" b="1" dirty="0">
                <a:latin typeface="+mj-lt"/>
              </a:rPr>
              <a:t>– sub-lineární</a:t>
            </a:r>
          </a:p>
          <a:p>
            <a:pPr lvl="1">
              <a:buBlip>
                <a:blip r:embed="rId4"/>
              </a:buBlip>
            </a:pPr>
            <a:r>
              <a:rPr lang="cs-CZ" sz="1400" b="1" dirty="0">
                <a:latin typeface="+mj-lt"/>
              </a:rPr>
              <a:t>Typicky 4–5× na 6 jádrech (velikosti 256²–4096²)</a:t>
            </a:r>
          </a:p>
          <a:p>
            <a:pPr lvl="1">
              <a:buBlip>
                <a:blip r:embed="rId4"/>
              </a:buBlip>
            </a:pPr>
            <a:r>
              <a:rPr lang="cs-CZ" sz="1400" b="1" dirty="0">
                <a:latin typeface="+mj-lt"/>
              </a:rPr>
              <a:t>Méně konzistentní</a:t>
            </a:r>
          </a:p>
        </p:txBody>
      </p:sp>
      <p:cxnSp>
        <p:nvCxnSpPr>
          <p:cNvPr id="12" name="Přímá spojnice 11">
            <a:extLst>
              <a:ext uri="{FF2B5EF4-FFF2-40B4-BE49-F238E27FC236}">
                <a16:creationId xmlns:a16="http://schemas.microsoft.com/office/drawing/2014/main" id="{63BA08AA-B1C8-B473-93ED-35E8081CF05E}"/>
              </a:ext>
            </a:extLst>
          </p:cNvPr>
          <p:cNvCxnSpPr>
            <a:cxnSpLocks/>
          </p:cNvCxnSpPr>
          <p:nvPr/>
        </p:nvCxnSpPr>
        <p:spPr>
          <a:xfrm flipH="1">
            <a:off x="709604" y="1175158"/>
            <a:ext cx="997276" cy="0"/>
          </a:xfrm>
          <a:prstGeom prst="line">
            <a:avLst/>
          </a:prstGeom>
          <a:ln w="19050">
            <a:solidFill>
              <a:srgbClr val="30787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" name="Skupina 4">
            <a:extLst>
              <a:ext uri="{FF2B5EF4-FFF2-40B4-BE49-F238E27FC236}">
                <a16:creationId xmlns:a16="http://schemas.microsoft.com/office/drawing/2014/main" id="{C71CE606-3C15-879E-6043-B3C13B3DB0C8}"/>
              </a:ext>
            </a:extLst>
          </p:cNvPr>
          <p:cNvGrpSpPr/>
          <p:nvPr/>
        </p:nvGrpSpPr>
        <p:grpSpPr>
          <a:xfrm>
            <a:off x="3802397" y="4659313"/>
            <a:ext cx="1539204" cy="288701"/>
            <a:chOff x="3802397" y="4659313"/>
            <a:chExt cx="1539204" cy="288701"/>
          </a:xfrm>
        </p:grpSpPr>
        <p:cxnSp>
          <p:nvCxnSpPr>
            <p:cNvPr id="6" name="Přímá spojnice 5">
              <a:extLst>
                <a:ext uri="{FF2B5EF4-FFF2-40B4-BE49-F238E27FC236}">
                  <a16:creationId xmlns:a16="http://schemas.microsoft.com/office/drawing/2014/main" id="{D678F44D-4E1E-2CF7-B1BA-7CBA3C9B9B1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211960" y="4659313"/>
              <a:ext cx="720080" cy="0"/>
            </a:xfrm>
            <a:prstGeom prst="line">
              <a:avLst/>
            </a:prstGeom>
            <a:ln>
              <a:solidFill>
                <a:srgbClr val="30787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TextovéPole 6">
              <a:extLst>
                <a:ext uri="{FF2B5EF4-FFF2-40B4-BE49-F238E27FC236}">
                  <a16:creationId xmlns:a16="http://schemas.microsoft.com/office/drawing/2014/main" id="{C99403DC-3903-EADE-D191-7720726C7E08}"/>
                </a:ext>
              </a:extLst>
            </p:cNvPr>
            <p:cNvSpPr txBox="1"/>
            <p:nvPr/>
          </p:nvSpPr>
          <p:spPr>
            <a:xfrm>
              <a:off x="3802397" y="4701793"/>
              <a:ext cx="1539204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cs-CZ" sz="1000" b="1" cap="all" spc="100" dirty="0">
                  <a:solidFill>
                    <a:schemeClr val="bg1">
                      <a:lumMod val="50000"/>
                    </a:schemeClr>
                  </a:solidFill>
                </a:rPr>
                <a:t>Slezská univerzita</a:t>
              </a:r>
            </a:p>
          </p:txBody>
        </p:sp>
      </p:grpSp>
      <p:pic>
        <p:nvPicPr>
          <p:cNvPr id="3" name="Obrázek 2">
            <a:extLst>
              <a:ext uri="{FF2B5EF4-FFF2-40B4-BE49-F238E27FC236}">
                <a16:creationId xmlns:a16="http://schemas.microsoft.com/office/drawing/2014/main" id="{80E07579-A9CA-167C-C827-BC20E5B3D6F9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299" y="1478830"/>
            <a:ext cx="4559606" cy="28757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96737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C3B4BD-6683-0DB2-BA5A-40A8B6D17E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Obrázek 13">
            <a:extLst>
              <a:ext uri="{FF2B5EF4-FFF2-40B4-BE49-F238E27FC236}">
                <a16:creationId xmlns:a16="http://schemas.microsoft.com/office/drawing/2014/main" id="{7C2C348C-A993-584B-0C80-B90E077BCFF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9" name="Nadpis 1">
            <a:extLst>
              <a:ext uri="{FF2B5EF4-FFF2-40B4-BE49-F238E27FC236}">
                <a16:creationId xmlns:a16="http://schemas.microsoft.com/office/drawing/2014/main" id="{9390DA90-0B08-4A07-6F07-D6D6F7165D33}"/>
              </a:ext>
            </a:extLst>
          </p:cNvPr>
          <p:cNvSpPr txBox="1">
            <a:spLocks/>
          </p:cNvSpPr>
          <p:nvPr/>
        </p:nvSpPr>
        <p:spPr>
          <a:xfrm>
            <a:off x="596752" y="462980"/>
            <a:ext cx="6279504" cy="66861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cs-CZ" sz="3200" b="1" cap="all" dirty="0">
                <a:solidFill>
                  <a:srgbClr val="307871"/>
                </a:solidFill>
              </a:rPr>
              <a:t>GPU VS CPU zrychlení</a:t>
            </a:r>
          </a:p>
        </p:txBody>
      </p:sp>
      <p:pic>
        <p:nvPicPr>
          <p:cNvPr id="4" name="Obrázek 3">
            <a:extLst>
              <a:ext uri="{FF2B5EF4-FFF2-40B4-BE49-F238E27FC236}">
                <a16:creationId xmlns:a16="http://schemas.microsoft.com/office/drawing/2014/main" id="{D8B797D3-D75C-EF5A-D848-00BAA27D529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345" y="1279448"/>
            <a:ext cx="5394499" cy="3111573"/>
          </a:xfrm>
          <a:prstGeom prst="rect">
            <a:avLst/>
          </a:prstGeom>
        </p:spPr>
      </p:pic>
      <p:cxnSp>
        <p:nvCxnSpPr>
          <p:cNvPr id="12" name="Přímá spojnice 11">
            <a:extLst>
              <a:ext uri="{FF2B5EF4-FFF2-40B4-BE49-F238E27FC236}">
                <a16:creationId xmlns:a16="http://schemas.microsoft.com/office/drawing/2014/main" id="{FDF3C465-69B1-3C05-AFE6-4CC5BD233521}"/>
              </a:ext>
            </a:extLst>
          </p:cNvPr>
          <p:cNvCxnSpPr>
            <a:cxnSpLocks/>
          </p:cNvCxnSpPr>
          <p:nvPr/>
        </p:nvCxnSpPr>
        <p:spPr>
          <a:xfrm flipH="1">
            <a:off x="709604" y="1175158"/>
            <a:ext cx="997276" cy="0"/>
          </a:xfrm>
          <a:prstGeom prst="line">
            <a:avLst/>
          </a:prstGeom>
          <a:ln w="19050">
            <a:solidFill>
              <a:srgbClr val="30787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" name="Skupina 4">
            <a:extLst>
              <a:ext uri="{FF2B5EF4-FFF2-40B4-BE49-F238E27FC236}">
                <a16:creationId xmlns:a16="http://schemas.microsoft.com/office/drawing/2014/main" id="{26AE913B-C1AA-FD56-215A-C9D551148BAA}"/>
              </a:ext>
            </a:extLst>
          </p:cNvPr>
          <p:cNvGrpSpPr/>
          <p:nvPr/>
        </p:nvGrpSpPr>
        <p:grpSpPr>
          <a:xfrm>
            <a:off x="3802397" y="4659313"/>
            <a:ext cx="1539204" cy="288701"/>
            <a:chOff x="3802397" y="4659313"/>
            <a:chExt cx="1539204" cy="288701"/>
          </a:xfrm>
        </p:grpSpPr>
        <p:cxnSp>
          <p:nvCxnSpPr>
            <p:cNvPr id="6" name="Přímá spojnice 5">
              <a:extLst>
                <a:ext uri="{FF2B5EF4-FFF2-40B4-BE49-F238E27FC236}">
                  <a16:creationId xmlns:a16="http://schemas.microsoft.com/office/drawing/2014/main" id="{45F452CD-F9E0-5D7F-7FC9-34F93492DB3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211960" y="4659313"/>
              <a:ext cx="720080" cy="0"/>
            </a:xfrm>
            <a:prstGeom prst="line">
              <a:avLst/>
            </a:prstGeom>
            <a:ln>
              <a:solidFill>
                <a:srgbClr val="30787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TextovéPole 6">
              <a:extLst>
                <a:ext uri="{FF2B5EF4-FFF2-40B4-BE49-F238E27FC236}">
                  <a16:creationId xmlns:a16="http://schemas.microsoft.com/office/drawing/2014/main" id="{DC7BC5A3-7E5A-6947-D733-DFA4359B57DD}"/>
                </a:ext>
              </a:extLst>
            </p:cNvPr>
            <p:cNvSpPr txBox="1"/>
            <p:nvPr/>
          </p:nvSpPr>
          <p:spPr>
            <a:xfrm>
              <a:off x="3802397" y="4701793"/>
              <a:ext cx="1539204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cs-CZ" sz="1000" b="1" cap="all" spc="100" dirty="0">
                  <a:solidFill>
                    <a:schemeClr val="bg1">
                      <a:lumMod val="50000"/>
                    </a:schemeClr>
                  </a:solidFill>
                </a:rPr>
                <a:t>Slezská univerzita</a:t>
              </a:r>
            </a:p>
          </p:txBody>
        </p:sp>
      </p:grpSp>
      <p:sp>
        <p:nvSpPr>
          <p:cNvPr id="13" name="TextovéPole 12">
            <a:extLst>
              <a:ext uri="{FF2B5EF4-FFF2-40B4-BE49-F238E27FC236}">
                <a16:creationId xmlns:a16="http://schemas.microsoft.com/office/drawing/2014/main" id="{4F4D9C71-F7A4-E9FC-6E4B-23FA7D11583E}"/>
              </a:ext>
            </a:extLst>
          </p:cNvPr>
          <p:cNvSpPr txBox="1"/>
          <p:nvPr/>
        </p:nvSpPr>
        <p:spPr>
          <a:xfrm>
            <a:off x="1706880" y="1020853"/>
            <a:ext cx="347949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cs-CZ" sz="1800" b="1" dirty="0"/>
              <a:t>Zrychlení v implementaci ILGPU</a:t>
            </a:r>
            <a:endParaRPr lang="cs-CZ" dirty="0"/>
          </a:p>
        </p:txBody>
      </p:sp>
      <p:sp>
        <p:nvSpPr>
          <p:cNvPr id="15" name="Zástupný symbol pro obsah 2">
            <a:extLst>
              <a:ext uri="{FF2B5EF4-FFF2-40B4-BE49-F238E27FC236}">
                <a16:creationId xmlns:a16="http://schemas.microsoft.com/office/drawing/2014/main" id="{EB078E4D-87B9-A12F-F235-4BDAED4F7AA1}"/>
              </a:ext>
            </a:extLst>
          </p:cNvPr>
          <p:cNvSpPr txBox="1">
            <a:spLocks/>
          </p:cNvSpPr>
          <p:nvPr/>
        </p:nvSpPr>
        <p:spPr>
          <a:xfrm>
            <a:off x="5474844" y="766989"/>
            <a:ext cx="3493828" cy="39439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cs-CZ" sz="1600" b="1" dirty="0">
                <a:solidFill>
                  <a:srgbClr val="307871"/>
                </a:solidFill>
              </a:rPr>
              <a:t>Násobení matic </a:t>
            </a:r>
            <a:r>
              <a:rPr lang="cs-CZ" sz="1600" b="1" dirty="0"/>
              <a:t>(4096²) zrychlení proti:</a:t>
            </a:r>
          </a:p>
          <a:p>
            <a:pPr>
              <a:buFont typeface="Arial" panose="020B0604020202020204" pitchFamily="34" charset="0"/>
              <a:buBlip>
                <a:blip r:embed="rId5"/>
              </a:buBlip>
            </a:pPr>
            <a:r>
              <a:rPr lang="cs-CZ" sz="1600" b="1" dirty="0"/>
              <a:t>Sekvenčnímu CPU</a:t>
            </a:r>
          </a:p>
          <a:p>
            <a:pPr lvl="1">
              <a:buFont typeface="Arial" panose="020B0604020202020204" pitchFamily="34" charset="0"/>
              <a:buBlip>
                <a:blip r:embed="rId5"/>
              </a:buBlip>
            </a:pPr>
            <a:r>
              <a:rPr lang="cs-CZ" sz="1400" b="1" dirty="0"/>
              <a:t>2285x pro ILGPU</a:t>
            </a:r>
          </a:p>
          <a:p>
            <a:pPr lvl="1">
              <a:buFont typeface="Arial" panose="020B0604020202020204" pitchFamily="34" charset="0"/>
              <a:buBlip>
                <a:blip r:embed="rId5"/>
              </a:buBlip>
            </a:pPr>
            <a:r>
              <a:rPr lang="cs-CZ" sz="1400" b="1" dirty="0"/>
              <a:t>6534x pro </a:t>
            </a:r>
            <a:r>
              <a:rPr lang="cs-CZ" sz="1400" b="1" dirty="0" err="1"/>
              <a:t>ComputeSharp</a:t>
            </a:r>
            <a:endParaRPr lang="cs-CZ" sz="1400" b="1" dirty="0"/>
          </a:p>
          <a:p>
            <a:pPr>
              <a:buFont typeface="Arial" panose="020B0604020202020204" pitchFamily="34" charset="0"/>
              <a:buBlip>
                <a:blip r:embed="rId5"/>
              </a:buBlip>
            </a:pPr>
            <a:r>
              <a:rPr lang="cs-CZ" sz="1600" b="1" dirty="0"/>
              <a:t>Paralelnímu CPU (12 vláken)</a:t>
            </a:r>
          </a:p>
          <a:p>
            <a:pPr lvl="1">
              <a:buFont typeface="Arial" panose="020B0604020202020204" pitchFamily="34" charset="0"/>
              <a:buBlip>
                <a:blip r:embed="rId5"/>
              </a:buBlip>
            </a:pPr>
            <a:r>
              <a:rPr lang="cs-CZ" sz="1400" b="1" dirty="0"/>
              <a:t>225× pro ILGPU</a:t>
            </a:r>
          </a:p>
          <a:p>
            <a:pPr lvl="1">
              <a:buFont typeface="Arial" panose="020B0604020202020204" pitchFamily="34" charset="0"/>
              <a:buBlip>
                <a:blip r:embed="rId5"/>
              </a:buBlip>
            </a:pPr>
            <a:r>
              <a:rPr lang="cs-CZ" sz="1400" b="1" dirty="0"/>
              <a:t>643× pro </a:t>
            </a:r>
            <a:r>
              <a:rPr lang="cs-CZ" sz="1400" b="1" dirty="0" err="1"/>
              <a:t>ComputeSharp</a:t>
            </a:r>
            <a:endParaRPr lang="cs-CZ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cs-CZ" sz="1600" b="1" dirty="0">
                <a:solidFill>
                  <a:srgbClr val="307871"/>
                </a:solidFill>
              </a:rPr>
              <a:t>Game </a:t>
            </a:r>
            <a:r>
              <a:rPr lang="cs-CZ" sz="1600" b="1" dirty="0" err="1">
                <a:solidFill>
                  <a:srgbClr val="307871"/>
                </a:solidFill>
              </a:rPr>
              <a:t>of</a:t>
            </a:r>
            <a:r>
              <a:rPr lang="cs-CZ" sz="1600" b="1" dirty="0">
                <a:solidFill>
                  <a:srgbClr val="307871"/>
                </a:solidFill>
              </a:rPr>
              <a:t> </a:t>
            </a:r>
            <a:r>
              <a:rPr lang="cs-CZ" sz="1600" b="1" dirty="0" err="1">
                <a:solidFill>
                  <a:srgbClr val="307871"/>
                </a:solidFill>
              </a:rPr>
              <a:t>Life</a:t>
            </a:r>
            <a:r>
              <a:rPr lang="cs-CZ" sz="1600" b="1" dirty="0">
                <a:solidFill>
                  <a:srgbClr val="307871"/>
                </a:solidFill>
              </a:rPr>
              <a:t> </a:t>
            </a:r>
            <a:r>
              <a:rPr lang="cs-CZ" sz="1600" b="1" dirty="0"/>
              <a:t>zrychlení proti:</a:t>
            </a:r>
          </a:p>
          <a:p>
            <a:pPr>
              <a:buFont typeface="Arial" panose="020B0604020202020204" pitchFamily="34" charset="0"/>
              <a:buBlip>
                <a:blip r:embed="rId5"/>
              </a:buBlip>
            </a:pPr>
            <a:r>
              <a:rPr lang="cs-CZ" sz="1600" b="1" dirty="0"/>
              <a:t>Sekvenčnímu CPU</a:t>
            </a:r>
          </a:p>
          <a:p>
            <a:pPr lvl="1">
              <a:buBlip>
                <a:blip r:embed="rId5"/>
              </a:buBlip>
            </a:pPr>
            <a:r>
              <a:rPr lang="cs-CZ" sz="1400" b="1" dirty="0"/>
              <a:t>1561x pro ILGPU (10 000²)</a:t>
            </a:r>
          </a:p>
          <a:p>
            <a:pPr lvl="1">
              <a:buBlip>
                <a:blip r:embed="rId5"/>
              </a:buBlip>
            </a:pPr>
            <a:r>
              <a:rPr lang="cs-CZ" sz="1400" b="1" dirty="0"/>
              <a:t>863x pro </a:t>
            </a:r>
            <a:r>
              <a:rPr lang="cs-CZ" sz="1400" b="1" dirty="0" err="1"/>
              <a:t>ComputeSharp</a:t>
            </a:r>
            <a:r>
              <a:rPr lang="cs-CZ" sz="1400" b="1" dirty="0"/>
              <a:t> (5 000²)</a:t>
            </a:r>
          </a:p>
          <a:p>
            <a:pPr>
              <a:buFont typeface="Arial" panose="020B0604020202020204" pitchFamily="34" charset="0"/>
              <a:buBlip>
                <a:blip r:embed="rId5"/>
              </a:buBlip>
            </a:pPr>
            <a:r>
              <a:rPr lang="cs-CZ" sz="1600" b="1" dirty="0"/>
              <a:t>Paralelnímu CPU (12 vláken)</a:t>
            </a:r>
          </a:p>
          <a:p>
            <a:pPr lvl="1">
              <a:buBlip>
                <a:blip r:embed="rId5"/>
              </a:buBlip>
            </a:pPr>
            <a:r>
              <a:rPr lang="cs-CZ" sz="1400" b="1" dirty="0"/>
              <a:t>259× pro ILGPU (10 000²)</a:t>
            </a:r>
          </a:p>
          <a:p>
            <a:pPr lvl="1">
              <a:buBlip>
                <a:blip r:embed="rId5"/>
              </a:buBlip>
            </a:pPr>
            <a:r>
              <a:rPr lang="cs-CZ" sz="1400" b="1" dirty="0"/>
              <a:t>143× pro </a:t>
            </a:r>
            <a:r>
              <a:rPr lang="cs-CZ" sz="1400" b="1" dirty="0" err="1"/>
              <a:t>ComputeSharp</a:t>
            </a:r>
            <a:r>
              <a:rPr lang="cs-CZ" sz="1400" b="1" dirty="0"/>
              <a:t> (5 000²)</a:t>
            </a:r>
            <a:endParaRPr lang="cs-CZ" dirty="0"/>
          </a:p>
          <a:p>
            <a:pPr lvl="1">
              <a:buFont typeface="Arial" panose="020B0604020202020204" pitchFamily="34" charset="0"/>
              <a:buBlip>
                <a:blip r:embed="rId5"/>
              </a:buBlip>
            </a:pPr>
            <a:endParaRPr lang="cs-CZ" altLang="cs-CZ" sz="1000" b="1" dirty="0">
              <a:solidFill>
                <a:srgbClr val="307871"/>
              </a:solidFill>
              <a:latin typeface="+mj-lt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Blip>
                <a:blip r:embed="rId5"/>
              </a:buBlip>
            </a:pPr>
            <a:endParaRPr lang="cs-CZ" altLang="cs-CZ" sz="1000" b="1" dirty="0">
              <a:solidFill>
                <a:srgbClr val="307871"/>
              </a:solidFill>
              <a:latin typeface="+mj-lt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544970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68D302-EDC2-1D2C-137F-71D4A6BC83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Obrázek 13">
            <a:extLst>
              <a:ext uri="{FF2B5EF4-FFF2-40B4-BE49-F238E27FC236}">
                <a16:creationId xmlns:a16="http://schemas.microsoft.com/office/drawing/2014/main" id="{DD5F0EFA-9D34-760A-747B-C28E38EF656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9" name="Nadpis 1">
            <a:extLst>
              <a:ext uri="{FF2B5EF4-FFF2-40B4-BE49-F238E27FC236}">
                <a16:creationId xmlns:a16="http://schemas.microsoft.com/office/drawing/2014/main" id="{B9318119-8D33-45EC-126C-73647BBF6680}"/>
              </a:ext>
            </a:extLst>
          </p:cNvPr>
          <p:cNvSpPr txBox="1">
            <a:spLocks/>
          </p:cNvSpPr>
          <p:nvPr/>
        </p:nvSpPr>
        <p:spPr>
          <a:xfrm>
            <a:off x="596752" y="462980"/>
            <a:ext cx="6279504" cy="66861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cs-CZ" sz="3200" b="1" cap="all" dirty="0">
                <a:solidFill>
                  <a:srgbClr val="307871"/>
                </a:solidFill>
              </a:rPr>
              <a:t>Crossover </a:t>
            </a:r>
            <a:r>
              <a:rPr lang="cs-CZ" sz="3200" b="1" cap="all" dirty="0" err="1">
                <a:solidFill>
                  <a:srgbClr val="307871"/>
                </a:solidFill>
              </a:rPr>
              <a:t>points</a:t>
            </a:r>
            <a:endParaRPr lang="cs-CZ" sz="3200" b="1" cap="all" dirty="0">
              <a:solidFill>
                <a:srgbClr val="307871"/>
              </a:solidFill>
            </a:endParaRPr>
          </a:p>
        </p:txBody>
      </p:sp>
      <p:sp>
        <p:nvSpPr>
          <p:cNvPr id="11" name="Zástupný symbol pro obsah 2">
            <a:extLst>
              <a:ext uri="{FF2B5EF4-FFF2-40B4-BE49-F238E27FC236}">
                <a16:creationId xmlns:a16="http://schemas.microsoft.com/office/drawing/2014/main" id="{409906F5-D3BC-2D3F-C012-A19A5DCD41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4133" y="1361525"/>
            <a:ext cx="4009867" cy="3039025"/>
          </a:xfrm>
        </p:spPr>
        <p:txBody>
          <a:bodyPr>
            <a:noAutofit/>
          </a:bodyPr>
          <a:lstStyle/>
          <a:p>
            <a:pPr>
              <a:buBlip>
                <a:blip r:embed="rId4"/>
              </a:buBlip>
            </a:pPr>
            <a:r>
              <a:rPr lang="cs-CZ" sz="1400" b="1" dirty="0">
                <a:solidFill>
                  <a:srgbClr val="307871"/>
                </a:solidFill>
                <a:latin typeface="+mj-lt"/>
              </a:rPr>
              <a:t>Násobení matic</a:t>
            </a:r>
            <a:r>
              <a:rPr lang="cs-CZ" sz="1400" b="1" dirty="0">
                <a:latin typeface="+mj-lt"/>
              </a:rPr>
              <a:t>: GPU rychlejší od n ≈ 140</a:t>
            </a:r>
          </a:p>
          <a:p>
            <a:pPr lvl="1">
              <a:buBlip>
                <a:blip r:embed="rId4"/>
              </a:buBlip>
            </a:pPr>
            <a:r>
              <a:rPr lang="cs-CZ" sz="1200" b="1" dirty="0">
                <a:latin typeface="+mj-lt"/>
              </a:rPr>
              <a:t>Výpočet: O(n³)</a:t>
            </a:r>
          </a:p>
          <a:p>
            <a:pPr lvl="1">
              <a:buBlip>
                <a:blip r:embed="rId4"/>
              </a:buBlip>
            </a:pPr>
            <a:r>
              <a:rPr lang="cs-CZ" sz="1200" b="1" dirty="0">
                <a:latin typeface="+mj-lt"/>
              </a:rPr>
              <a:t>Přenos dat: O(n²)</a:t>
            </a:r>
          </a:p>
          <a:p>
            <a:pPr lvl="1">
              <a:buBlip>
                <a:blip r:embed="rId4"/>
              </a:buBlip>
            </a:pPr>
            <a:r>
              <a:rPr lang="cs-CZ" sz="1200" b="1" dirty="0">
                <a:latin typeface="+mj-lt"/>
              </a:rPr>
              <a:t>Poměr roste s n</a:t>
            </a:r>
            <a:endParaRPr lang="cs-CZ" sz="800" b="1" dirty="0">
              <a:latin typeface="+mj-lt"/>
            </a:endParaRPr>
          </a:p>
          <a:p>
            <a:pPr>
              <a:buBlip>
                <a:blip r:embed="rId4"/>
              </a:buBlip>
            </a:pPr>
            <a:r>
              <a:rPr lang="cs-CZ" sz="1400" b="1" dirty="0">
                <a:solidFill>
                  <a:srgbClr val="307871"/>
                </a:solidFill>
                <a:latin typeface="+mj-lt"/>
              </a:rPr>
              <a:t>Game </a:t>
            </a:r>
            <a:r>
              <a:rPr lang="cs-CZ" sz="1400" b="1" dirty="0" err="1">
                <a:solidFill>
                  <a:srgbClr val="307871"/>
                </a:solidFill>
                <a:latin typeface="+mj-lt"/>
              </a:rPr>
              <a:t>of</a:t>
            </a:r>
            <a:r>
              <a:rPr lang="cs-CZ" sz="1400" b="1" dirty="0">
                <a:solidFill>
                  <a:srgbClr val="307871"/>
                </a:solidFill>
                <a:latin typeface="+mj-lt"/>
              </a:rPr>
              <a:t> </a:t>
            </a:r>
            <a:r>
              <a:rPr lang="cs-CZ" sz="1400" b="1" dirty="0" err="1">
                <a:solidFill>
                  <a:srgbClr val="307871"/>
                </a:solidFill>
                <a:latin typeface="+mj-lt"/>
              </a:rPr>
              <a:t>Life</a:t>
            </a:r>
            <a:r>
              <a:rPr lang="cs-CZ" sz="1400" b="1" dirty="0">
                <a:latin typeface="+mj-lt"/>
              </a:rPr>
              <a:t>: GPU rychlejší od n ≈ 28</a:t>
            </a:r>
            <a:endParaRPr lang="cs-CZ" sz="1400" b="1" dirty="0"/>
          </a:p>
          <a:p>
            <a:pPr lvl="1">
              <a:buBlip>
                <a:blip r:embed="rId4"/>
              </a:buBlip>
            </a:pPr>
            <a:r>
              <a:rPr lang="cs-CZ" sz="1200" b="1" dirty="0">
                <a:latin typeface="+mj-lt"/>
              </a:rPr>
              <a:t>Výpočet: O(n²) × 100 iterací</a:t>
            </a:r>
          </a:p>
          <a:p>
            <a:pPr lvl="1">
              <a:buBlip>
                <a:blip r:embed="rId4"/>
              </a:buBlip>
            </a:pPr>
            <a:r>
              <a:rPr lang="cs-CZ" sz="1200" b="1" dirty="0">
                <a:latin typeface="+mj-lt"/>
              </a:rPr>
              <a:t>Přenos dat: O(n²)</a:t>
            </a:r>
          </a:p>
          <a:p>
            <a:pPr lvl="1">
              <a:buBlip>
                <a:blip r:embed="rId4"/>
              </a:buBlip>
            </a:pPr>
            <a:r>
              <a:rPr lang="cs-CZ" sz="1200" b="1" dirty="0">
                <a:latin typeface="+mj-lt"/>
              </a:rPr>
              <a:t>Poměr = 100:1 (konstantní)</a:t>
            </a:r>
          </a:p>
          <a:p>
            <a:pPr marL="457200" lvl="1" indent="0">
              <a:buNone/>
            </a:pPr>
            <a:endParaRPr lang="cs-CZ" altLang="cs-CZ" sz="1200" b="1" dirty="0">
              <a:solidFill>
                <a:srgbClr val="307871"/>
              </a:solidFill>
              <a:latin typeface="+mj-lt"/>
              <a:cs typeface="Times New Roman" panose="02020603050405020304" pitchFamily="18" charset="0"/>
            </a:endParaRPr>
          </a:p>
          <a:p>
            <a:pPr marL="457200" lvl="1" indent="0">
              <a:buNone/>
            </a:pPr>
            <a:endParaRPr lang="cs-CZ" altLang="cs-CZ" sz="1400" b="1" dirty="0">
              <a:solidFill>
                <a:srgbClr val="307871"/>
              </a:solidFill>
              <a:latin typeface="+mj-lt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cs-CZ" altLang="cs-CZ" sz="1000" b="1" dirty="0">
                <a:solidFill>
                  <a:srgbClr val="307871"/>
                </a:solidFill>
                <a:latin typeface="+mj-lt"/>
                <a:cs typeface="Times New Roman" panose="02020603050405020304" pitchFamily="18" charset="0"/>
              </a:rPr>
              <a:t>Čím vyšší je poměr výpočtu k přenosu, tím dříve se GPU vyplatí</a:t>
            </a:r>
          </a:p>
        </p:txBody>
      </p:sp>
      <p:cxnSp>
        <p:nvCxnSpPr>
          <p:cNvPr id="12" name="Přímá spojnice 11">
            <a:extLst>
              <a:ext uri="{FF2B5EF4-FFF2-40B4-BE49-F238E27FC236}">
                <a16:creationId xmlns:a16="http://schemas.microsoft.com/office/drawing/2014/main" id="{F2691ABB-53EC-AE29-A0ED-934FE29D12E6}"/>
              </a:ext>
            </a:extLst>
          </p:cNvPr>
          <p:cNvCxnSpPr>
            <a:cxnSpLocks/>
          </p:cNvCxnSpPr>
          <p:nvPr/>
        </p:nvCxnSpPr>
        <p:spPr>
          <a:xfrm flipH="1">
            <a:off x="709604" y="1175158"/>
            <a:ext cx="997276" cy="0"/>
          </a:xfrm>
          <a:prstGeom prst="line">
            <a:avLst/>
          </a:prstGeom>
          <a:ln w="19050">
            <a:solidFill>
              <a:srgbClr val="30787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" name="Skupina 4">
            <a:extLst>
              <a:ext uri="{FF2B5EF4-FFF2-40B4-BE49-F238E27FC236}">
                <a16:creationId xmlns:a16="http://schemas.microsoft.com/office/drawing/2014/main" id="{9688BD11-F881-354C-4136-321D2992E01F}"/>
              </a:ext>
            </a:extLst>
          </p:cNvPr>
          <p:cNvGrpSpPr/>
          <p:nvPr/>
        </p:nvGrpSpPr>
        <p:grpSpPr>
          <a:xfrm>
            <a:off x="3802397" y="4659313"/>
            <a:ext cx="1539204" cy="288701"/>
            <a:chOff x="3802397" y="4659313"/>
            <a:chExt cx="1539204" cy="288701"/>
          </a:xfrm>
        </p:grpSpPr>
        <p:cxnSp>
          <p:nvCxnSpPr>
            <p:cNvPr id="6" name="Přímá spojnice 5">
              <a:extLst>
                <a:ext uri="{FF2B5EF4-FFF2-40B4-BE49-F238E27FC236}">
                  <a16:creationId xmlns:a16="http://schemas.microsoft.com/office/drawing/2014/main" id="{3CEEDDD9-D192-3D85-910C-BB63E20DA92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211960" y="4659313"/>
              <a:ext cx="720080" cy="0"/>
            </a:xfrm>
            <a:prstGeom prst="line">
              <a:avLst/>
            </a:prstGeom>
            <a:ln>
              <a:solidFill>
                <a:srgbClr val="30787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TextovéPole 6">
              <a:extLst>
                <a:ext uri="{FF2B5EF4-FFF2-40B4-BE49-F238E27FC236}">
                  <a16:creationId xmlns:a16="http://schemas.microsoft.com/office/drawing/2014/main" id="{D73764C1-021A-9FF5-CF04-11FFE7DD6249}"/>
                </a:ext>
              </a:extLst>
            </p:cNvPr>
            <p:cNvSpPr txBox="1"/>
            <p:nvPr/>
          </p:nvSpPr>
          <p:spPr>
            <a:xfrm>
              <a:off x="3802397" y="4701793"/>
              <a:ext cx="1539204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cs-CZ" sz="1000" b="1" cap="all" spc="100" dirty="0">
                  <a:solidFill>
                    <a:schemeClr val="bg1">
                      <a:lumMod val="50000"/>
                    </a:schemeClr>
                  </a:solidFill>
                </a:rPr>
                <a:t>Slezská univerzita</a:t>
              </a:r>
            </a:p>
          </p:txBody>
        </p:sp>
      </p:grpSp>
      <p:pic>
        <p:nvPicPr>
          <p:cNvPr id="10" name="Obrázek 9">
            <a:extLst>
              <a:ext uri="{FF2B5EF4-FFF2-40B4-BE49-F238E27FC236}">
                <a16:creationId xmlns:a16="http://schemas.microsoft.com/office/drawing/2014/main" id="{36C00B9E-EE9F-7EF5-5784-921D1611182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945" y="1343765"/>
            <a:ext cx="4948479" cy="28350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41817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45956B-E5A8-FCE1-718B-1823EBF00E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Obrázek 13">
            <a:extLst>
              <a:ext uri="{FF2B5EF4-FFF2-40B4-BE49-F238E27FC236}">
                <a16:creationId xmlns:a16="http://schemas.microsoft.com/office/drawing/2014/main" id="{D0510B18-DEC3-5CAE-C685-BAC1A4C3429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9" name="Nadpis 1">
            <a:extLst>
              <a:ext uri="{FF2B5EF4-FFF2-40B4-BE49-F238E27FC236}">
                <a16:creationId xmlns:a16="http://schemas.microsoft.com/office/drawing/2014/main" id="{96E4CD9F-123C-50C4-6099-90D249B459DE}"/>
              </a:ext>
            </a:extLst>
          </p:cNvPr>
          <p:cNvSpPr txBox="1">
            <a:spLocks/>
          </p:cNvSpPr>
          <p:nvPr/>
        </p:nvSpPr>
        <p:spPr>
          <a:xfrm>
            <a:off x="596752" y="462980"/>
            <a:ext cx="6279504" cy="66861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cs-CZ" sz="3200" b="1" cap="all" dirty="0">
                <a:solidFill>
                  <a:srgbClr val="307871"/>
                </a:solidFill>
              </a:rPr>
              <a:t>Porovnání GPU knihoven</a:t>
            </a:r>
          </a:p>
        </p:txBody>
      </p:sp>
      <p:cxnSp>
        <p:nvCxnSpPr>
          <p:cNvPr id="12" name="Přímá spojnice 11">
            <a:extLst>
              <a:ext uri="{FF2B5EF4-FFF2-40B4-BE49-F238E27FC236}">
                <a16:creationId xmlns:a16="http://schemas.microsoft.com/office/drawing/2014/main" id="{059E5775-4654-D049-D045-0335D52A9014}"/>
              </a:ext>
            </a:extLst>
          </p:cNvPr>
          <p:cNvCxnSpPr>
            <a:cxnSpLocks/>
          </p:cNvCxnSpPr>
          <p:nvPr/>
        </p:nvCxnSpPr>
        <p:spPr>
          <a:xfrm flipH="1">
            <a:off x="709604" y="1175158"/>
            <a:ext cx="997276" cy="0"/>
          </a:xfrm>
          <a:prstGeom prst="line">
            <a:avLst/>
          </a:prstGeom>
          <a:ln w="19050">
            <a:solidFill>
              <a:srgbClr val="30787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" name="Skupina 4">
            <a:extLst>
              <a:ext uri="{FF2B5EF4-FFF2-40B4-BE49-F238E27FC236}">
                <a16:creationId xmlns:a16="http://schemas.microsoft.com/office/drawing/2014/main" id="{4812C69C-389C-AC57-6811-5EA05C682E61}"/>
              </a:ext>
            </a:extLst>
          </p:cNvPr>
          <p:cNvGrpSpPr/>
          <p:nvPr/>
        </p:nvGrpSpPr>
        <p:grpSpPr>
          <a:xfrm>
            <a:off x="3802397" y="4659313"/>
            <a:ext cx="1539204" cy="288701"/>
            <a:chOff x="3802397" y="4659313"/>
            <a:chExt cx="1539204" cy="288701"/>
          </a:xfrm>
        </p:grpSpPr>
        <p:cxnSp>
          <p:nvCxnSpPr>
            <p:cNvPr id="6" name="Přímá spojnice 5">
              <a:extLst>
                <a:ext uri="{FF2B5EF4-FFF2-40B4-BE49-F238E27FC236}">
                  <a16:creationId xmlns:a16="http://schemas.microsoft.com/office/drawing/2014/main" id="{D8D5C898-AA37-3F11-1FBC-B468EE2D31B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211960" y="4659313"/>
              <a:ext cx="720080" cy="0"/>
            </a:xfrm>
            <a:prstGeom prst="line">
              <a:avLst/>
            </a:prstGeom>
            <a:ln>
              <a:solidFill>
                <a:srgbClr val="30787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TextovéPole 6">
              <a:extLst>
                <a:ext uri="{FF2B5EF4-FFF2-40B4-BE49-F238E27FC236}">
                  <a16:creationId xmlns:a16="http://schemas.microsoft.com/office/drawing/2014/main" id="{06B53257-46BF-B23D-015D-DDD22F31DA26}"/>
                </a:ext>
              </a:extLst>
            </p:cNvPr>
            <p:cNvSpPr txBox="1"/>
            <p:nvPr/>
          </p:nvSpPr>
          <p:spPr>
            <a:xfrm>
              <a:off x="3802397" y="4701793"/>
              <a:ext cx="1539204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cs-CZ" sz="1000" b="1" cap="all" spc="100" dirty="0">
                  <a:solidFill>
                    <a:schemeClr val="bg1">
                      <a:lumMod val="50000"/>
                    </a:schemeClr>
                  </a:solidFill>
                </a:rPr>
                <a:t>Slezská univerzita</a:t>
              </a:r>
            </a:p>
          </p:txBody>
        </p:sp>
      </p:grpSp>
      <p:pic>
        <p:nvPicPr>
          <p:cNvPr id="4" name="Obrázek 3">
            <a:extLst>
              <a:ext uri="{FF2B5EF4-FFF2-40B4-BE49-F238E27FC236}">
                <a16:creationId xmlns:a16="http://schemas.microsoft.com/office/drawing/2014/main" id="{762D17E7-4147-4973-EB5E-FD53C2F53FC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9604" y="1213952"/>
            <a:ext cx="7199660" cy="3362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66112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Zástupný symbol pro obsah 2">
            <a:extLst>
              <a:ext uri="{FF2B5EF4-FFF2-40B4-BE49-F238E27FC236}">
                <a16:creationId xmlns:a16="http://schemas.microsoft.com/office/drawing/2014/main" id="{A5A29A1F-AA48-4914-BEA8-EA2AA88A4B1D}"/>
              </a:ext>
            </a:extLst>
          </p:cNvPr>
          <p:cNvSpPr txBox="1">
            <a:spLocks/>
          </p:cNvSpPr>
          <p:nvPr/>
        </p:nvSpPr>
        <p:spPr>
          <a:xfrm>
            <a:off x="-2088232" y="1995476"/>
            <a:ext cx="4176464" cy="2706317"/>
          </a:xfrm>
          <a:prstGeom prst="rect">
            <a:avLst/>
          </a:prstGeom>
        </p:spPr>
        <p:txBody>
          <a:bodyPr vert="horz" lIns="91440" tIns="45720" rIns="91440" bIns="45720" numCol="1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cs-CZ" altLang="cs-CZ" sz="1400" dirty="0">
              <a:cs typeface="Times New Roman" panose="02020603050405020304" pitchFamily="18" charset="0"/>
            </a:endParaRPr>
          </a:p>
        </p:txBody>
      </p:sp>
      <p:sp>
        <p:nvSpPr>
          <p:cNvPr id="11" name="Nadpis 1">
            <a:extLst>
              <a:ext uri="{FF2B5EF4-FFF2-40B4-BE49-F238E27FC236}">
                <a16:creationId xmlns:a16="http://schemas.microsoft.com/office/drawing/2014/main" id="{426A6329-F9AB-424C-8AEB-35B0C8CE7476}"/>
              </a:ext>
            </a:extLst>
          </p:cNvPr>
          <p:cNvSpPr txBox="1">
            <a:spLocks/>
          </p:cNvSpPr>
          <p:nvPr/>
        </p:nvSpPr>
        <p:spPr>
          <a:xfrm>
            <a:off x="596752" y="462980"/>
            <a:ext cx="4191272" cy="66861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cs-CZ" sz="3200" b="1" cap="all" dirty="0">
                <a:solidFill>
                  <a:srgbClr val="307871"/>
                </a:solidFill>
              </a:rPr>
              <a:t>Závěr</a:t>
            </a:r>
          </a:p>
        </p:txBody>
      </p:sp>
      <p:cxnSp>
        <p:nvCxnSpPr>
          <p:cNvPr id="12" name="Přímá spojnice 11">
            <a:extLst>
              <a:ext uri="{FF2B5EF4-FFF2-40B4-BE49-F238E27FC236}">
                <a16:creationId xmlns:a16="http://schemas.microsoft.com/office/drawing/2014/main" id="{6B91CD0D-A66E-4BF4-9C1E-97E6D1C981A4}"/>
              </a:ext>
            </a:extLst>
          </p:cNvPr>
          <p:cNvCxnSpPr>
            <a:cxnSpLocks/>
          </p:cNvCxnSpPr>
          <p:nvPr/>
        </p:nvCxnSpPr>
        <p:spPr>
          <a:xfrm flipH="1">
            <a:off x="709604" y="1175158"/>
            <a:ext cx="997276" cy="0"/>
          </a:xfrm>
          <a:prstGeom prst="line">
            <a:avLst/>
          </a:prstGeom>
          <a:ln w="19050">
            <a:solidFill>
              <a:srgbClr val="30787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Skupina 2">
            <a:extLst>
              <a:ext uri="{FF2B5EF4-FFF2-40B4-BE49-F238E27FC236}">
                <a16:creationId xmlns:a16="http://schemas.microsoft.com/office/drawing/2014/main" id="{9A0B36A6-B1C5-DFEC-E8B2-C4B949DF5B28}"/>
              </a:ext>
            </a:extLst>
          </p:cNvPr>
          <p:cNvGrpSpPr/>
          <p:nvPr/>
        </p:nvGrpSpPr>
        <p:grpSpPr>
          <a:xfrm>
            <a:off x="3802397" y="4659313"/>
            <a:ext cx="1539204" cy="288701"/>
            <a:chOff x="3802397" y="4659313"/>
            <a:chExt cx="1539204" cy="288701"/>
          </a:xfrm>
        </p:grpSpPr>
        <p:cxnSp>
          <p:nvCxnSpPr>
            <p:cNvPr id="5" name="Přímá spojnice 4">
              <a:extLst>
                <a:ext uri="{FF2B5EF4-FFF2-40B4-BE49-F238E27FC236}">
                  <a16:creationId xmlns:a16="http://schemas.microsoft.com/office/drawing/2014/main" id="{9784AE99-9537-0A62-4797-F4FF16FF7DA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211960" y="4659313"/>
              <a:ext cx="720080" cy="0"/>
            </a:xfrm>
            <a:prstGeom prst="line">
              <a:avLst/>
            </a:prstGeom>
            <a:ln>
              <a:solidFill>
                <a:srgbClr val="30787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TextovéPole 12">
              <a:extLst>
                <a:ext uri="{FF2B5EF4-FFF2-40B4-BE49-F238E27FC236}">
                  <a16:creationId xmlns:a16="http://schemas.microsoft.com/office/drawing/2014/main" id="{420A8B5E-A77E-CFAE-C380-82FDDBEB9C1A}"/>
                </a:ext>
              </a:extLst>
            </p:cNvPr>
            <p:cNvSpPr txBox="1"/>
            <p:nvPr/>
          </p:nvSpPr>
          <p:spPr>
            <a:xfrm>
              <a:off x="3802397" y="4701793"/>
              <a:ext cx="1539204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cs-CZ" sz="1000" b="1" cap="all" spc="100" dirty="0">
                  <a:solidFill>
                    <a:schemeClr val="bg1">
                      <a:lumMod val="50000"/>
                    </a:schemeClr>
                  </a:solidFill>
                </a:rPr>
                <a:t>Slezská univerzita</a:t>
              </a:r>
            </a:p>
          </p:txBody>
        </p:sp>
      </p:grpSp>
      <p:sp>
        <p:nvSpPr>
          <p:cNvPr id="2" name="Zástupný symbol pro obsah 2">
            <a:extLst>
              <a:ext uri="{FF2B5EF4-FFF2-40B4-BE49-F238E27FC236}">
                <a16:creationId xmlns:a16="http://schemas.microsoft.com/office/drawing/2014/main" id="{FB4517A4-700F-B4B7-A217-07824FA9E7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3268" y="1223455"/>
            <a:ext cx="8096427" cy="2929541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cs-CZ" sz="1600" b="1" dirty="0">
                <a:solidFill>
                  <a:srgbClr val="307871"/>
                </a:solidFill>
              </a:rPr>
              <a:t>Zjištění:</a:t>
            </a:r>
          </a:p>
          <a:p>
            <a:pPr>
              <a:buBlip>
                <a:blip r:embed="rId3"/>
              </a:buBlip>
            </a:pPr>
            <a:r>
              <a:rPr lang="cs-CZ" sz="1600" b="1" dirty="0"/>
              <a:t>GPU v .NET řádové zrychlení až 6534× (pro </a:t>
            </a:r>
            <a:r>
              <a:rPr lang="cs-CZ" sz="1600" b="1" dirty="0" err="1"/>
              <a:t>ComputeSharp</a:t>
            </a:r>
            <a:r>
              <a:rPr lang="cs-CZ" sz="1600" b="1" dirty="0"/>
              <a:t> </a:t>
            </a:r>
            <a:r>
              <a:rPr lang="cs-CZ" sz="1600" b="1" dirty="0" err="1"/>
              <a:t>Nasobení</a:t>
            </a:r>
            <a:r>
              <a:rPr lang="cs-CZ" sz="1600" b="1" dirty="0"/>
              <a:t> matic)</a:t>
            </a:r>
          </a:p>
          <a:p>
            <a:pPr>
              <a:buBlip>
                <a:blip r:embed="rId3"/>
              </a:buBlip>
            </a:pPr>
            <a:r>
              <a:rPr lang="cs-CZ" sz="1600" b="1" dirty="0"/>
              <a:t>Crossover – závisí na </a:t>
            </a:r>
            <a:r>
              <a:rPr lang="cs-CZ" sz="1600" b="1" dirty="0" err="1"/>
              <a:t>overhead</a:t>
            </a:r>
            <a:r>
              <a:rPr lang="cs-CZ" sz="1600" b="1" dirty="0"/>
              <a:t> GPU - poměr výpočet/přenos (</a:t>
            </a:r>
            <a:r>
              <a:rPr lang="cs-CZ" sz="1600" b="1" dirty="0" err="1"/>
              <a:t>MatMul</a:t>
            </a:r>
            <a:r>
              <a:rPr lang="cs-CZ" sz="1600" b="1" dirty="0"/>
              <a:t> 140², </a:t>
            </a:r>
            <a:r>
              <a:rPr lang="cs-CZ" sz="1600" b="1" dirty="0" err="1"/>
              <a:t>GoL</a:t>
            </a:r>
            <a:r>
              <a:rPr lang="cs-CZ" sz="1600" b="1" dirty="0"/>
              <a:t> 28²)</a:t>
            </a:r>
          </a:p>
          <a:p>
            <a:pPr>
              <a:buBlip>
                <a:blip r:embed="rId3"/>
              </a:buBlip>
            </a:pPr>
            <a:r>
              <a:rPr lang="cs-CZ" sz="1600" b="1" dirty="0"/>
              <a:t>.NET knihovny jsou použitelnou alternativou k nativní CUDA</a:t>
            </a:r>
          </a:p>
          <a:p>
            <a:pPr marL="0" indent="0">
              <a:buNone/>
            </a:pPr>
            <a:r>
              <a:rPr lang="cs-CZ" sz="1600" b="1" dirty="0">
                <a:solidFill>
                  <a:srgbClr val="307871"/>
                </a:solidFill>
              </a:rPr>
              <a:t>Přínosy:</a:t>
            </a:r>
          </a:p>
          <a:p>
            <a:pPr>
              <a:buBlip>
                <a:blip r:embed="rId3"/>
              </a:buBlip>
            </a:pPr>
            <a:r>
              <a:rPr lang="cs-CZ" sz="1600" b="1" dirty="0"/>
              <a:t>Systematické srovnání dvou .NET GPU knihoven na stejných úlohách</a:t>
            </a:r>
          </a:p>
          <a:p>
            <a:pPr>
              <a:buBlip>
                <a:blip r:embed="rId3"/>
              </a:buBlip>
            </a:pPr>
            <a:r>
              <a:rPr lang="cs-CZ" sz="1600" b="1" dirty="0"/>
              <a:t>Rozšiřitelný benchmark framework (CLI konfigurace, kompatibilita </a:t>
            </a:r>
            <a:r>
              <a:rPr lang="cs-CZ" sz="1600" b="1" dirty="0" err="1"/>
              <a:t>GPUs</a:t>
            </a:r>
            <a:r>
              <a:rPr lang="cs-CZ" sz="1600" b="1" dirty="0"/>
              <a:t>, přidání úloh)</a:t>
            </a:r>
          </a:p>
          <a:p>
            <a:pPr>
              <a:buBlip>
                <a:blip r:embed="rId3"/>
              </a:buBlip>
            </a:pPr>
            <a:r>
              <a:rPr lang="cs-CZ" sz="1600" b="1" dirty="0"/>
              <a:t>Identifikace principu rozhodujícího o výhodnosti GPU</a:t>
            </a:r>
          </a:p>
        </p:txBody>
      </p:sp>
      <p:sp>
        <p:nvSpPr>
          <p:cNvPr id="21" name="Zástupný symbol pro obsah 2">
            <a:extLst>
              <a:ext uri="{FF2B5EF4-FFF2-40B4-BE49-F238E27FC236}">
                <a16:creationId xmlns:a16="http://schemas.microsoft.com/office/drawing/2014/main" id="{2F038ED0-2008-6C7B-BA9D-C749514C95E2}"/>
              </a:ext>
            </a:extLst>
          </p:cNvPr>
          <p:cNvSpPr txBox="1">
            <a:spLocks/>
          </p:cNvSpPr>
          <p:nvPr/>
        </p:nvSpPr>
        <p:spPr>
          <a:xfrm>
            <a:off x="333268" y="3626045"/>
            <a:ext cx="4191272" cy="156021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cs-CZ" sz="1600" b="1" dirty="0">
                <a:solidFill>
                  <a:srgbClr val="307871"/>
                </a:solidFill>
              </a:rPr>
              <a:t>Omezení:</a:t>
            </a:r>
          </a:p>
          <a:p>
            <a:pPr>
              <a:buFont typeface="Arial" panose="020B0604020202020204" pitchFamily="34" charset="0"/>
              <a:buBlip>
                <a:blip r:embed="rId3"/>
              </a:buBlip>
            </a:pPr>
            <a:r>
              <a:rPr lang="cs-CZ" sz="1600" b="1" dirty="0"/>
              <a:t>Testováno pouze na jedné HW sestavě</a:t>
            </a:r>
          </a:p>
          <a:p>
            <a:pPr>
              <a:buBlip>
                <a:blip r:embed="rId3"/>
              </a:buBlip>
            </a:pPr>
            <a:r>
              <a:rPr lang="cs-CZ" sz="1600" b="1" dirty="0"/>
              <a:t>Naivní algoritmy (záměrně)</a:t>
            </a:r>
          </a:p>
        </p:txBody>
      </p:sp>
    </p:spTree>
    <p:extLst>
      <p:ext uri="{BB962C8B-B14F-4D97-AF65-F5344CB8AC3E}">
        <p14:creationId xmlns:p14="http://schemas.microsoft.com/office/powerpoint/2010/main" val="4937910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Skupina 3">
            <a:extLst>
              <a:ext uri="{FF2B5EF4-FFF2-40B4-BE49-F238E27FC236}">
                <a16:creationId xmlns:a16="http://schemas.microsoft.com/office/drawing/2014/main" id="{B610EB80-C87B-4447-9825-BAC98404569D}"/>
              </a:ext>
            </a:extLst>
          </p:cNvPr>
          <p:cNvGrpSpPr/>
          <p:nvPr/>
        </p:nvGrpSpPr>
        <p:grpSpPr>
          <a:xfrm>
            <a:off x="-396552" y="-20538"/>
            <a:ext cx="9540552" cy="5143500"/>
            <a:chOff x="-396552" y="0"/>
            <a:chExt cx="9540552" cy="5143500"/>
          </a:xfrm>
        </p:grpSpPr>
        <p:pic>
          <p:nvPicPr>
            <p:cNvPr id="3" name="Obrázek 2">
              <a:extLst>
                <a:ext uri="{FF2B5EF4-FFF2-40B4-BE49-F238E27FC236}">
                  <a16:creationId xmlns:a16="http://schemas.microsoft.com/office/drawing/2014/main" id="{9B2297F0-AFBE-478F-99F6-7560D3C6CC7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0" y="0"/>
              <a:ext cx="9144000" cy="5143500"/>
            </a:xfrm>
            <a:prstGeom prst="rect">
              <a:avLst/>
            </a:prstGeom>
          </p:spPr>
        </p:pic>
        <p:sp>
          <p:nvSpPr>
            <p:cNvPr id="13" name="Obdélník: se zakulacenými rohy 12">
              <a:extLst>
                <a:ext uri="{FF2B5EF4-FFF2-40B4-BE49-F238E27FC236}">
                  <a16:creationId xmlns:a16="http://schemas.microsoft.com/office/drawing/2014/main" id="{85237D80-94D7-45A4-A3FA-12A54210D606}"/>
                </a:ext>
              </a:extLst>
            </p:cNvPr>
            <p:cNvSpPr/>
            <p:nvPr/>
          </p:nvSpPr>
          <p:spPr>
            <a:xfrm>
              <a:off x="-396552" y="4515966"/>
              <a:ext cx="2749938" cy="288032"/>
            </a:xfrm>
            <a:prstGeom prst="roundRect">
              <a:avLst>
                <a:gd name="adj" fmla="val 50000"/>
              </a:avLst>
            </a:prstGeom>
            <a:solidFill>
              <a:srgbClr val="30787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 dirty="0"/>
            </a:p>
          </p:txBody>
        </p:sp>
        <p:sp>
          <p:nvSpPr>
            <p:cNvPr id="14" name="TextovéPole 13">
              <a:extLst>
                <a:ext uri="{FF2B5EF4-FFF2-40B4-BE49-F238E27FC236}">
                  <a16:creationId xmlns:a16="http://schemas.microsoft.com/office/drawing/2014/main" id="{7524115B-EB76-44B4-A8B2-02837B9EB826}"/>
                </a:ext>
              </a:extLst>
            </p:cNvPr>
            <p:cNvSpPr txBox="1"/>
            <p:nvPr/>
          </p:nvSpPr>
          <p:spPr>
            <a:xfrm>
              <a:off x="611559" y="4496221"/>
              <a:ext cx="168169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cs-CZ" sz="1400" b="1" dirty="0">
                  <a:solidFill>
                    <a:schemeClr val="bg1"/>
                  </a:solidFill>
                </a:rPr>
                <a:t>www.slu.cz/opf/cz</a:t>
              </a:r>
            </a:p>
          </p:txBody>
        </p:sp>
        <p:pic>
          <p:nvPicPr>
            <p:cNvPr id="16" name="Obrázek 15">
              <a:extLst>
                <a:ext uri="{FF2B5EF4-FFF2-40B4-BE49-F238E27FC236}">
                  <a16:creationId xmlns:a16="http://schemas.microsoft.com/office/drawing/2014/main" id="{A0950B4E-DAB5-43A2-898E-94A6A076921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399702" y="325900"/>
              <a:ext cx="1953684" cy="956834"/>
            </a:xfrm>
            <a:prstGeom prst="rect">
              <a:avLst/>
            </a:prstGeom>
          </p:spPr>
        </p:pic>
      </p:grpSp>
      <p:sp>
        <p:nvSpPr>
          <p:cNvPr id="9" name="Nadpis 1">
            <a:extLst>
              <a:ext uri="{FF2B5EF4-FFF2-40B4-BE49-F238E27FC236}">
                <a16:creationId xmlns:a16="http://schemas.microsoft.com/office/drawing/2014/main" id="{C51D9093-0704-4F4C-A1A1-D0B3B97BA909}"/>
              </a:ext>
            </a:extLst>
          </p:cNvPr>
          <p:cNvSpPr txBox="1">
            <a:spLocks/>
          </p:cNvSpPr>
          <p:nvPr/>
        </p:nvSpPr>
        <p:spPr>
          <a:xfrm>
            <a:off x="6012160" y="4083918"/>
            <a:ext cx="2538172" cy="864096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85000"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cs-CZ" sz="3200" b="1" cap="all" dirty="0">
                <a:solidFill>
                  <a:srgbClr val="307871"/>
                </a:solidFill>
              </a:rPr>
              <a:t>Děkuji</a:t>
            </a:r>
            <a:br>
              <a:rPr lang="cs-CZ" sz="3200" b="1" cap="all" dirty="0">
                <a:solidFill>
                  <a:srgbClr val="307871"/>
                </a:solidFill>
              </a:rPr>
            </a:br>
            <a:r>
              <a:rPr lang="cs-CZ" sz="3200" b="1" cap="all" dirty="0">
                <a:solidFill>
                  <a:srgbClr val="307871"/>
                </a:solidFill>
              </a:rPr>
              <a:t>za pozornost</a:t>
            </a:r>
          </a:p>
        </p:txBody>
      </p:sp>
    </p:spTree>
    <p:extLst>
      <p:ext uri="{BB962C8B-B14F-4D97-AF65-F5344CB8AC3E}">
        <p14:creationId xmlns:p14="http://schemas.microsoft.com/office/powerpoint/2010/main" val="5476170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213D3F-0775-3D9E-77FF-A14E6EDC6C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Obrázek 10">
            <a:extLst>
              <a:ext uri="{FF2B5EF4-FFF2-40B4-BE49-F238E27FC236}">
                <a16:creationId xmlns:a16="http://schemas.microsoft.com/office/drawing/2014/main" id="{0D15F386-94D1-ECB0-62EE-84F91B7696F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14" name="Zástupný symbol pro obsah 2">
            <a:extLst>
              <a:ext uri="{FF2B5EF4-FFF2-40B4-BE49-F238E27FC236}">
                <a16:creationId xmlns:a16="http://schemas.microsoft.com/office/drawing/2014/main" id="{A6BCEE6F-FFBA-8D4F-FF53-C467A8649EC0}"/>
              </a:ext>
            </a:extLst>
          </p:cNvPr>
          <p:cNvSpPr txBox="1">
            <a:spLocks/>
          </p:cNvSpPr>
          <p:nvPr/>
        </p:nvSpPr>
        <p:spPr>
          <a:xfrm>
            <a:off x="180974" y="1217638"/>
            <a:ext cx="8782049" cy="373037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cs-CZ" sz="1400" b="1" dirty="0">
                <a:solidFill>
                  <a:srgbClr val="307871"/>
                </a:solidFill>
              </a:rPr>
              <a:t>Jak byste metodicky ošetřil měření se zápornou sekvenční frakcí a efektivitou nad 100 %</a:t>
            </a:r>
          </a:p>
          <a:p>
            <a:pPr marL="0" indent="0">
              <a:buNone/>
            </a:pPr>
            <a:r>
              <a:rPr lang="cs-CZ" sz="1400" b="1" dirty="0"/>
              <a:t>Metodické ošetření:</a:t>
            </a:r>
          </a:p>
          <a:p>
            <a:pPr>
              <a:buBlip>
                <a:blip r:embed="rId4"/>
              </a:buBlip>
            </a:pPr>
            <a:r>
              <a:rPr lang="cs-CZ" sz="1200" b="1" dirty="0"/>
              <a:t>Identifikovat anomálii – záporná frakce </a:t>
            </a:r>
            <a:r>
              <a:rPr lang="el-GR" sz="1200" b="1" dirty="0"/>
              <a:t>α = −0,41 </a:t>
            </a:r>
            <a:r>
              <a:rPr lang="cs-CZ" sz="1200" b="1" dirty="0"/>
              <a:t>je porušení předpokladů modelu, ne chyba metody výpočtu</a:t>
            </a:r>
            <a:endParaRPr lang="cs-CZ" sz="1200" dirty="0"/>
          </a:p>
          <a:p>
            <a:pPr>
              <a:buBlip>
                <a:blip r:embed="rId4"/>
              </a:buBlip>
            </a:pPr>
            <a:r>
              <a:rPr lang="cs-CZ" sz="1200" b="1" dirty="0"/>
              <a:t>Normalizovat – přepočet s </a:t>
            </a:r>
            <a:r>
              <a:rPr lang="cs-CZ" sz="1200" b="1" dirty="0" err="1"/>
              <a:t>Parallel</a:t>
            </a:r>
            <a:r>
              <a:rPr lang="cs-CZ" sz="1200" b="1" dirty="0"/>
              <a:t>(1) jako referencí -&gt; </a:t>
            </a:r>
            <a:r>
              <a:rPr lang="el-GR" sz="1200" b="1" dirty="0"/>
              <a:t>α* ≈ 0,64 (</a:t>
            </a:r>
            <a:r>
              <a:rPr lang="cs-CZ" sz="1200" b="1" dirty="0"/>
              <a:t>konzistentní s trendem ostatních)</a:t>
            </a:r>
          </a:p>
          <a:p>
            <a:pPr>
              <a:buBlip>
                <a:blip r:embed="rId4"/>
              </a:buBlip>
            </a:pPr>
            <a:r>
              <a:rPr lang="cs-CZ" sz="1200" b="1" dirty="0"/>
              <a:t>Vyloučit ze závěrů – tento bod nepoužívat pro tvrzení o modelu</a:t>
            </a:r>
          </a:p>
          <a:p>
            <a:pPr>
              <a:buBlip>
                <a:blip r:embed="rId4"/>
              </a:buBlip>
            </a:pPr>
            <a:r>
              <a:rPr lang="cs-CZ" sz="1200" b="1" dirty="0"/>
              <a:t>Transparentně prezentovat – v práci uvádím surová i korigovaná data vedle sebe</a:t>
            </a:r>
          </a:p>
          <a:p>
            <a:pPr>
              <a:buBlip>
                <a:blip r:embed="rId4"/>
              </a:buBlip>
            </a:pPr>
            <a:r>
              <a:rPr lang="cs-CZ" sz="1200" b="1" dirty="0"/>
              <a:t>Zpětně bych přeměřil sekvenční 1024² s HW </a:t>
            </a:r>
            <a:r>
              <a:rPr lang="cs-CZ" sz="1200" b="1" dirty="0" err="1"/>
              <a:t>profilerem</a:t>
            </a:r>
            <a:r>
              <a:rPr lang="cs-CZ" sz="1200" b="1" dirty="0"/>
              <a:t> pro identifikaci příčiny, nebo bod vyloučil z analýzy před vyvozováním závěrů.</a:t>
            </a:r>
            <a:endParaRPr lang="cs-CZ" sz="1100" b="1" dirty="0"/>
          </a:p>
          <a:p>
            <a:pPr marL="0" indent="0">
              <a:buNone/>
            </a:pPr>
            <a:r>
              <a:rPr lang="cs-CZ" sz="1400" b="1" dirty="0">
                <a:solidFill>
                  <a:srgbClr val="307871"/>
                </a:solidFill>
              </a:rPr>
              <a:t>Jaký experiment by bylo možné doplnit, aby bylo možné hodnotit vliv konfigurace GPU výpočtu na výkon?</a:t>
            </a:r>
          </a:p>
          <a:p>
            <a:pPr>
              <a:buBlip>
                <a:blip r:embed="rId4"/>
              </a:buBlip>
            </a:pPr>
            <a:r>
              <a:rPr lang="cs-CZ" sz="1200" b="1" dirty="0"/>
              <a:t>Zmíněným nahrazením automatického nastavení velikosti bloku manuální.</a:t>
            </a:r>
          </a:p>
          <a:p>
            <a:pPr>
              <a:buBlip>
                <a:blip r:embed="rId4"/>
              </a:buBlip>
            </a:pPr>
            <a:r>
              <a:rPr lang="cs-CZ" sz="1200" b="1" dirty="0"/>
              <a:t>V ILGPU: nahradit </a:t>
            </a:r>
            <a:r>
              <a:rPr lang="cs-CZ" sz="1200" b="1" dirty="0" err="1"/>
              <a:t>LoadAutoGroupedStreamKernel</a:t>
            </a:r>
            <a:r>
              <a:rPr lang="cs-CZ" sz="1200" b="1" dirty="0"/>
              <a:t> pomocí </a:t>
            </a:r>
            <a:r>
              <a:rPr lang="cs-CZ" sz="1200" b="1" dirty="0" err="1"/>
              <a:t>LoadStreamKernel</a:t>
            </a:r>
            <a:r>
              <a:rPr lang="cs-CZ" sz="1200" b="1" dirty="0"/>
              <a:t>  s explicitním </a:t>
            </a:r>
            <a:r>
              <a:rPr lang="cs-CZ" sz="1200" b="1" dirty="0" err="1"/>
              <a:t>KernelConfig</a:t>
            </a:r>
            <a:r>
              <a:rPr lang="cs-CZ" sz="1200" b="1" dirty="0"/>
              <a:t> - </a:t>
            </a:r>
            <a:r>
              <a:rPr lang="cs-CZ" sz="1200" b="1" dirty="0" err="1"/>
              <a:t>GroupSize</a:t>
            </a:r>
            <a:endParaRPr lang="cs-CZ" sz="1200" b="1" dirty="0"/>
          </a:p>
          <a:p>
            <a:pPr>
              <a:buBlip>
                <a:blip r:embed="rId4"/>
              </a:buBlip>
            </a:pPr>
            <a:r>
              <a:rPr lang="cs-CZ" sz="1200" b="1" dirty="0"/>
              <a:t>Definovat proměnou: </a:t>
            </a:r>
            <a:r>
              <a:rPr lang="cs-CZ" sz="1200" b="1" dirty="0" err="1"/>
              <a:t>block</a:t>
            </a:r>
            <a:r>
              <a:rPr lang="cs-CZ" sz="1200" b="1" dirty="0"/>
              <a:t> </a:t>
            </a:r>
            <a:r>
              <a:rPr lang="cs-CZ" sz="1200" b="1" dirty="0" err="1"/>
              <a:t>size</a:t>
            </a:r>
            <a:r>
              <a:rPr lang="cs-CZ" sz="1200" b="1" dirty="0"/>
              <a:t> – 1D: (32, 64, 128, 256, 512, 1024) nebo 2D: (8×8, 16×16, 32×32)</a:t>
            </a:r>
          </a:p>
          <a:p>
            <a:pPr>
              <a:buBlip>
                <a:blip r:embed="rId4"/>
              </a:buBlip>
            </a:pPr>
            <a:r>
              <a:rPr lang="cs-CZ" sz="1200" b="1" dirty="0"/>
              <a:t>Měřit: čas výpočtu, </a:t>
            </a:r>
            <a:r>
              <a:rPr lang="cs-CZ" sz="1200" b="1" dirty="0" err="1"/>
              <a:t>připadně</a:t>
            </a:r>
            <a:r>
              <a:rPr lang="cs-CZ" sz="1200" b="1" dirty="0"/>
              <a:t> </a:t>
            </a:r>
            <a:r>
              <a:rPr lang="cs-CZ" sz="1200" b="1" dirty="0" err="1"/>
              <a:t>aji</a:t>
            </a:r>
            <a:r>
              <a:rPr lang="cs-CZ" sz="1200" b="1" dirty="0"/>
              <a:t> využití GPU (</a:t>
            </a:r>
            <a:r>
              <a:rPr lang="cs-CZ" sz="1200" b="1" dirty="0" err="1"/>
              <a:t>occupancy</a:t>
            </a:r>
            <a:r>
              <a:rPr lang="cs-CZ" sz="1200" b="1" dirty="0"/>
              <a:t>) přes CUDA </a:t>
            </a:r>
            <a:r>
              <a:rPr lang="cs-CZ" sz="1200" b="1" dirty="0" err="1"/>
              <a:t>profiler</a:t>
            </a:r>
            <a:endParaRPr lang="cs-CZ" sz="1200" b="1" dirty="0"/>
          </a:p>
          <a:p>
            <a:pPr>
              <a:buBlip>
                <a:blip r:embed="rId4"/>
              </a:buBlip>
            </a:pPr>
            <a:r>
              <a:rPr lang="cs-CZ" sz="1200" b="1" dirty="0"/>
              <a:t>Testovat na obou úlohách — </a:t>
            </a:r>
            <a:r>
              <a:rPr lang="cs-CZ" sz="1200" b="1" dirty="0" err="1"/>
              <a:t>MatMul</a:t>
            </a:r>
            <a:r>
              <a:rPr lang="cs-CZ" sz="1200" b="1" dirty="0"/>
              <a:t> (</a:t>
            </a:r>
            <a:r>
              <a:rPr lang="cs-CZ" sz="1200" b="1" dirty="0" err="1"/>
              <a:t>compute-bound</a:t>
            </a:r>
            <a:r>
              <a:rPr lang="cs-CZ" sz="1200" b="1" dirty="0"/>
              <a:t>) vs </a:t>
            </a:r>
            <a:r>
              <a:rPr lang="cs-CZ" sz="1200" b="1" dirty="0" err="1"/>
              <a:t>GoL</a:t>
            </a:r>
            <a:r>
              <a:rPr lang="cs-CZ" sz="1200" b="1" dirty="0"/>
              <a:t> (</a:t>
            </a:r>
            <a:r>
              <a:rPr lang="cs-CZ" sz="1200" b="1" dirty="0" err="1"/>
              <a:t>memory-bound</a:t>
            </a:r>
            <a:r>
              <a:rPr lang="cs-CZ" sz="1200" b="1" dirty="0"/>
              <a:t>)</a:t>
            </a:r>
          </a:p>
        </p:txBody>
      </p:sp>
      <p:sp>
        <p:nvSpPr>
          <p:cNvPr id="17" name="Nadpis 1">
            <a:extLst>
              <a:ext uri="{FF2B5EF4-FFF2-40B4-BE49-F238E27FC236}">
                <a16:creationId xmlns:a16="http://schemas.microsoft.com/office/drawing/2014/main" id="{45857E66-C5C9-5FFE-A5B1-BE9372700603}"/>
              </a:ext>
            </a:extLst>
          </p:cNvPr>
          <p:cNvSpPr txBox="1">
            <a:spLocks/>
          </p:cNvSpPr>
          <p:nvPr/>
        </p:nvSpPr>
        <p:spPr>
          <a:xfrm>
            <a:off x="596752" y="462980"/>
            <a:ext cx="6279504" cy="66861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cs-CZ" sz="3200" b="1" cap="all" dirty="0">
                <a:solidFill>
                  <a:srgbClr val="307871"/>
                </a:solidFill>
              </a:rPr>
              <a:t>Otázky vedoucího práce</a:t>
            </a:r>
          </a:p>
        </p:txBody>
      </p:sp>
      <p:cxnSp>
        <p:nvCxnSpPr>
          <p:cNvPr id="16" name="Přímá spojnice 15">
            <a:extLst>
              <a:ext uri="{FF2B5EF4-FFF2-40B4-BE49-F238E27FC236}">
                <a16:creationId xmlns:a16="http://schemas.microsoft.com/office/drawing/2014/main" id="{27887B5B-05D0-0BD9-8DC5-F5890D08115D}"/>
              </a:ext>
            </a:extLst>
          </p:cNvPr>
          <p:cNvCxnSpPr>
            <a:cxnSpLocks/>
          </p:cNvCxnSpPr>
          <p:nvPr/>
        </p:nvCxnSpPr>
        <p:spPr>
          <a:xfrm flipH="1">
            <a:off x="709604" y="1175158"/>
            <a:ext cx="997276" cy="0"/>
          </a:xfrm>
          <a:prstGeom prst="line">
            <a:avLst/>
          </a:prstGeom>
          <a:ln w="19050">
            <a:solidFill>
              <a:srgbClr val="30787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" name="Skupina 4">
            <a:extLst>
              <a:ext uri="{FF2B5EF4-FFF2-40B4-BE49-F238E27FC236}">
                <a16:creationId xmlns:a16="http://schemas.microsoft.com/office/drawing/2014/main" id="{F71B21FA-91F2-8875-03AA-A37ECE2AC437}"/>
              </a:ext>
            </a:extLst>
          </p:cNvPr>
          <p:cNvGrpSpPr/>
          <p:nvPr/>
        </p:nvGrpSpPr>
        <p:grpSpPr>
          <a:xfrm>
            <a:off x="3802397" y="4659313"/>
            <a:ext cx="1539204" cy="288701"/>
            <a:chOff x="3802397" y="4659313"/>
            <a:chExt cx="1539204" cy="288701"/>
          </a:xfrm>
        </p:grpSpPr>
        <p:cxnSp>
          <p:nvCxnSpPr>
            <p:cNvPr id="6" name="Přímá spojnice 5">
              <a:extLst>
                <a:ext uri="{FF2B5EF4-FFF2-40B4-BE49-F238E27FC236}">
                  <a16:creationId xmlns:a16="http://schemas.microsoft.com/office/drawing/2014/main" id="{2BEB9B7A-2DF8-D91D-DD36-97B8EFBAAAD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211960" y="4659313"/>
              <a:ext cx="720080" cy="0"/>
            </a:xfrm>
            <a:prstGeom prst="line">
              <a:avLst/>
            </a:prstGeom>
            <a:ln>
              <a:solidFill>
                <a:srgbClr val="30787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TextovéPole 6">
              <a:extLst>
                <a:ext uri="{FF2B5EF4-FFF2-40B4-BE49-F238E27FC236}">
                  <a16:creationId xmlns:a16="http://schemas.microsoft.com/office/drawing/2014/main" id="{6C78F91D-AE27-2292-C859-4F5C01074C55}"/>
                </a:ext>
              </a:extLst>
            </p:cNvPr>
            <p:cNvSpPr txBox="1"/>
            <p:nvPr/>
          </p:nvSpPr>
          <p:spPr>
            <a:xfrm>
              <a:off x="3802397" y="4701793"/>
              <a:ext cx="1539204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cs-CZ" sz="1000" b="1" cap="all" spc="100" dirty="0">
                  <a:solidFill>
                    <a:schemeClr val="bg1">
                      <a:lumMod val="50000"/>
                    </a:schemeClr>
                  </a:solidFill>
                </a:rPr>
                <a:t>Slezská univerzita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551473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FF5D57-0575-9E10-CB65-C47D02DAC0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Obrázek 10">
            <a:extLst>
              <a:ext uri="{FF2B5EF4-FFF2-40B4-BE49-F238E27FC236}">
                <a16:creationId xmlns:a16="http://schemas.microsoft.com/office/drawing/2014/main" id="{2FC2E8B3-4C70-B28B-410E-D9E8E78FB75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14" name="Zástupný symbol pro obsah 2">
            <a:extLst>
              <a:ext uri="{FF2B5EF4-FFF2-40B4-BE49-F238E27FC236}">
                <a16:creationId xmlns:a16="http://schemas.microsoft.com/office/drawing/2014/main" id="{0FC28E81-21D8-73E6-C306-88035CA38356}"/>
              </a:ext>
            </a:extLst>
          </p:cNvPr>
          <p:cNvSpPr txBox="1">
            <a:spLocks/>
          </p:cNvSpPr>
          <p:nvPr/>
        </p:nvSpPr>
        <p:spPr>
          <a:xfrm>
            <a:off x="244078" y="1218727"/>
            <a:ext cx="8757047" cy="373037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pl-PL" sz="1600" b="1" dirty="0">
                <a:solidFill>
                  <a:srgbClr val="307871"/>
                </a:solidFill>
              </a:rPr>
              <a:t>Jak by se změnila interpretace výsledků, kdyby se do měření nezapočítával čas přenosu dat mezi CPU a GPU? </a:t>
            </a:r>
            <a:endParaRPr lang="cs-CZ" sz="1200" b="1" dirty="0">
              <a:solidFill>
                <a:srgbClr val="307871"/>
              </a:solidFill>
            </a:endParaRPr>
          </a:p>
          <a:p>
            <a:pPr marL="0" indent="0">
              <a:buNone/>
            </a:pPr>
            <a:r>
              <a:rPr lang="cs-CZ" sz="1400" b="1" dirty="0"/>
              <a:t>V mém kódu je měřena metoda `Run()` ta zahrnuje kompletní cyklus:</a:t>
            </a:r>
            <a:br>
              <a:rPr lang="cs-CZ" sz="1400" b="1" dirty="0"/>
            </a:br>
            <a:r>
              <a:rPr lang="cs-CZ" sz="1400" b="1" dirty="0"/>
              <a:t>	alokace GPU bufferů -&gt; přenos dat CPU-&gt;GPU -&gt; kernel -&gt; synchronizace -&gt; přenos GPU-&gt;CPU</a:t>
            </a:r>
            <a:r>
              <a:rPr lang="cs-CZ" sz="1200" b="1" dirty="0"/>
              <a:t>.</a:t>
            </a:r>
            <a:br>
              <a:rPr lang="cs-CZ" sz="1200" b="1" dirty="0"/>
            </a:br>
            <a:endParaRPr lang="cs-CZ" sz="1200" b="1" dirty="0"/>
          </a:p>
          <a:p>
            <a:pPr marL="0" indent="0">
              <a:buNone/>
            </a:pPr>
            <a:r>
              <a:rPr lang="cs-CZ" sz="1400" b="1" dirty="0"/>
              <a:t>Pokud bychom měřili jen kernel </a:t>
            </a:r>
            <a:r>
              <a:rPr lang="cs-CZ" sz="1400" b="1" dirty="0" err="1"/>
              <a:t>execution</a:t>
            </a:r>
            <a:r>
              <a:rPr lang="cs-CZ" sz="1400" b="1" dirty="0"/>
              <a:t>: </a:t>
            </a:r>
          </a:p>
          <a:p>
            <a:pPr>
              <a:buBlip>
                <a:blip r:embed="rId4"/>
              </a:buBlip>
            </a:pPr>
            <a:r>
              <a:rPr lang="cs-CZ" sz="1600" b="1" dirty="0"/>
              <a:t>Efekty:</a:t>
            </a:r>
          </a:p>
          <a:p>
            <a:pPr lvl="1">
              <a:buBlip>
                <a:blip r:embed="rId4"/>
              </a:buBlip>
            </a:pPr>
            <a:r>
              <a:rPr lang="cs-CZ" sz="1200" b="1" dirty="0"/>
              <a:t>Crossover klesne — GPU </a:t>
            </a:r>
            <a:r>
              <a:rPr lang="cs-CZ" sz="1200" b="1" dirty="0" err="1"/>
              <a:t>overhead</a:t>
            </a:r>
            <a:r>
              <a:rPr lang="cs-CZ" sz="1200" b="1" dirty="0"/>
              <a:t> se sníží z cca 3 </a:t>
            </a:r>
            <a:r>
              <a:rPr lang="cs-CZ" sz="1200" b="1" dirty="0" err="1"/>
              <a:t>ms</a:t>
            </a:r>
            <a:r>
              <a:rPr lang="cs-CZ" sz="1200" b="1" dirty="0"/>
              <a:t> na &lt;1 </a:t>
            </a:r>
            <a:r>
              <a:rPr lang="cs-CZ" sz="1200" b="1" dirty="0" err="1"/>
              <a:t>ms</a:t>
            </a:r>
            <a:r>
              <a:rPr lang="cs-CZ" sz="1200" b="1" dirty="0"/>
              <a:t> (jen kernel </a:t>
            </a:r>
            <a:r>
              <a:rPr lang="cs-CZ" sz="1200" b="1" dirty="0" err="1"/>
              <a:t>launch</a:t>
            </a:r>
            <a:r>
              <a:rPr lang="cs-CZ" sz="1200" b="1" dirty="0"/>
              <a:t> + </a:t>
            </a:r>
            <a:r>
              <a:rPr lang="cs-CZ" sz="1200" b="1" dirty="0" err="1"/>
              <a:t>sync</a:t>
            </a:r>
            <a:r>
              <a:rPr lang="cs-CZ" sz="1200" b="1" dirty="0"/>
              <a:t>)</a:t>
            </a:r>
          </a:p>
          <a:p>
            <a:pPr lvl="1">
              <a:buBlip>
                <a:blip r:embed="rId4"/>
              </a:buBlip>
            </a:pPr>
            <a:r>
              <a:rPr lang="cs-CZ" sz="1200" b="1" dirty="0"/>
              <a:t>Zrychlení mírně vzroste</a:t>
            </a:r>
          </a:p>
          <a:p>
            <a:pPr lvl="1">
              <a:buBlip>
                <a:blip r:embed="rId4"/>
              </a:buBlip>
            </a:pPr>
            <a:r>
              <a:rPr lang="cs-CZ" sz="1200" b="1" dirty="0"/>
              <a:t>GPU by bylo rychlejší téměř vždy — crossover se posune k velmi malým vstupům</a:t>
            </a:r>
            <a:endParaRPr lang="cs-CZ" sz="1600" b="1" dirty="0"/>
          </a:p>
          <a:p>
            <a:pPr>
              <a:buBlip>
                <a:blip r:embed="rId4"/>
              </a:buBlip>
            </a:pPr>
            <a:r>
              <a:rPr lang="cs-CZ" sz="1600" b="1" dirty="0"/>
              <a:t>Ale praktický význam klesá:</a:t>
            </a:r>
          </a:p>
          <a:p>
            <a:pPr lvl="1">
              <a:buBlip>
                <a:blip r:embed="rId4"/>
              </a:buBlip>
            </a:pPr>
            <a:r>
              <a:rPr lang="cs-CZ" sz="1200" b="1" dirty="0"/>
              <a:t>V reálné aplikaci se data musí přesunout na GPU a výsledky zpět (nelze eliminovat)</a:t>
            </a:r>
          </a:p>
          <a:p>
            <a:pPr lvl="1">
              <a:buBlip>
                <a:blip r:embed="rId4"/>
              </a:buBlip>
            </a:pPr>
            <a:r>
              <a:rPr lang="cs-CZ" sz="1200" b="1" dirty="0"/>
              <a:t>Výjimkou by byl GPU </a:t>
            </a:r>
            <a:r>
              <a:rPr lang="cs-CZ" sz="1200" b="1" dirty="0" err="1"/>
              <a:t>pipeline</a:t>
            </a:r>
            <a:r>
              <a:rPr lang="cs-CZ" sz="1200" b="1" dirty="0"/>
              <a:t> kde data zůstávají na GPU mezi operacemi</a:t>
            </a:r>
          </a:p>
          <a:p>
            <a:pPr lvl="1">
              <a:buBlip>
                <a:blip r:embed="rId4"/>
              </a:buBlip>
            </a:pPr>
            <a:r>
              <a:rPr lang="cs-CZ" sz="1200" b="1" dirty="0"/>
              <a:t>Mé měření s přenosem je konzervativní odhad a odpovídá na otázku "kdy se GPU vyplatí z pohledu celé aplikace"</a:t>
            </a:r>
            <a:endParaRPr lang="cs-CZ" sz="800" b="1" dirty="0"/>
          </a:p>
        </p:txBody>
      </p:sp>
      <p:sp>
        <p:nvSpPr>
          <p:cNvPr id="17" name="Nadpis 1">
            <a:extLst>
              <a:ext uri="{FF2B5EF4-FFF2-40B4-BE49-F238E27FC236}">
                <a16:creationId xmlns:a16="http://schemas.microsoft.com/office/drawing/2014/main" id="{4A3CF7AD-1834-B286-77C3-3ED41314E843}"/>
              </a:ext>
            </a:extLst>
          </p:cNvPr>
          <p:cNvSpPr txBox="1">
            <a:spLocks/>
          </p:cNvSpPr>
          <p:nvPr/>
        </p:nvSpPr>
        <p:spPr>
          <a:xfrm>
            <a:off x="596752" y="462980"/>
            <a:ext cx="6279504" cy="66861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cs-CZ" sz="3200" b="1" cap="all" dirty="0">
                <a:solidFill>
                  <a:srgbClr val="307871"/>
                </a:solidFill>
              </a:rPr>
              <a:t>Otázky oponenta práce</a:t>
            </a:r>
          </a:p>
        </p:txBody>
      </p:sp>
      <p:cxnSp>
        <p:nvCxnSpPr>
          <p:cNvPr id="16" name="Přímá spojnice 15">
            <a:extLst>
              <a:ext uri="{FF2B5EF4-FFF2-40B4-BE49-F238E27FC236}">
                <a16:creationId xmlns:a16="http://schemas.microsoft.com/office/drawing/2014/main" id="{BEBA9C8F-1F0B-4833-B356-71603680E463}"/>
              </a:ext>
            </a:extLst>
          </p:cNvPr>
          <p:cNvCxnSpPr>
            <a:cxnSpLocks/>
          </p:cNvCxnSpPr>
          <p:nvPr/>
        </p:nvCxnSpPr>
        <p:spPr>
          <a:xfrm flipH="1">
            <a:off x="709604" y="1175158"/>
            <a:ext cx="997276" cy="0"/>
          </a:xfrm>
          <a:prstGeom prst="line">
            <a:avLst/>
          </a:prstGeom>
          <a:ln w="19050">
            <a:solidFill>
              <a:srgbClr val="30787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" name="Skupina 4">
            <a:extLst>
              <a:ext uri="{FF2B5EF4-FFF2-40B4-BE49-F238E27FC236}">
                <a16:creationId xmlns:a16="http://schemas.microsoft.com/office/drawing/2014/main" id="{C5BD0971-443B-3265-38B0-B65969E33974}"/>
              </a:ext>
            </a:extLst>
          </p:cNvPr>
          <p:cNvGrpSpPr/>
          <p:nvPr/>
        </p:nvGrpSpPr>
        <p:grpSpPr>
          <a:xfrm>
            <a:off x="3802397" y="4659313"/>
            <a:ext cx="1539204" cy="288701"/>
            <a:chOff x="3802397" y="4659313"/>
            <a:chExt cx="1539204" cy="288701"/>
          </a:xfrm>
        </p:grpSpPr>
        <p:cxnSp>
          <p:nvCxnSpPr>
            <p:cNvPr id="6" name="Přímá spojnice 5">
              <a:extLst>
                <a:ext uri="{FF2B5EF4-FFF2-40B4-BE49-F238E27FC236}">
                  <a16:creationId xmlns:a16="http://schemas.microsoft.com/office/drawing/2014/main" id="{3078A9C9-E3CD-1D65-8159-B546FD55879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211960" y="4659313"/>
              <a:ext cx="720080" cy="0"/>
            </a:xfrm>
            <a:prstGeom prst="line">
              <a:avLst/>
            </a:prstGeom>
            <a:ln>
              <a:solidFill>
                <a:srgbClr val="30787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TextovéPole 6">
              <a:extLst>
                <a:ext uri="{FF2B5EF4-FFF2-40B4-BE49-F238E27FC236}">
                  <a16:creationId xmlns:a16="http://schemas.microsoft.com/office/drawing/2014/main" id="{6972CCA0-AB5F-74EA-2847-6589EEF65B42}"/>
                </a:ext>
              </a:extLst>
            </p:cNvPr>
            <p:cNvSpPr txBox="1"/>
            <p:nvPr/>
          </p:nvSpPr>
          <p:spPr>
            <a:xfrm>
              <a:off x="3802397" y="4701793"/>
              <a:ext cx="1539204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cs-CZ" sz="1000" b="1" cap="all" spc="100" dirty="0">
                  <a:solidFill>
                    <a:schemeClr val="bg1">
                      <a:lumMod val="50000"/>
                    </a:schemeClr>
                  </a:solidFill>
                </a:rPr>
                <a:t>Slezská univerzita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8657047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5C6291-752E-4EAC-406B-CEAC327D91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Obrázek 10">
            <a:extLst>
              <a:ext uri="{FF2B5EF4-FFF2-40B4-BE49-F238E27FC236}">
                <a16:creationId xmlns:a16="http://schemas.microsoft.com/office/drawing/2014/main" id="{16082AB9-CC13-263C-8AC1-4352FAD83B9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14" name="Zástupný symbol pro obsah 2">
            <a:extLst>
              <a:ext uri="{FF2B5EF4-FFF2-40B4-BE49-F238E27FC236}">
                <a16:creationId xmlns:a16="http://schemas.microsoft.com/office/drawing/2014/main" id="{696533F6-BE22-42AC-0300-40F570261E77}"/>
              </a:ext>
            </a:extLst>
          </p:cNvPr>
          <p:cNvSpPr txBox="1">
            <a:spLocks/>
          </p:cNvSpPr>
          <p:nvPr/>
        </p:nvSpPr>
        <p:spPr>
          <a:xfrm>
            <a:off x="311001" y="1217638"/>
            <a:ext cx="8366273" cy="339919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b="1" dirty="0" err="1">
                <a:solidFill>
                  <a:srgbClr val="307871"/>
                </a:solidFill>
              </a:rPr>
              <a:t>Proč</a:t>
            </a:r>
            <a:r>
              <a:rPr lang="en-US" sz="1600" b="1" dirty="0">
                <a:solidFill>
                  <a:srgbClr val="307871"/>
                </a:solidFill>
              </a:rPr>
              <a:t> </a:t>
            </a:r>
            <a:r>
              <a:rPr lang="en-US" sz="1600" b="1" dirty="0" err="1">
                <a:solidFill>
                  <a:srgbClr val="307871"/>
                </a:solidFill>
              </a:rPr>
              <a:t>byly</a:t>
            </a:r>
            <a:r>
              <a:rPr lang="en-US" sz="1600" b="1" dirty="0">
                <a:solidFill>
                  <a:srgbClr val="307871"/>
                </a:solidFill>
              </a:rPr>
              <a:t> pro experiment </a:t>
            </a:r>
            <a:r>
              <a:rPr lang="en-US" sz="1600" b="1" dirty="0" err="1">
                <a:solidFill>
                  <a:srgbClr val="307871"/>
                </a:solidFill>
              </a:rPr>
              <a:t>vybrány</a:t>
            </a:r>
            <a:r>
              <a:rPr lang="en-US" sz="1600" b="1" dirty="0">
                <a:solidFill>
                  <a:srgbClr val="307871"/>
                </a:solidFill>
              </a:rPr>
              <a:t> </a:t>
            </a:r>
            <a:r>
              <a:rPr lang="en-US" sz="1600" b="1" dirty="0" err="1">
                <a:solidFill>
                  <a:srgbClr val="307871"/>
                </a:solidFill>
              </a:rPr>
              <a:t>právě</a:t>
            </a:r>
            <a:r>
              <a:rPr lang="en-US" sz="1600" b="1" dirty="0">
                <a:solidFill>
                  <a:srgbClr val="307871"/>
                </a:solidFill>
              </a:rPr>
              <a:t> </a:t>
            </a:r>
            <a:r>
              <a:rPr lang="en-US" sz="1600" b="1" dirty="0" err="1">
                <a:solidFill>
                  <a:srgbClr val="307871"/>
                </a:solidFill>
              </a:rPr>
              <a:t>úlohy</a:t>
            </a:r>
            <a:r>
              <a:rPr lang="en-US" sz="1600" b="1" dirty="0">
                <a:solidFill>
                  <a:srgbClr val="307871"/>
                </a:solidFill>
              </a:rPr>
              <a:t> </a:t>
            </a:r>
            <a:r>
              <a:rPr lang="en-US" sz="1600" b="1" dirty="0" err="1">
                <a:solidFill>
                  <a:srgbClr val="307871"/>
                </a:solidFill>
              </a:rPr>
              <a:t>násobení</a:t>
            </a:r>
            <a:r>
              <a:rPr lang="en-US" sz="1600" b="1" dirty="0">
                <a:solidFill>
                  <a:srgbClr val="307871"/>
                </a:solidFill>
              </a:rPr>
              <a:t> </a:t>
            </a:r>
            <a:r>
              <a:rPr lang="en-US" sz="1600" b="1" dirty="0" err="1">
                <a:solidFill>
                  <a:srgbClr val="307871"/>
                </a:solidFill>
              </a:rPr>
              <a:t>matic</a:t>
            </a:r>
            <a:r>
              <a:rPr lang="en-US" sz="1600" b="1" dirty="0">
                <a:solidFill>
                  <a:srgbClr val="307871"/>
                </a:solidFill>
              </a:rPr>
              <a:t> a Game of Life?</a:t>
            </a:r>
            <a:endParaRPr lang="cs-CZ" sz="1600" b="1" dirty="0">
              <a:solidFill>
                <a:srgbClr val="307871"/>
              </a:solidFill>
            </a:endParaRPr>
          </a:p>
          <a:p>
            <a:pPr>
              <a:buBlip>
                <a:blip r:embed="rId4"/>
              </a:buBlip>
            </a:pPr>
            <a:endParaRPr lang="cs-CZ" sz="1600" b="1" dirty="0">
              <a:solidFill>
                <a:srgbClr val="307871"/>
              </a:solidFill>
            </a:endParaRPr>
          </a:p>
          <a:p>
            <a:pPr marL="0" indent="0">
              <a:buNone/>
            </a:pPr>
            <a:r>
              <a:rPr lang="cs-CZ" sz="1400" b="1" dirty="0"/>
              <a:t>Úlohy jsem zvolil záměrně, protože reprezentují dva odlišné typy GPU výpočtů.</a:t>
            </a:r>
          </a:p>
          <a:p>
            <a:pPr>
              <a:buBlip>
                <a:blip r:embed="rId4"/>
              </a:buBlip>
            </a:pPr>
            <a:r>
              <a:rPr lang="en-US" sz="1400" b="1" dirty="0" err="1"/>
              <a:t>Násobení</a:t>
            </a:r>
            <a:r>
              <a:rPr lang="en-US" sz="1400" b="1" dirty="0"/>
              <a:t> </a:t>
            </a:r>
            <a:r>
              <a:rPr lang="en-US" sz="1400" b="1" dirty="0" err="1"/>
              <a:t>matic</a:t>
            </a:r>
            <a:r>
              <a:rPr lang="cs-CZ" sz="1400" b="1" dirty="0"/>
              <a:t> reprezentuje výpočetně náročnou úlohu, kde s rostoucí velikostí vstupu výrazně roste množství výpočtů.</a:t>
            </a:r>
          </a:p>
          <a:p>
            <a:pPr>
              <a:buBlip>
                <a:blip r:embed="rId4"/>
              </a:buBlip>
            </a:pPr>
            <a:r>
              <a:rPr lang="en-US" sz="1400" b="1" dirty="0"/>
              <a:t>Game of Life</a:t>
            </a:r>
            <a:r>
              <a:rPr lang="cs-CZ" sz="1400" b="1" dirty="0"/>
              <a:t> reprezentuje úlohu, kde výkon více závisí na přístupu do paměti a opakovaném spouštění kernelu.</a:t>
            </a:r>
          </a:p>
          <a:p>
            <a:pPr>
              <a:buBlip>
                <a:blip r:embed="rId4"/>
              </a:buBlip>
            </a:pPr>
            <a:r>
              <a:rPr lang="en-US" sz="1400" b="1" dirty="0" err="1"/>
              <a:t>Každá</a:t>
            </a:r>
            <a:r>
              <a:rPr lang="en-US" sz="1400" b="1" dirty="0"/>
              <a:t> </a:t>
            </a:r>
            <a:r>
              <a:rPr lang="en-US" sz="1400" b="1" dirty="0" err="1"/>
              <a:t>úloha</a:t>
            </a:r>
            <a:r>
              <a:rPr lang="en-US" sz="1400" b="1" dirty="0"/>
              <a:t> </a:t>
            </a:r>
            <a:r>
              <a:rPr lang="en-US" sz="1400" b="1" dirty="0" err="1"/>
              <a:t>zatěžuje</a:t>
            </a:r>
            <a:r>
              <a:rPr lang="en-US" sz="1400" b="1" dirty="0"/>
              <a:t> GPU </a:t>
            </a:r>
            <a:r>
              <a:rPr lang="en-US" sz="1400" b="1" dirty="0" err="1"/>
              <a:t>jiným</a:t>
            </a:r>
            <a:r>
              <a:rPr lang="en-US" sz="1400" b="1" dirty="0"/>
              <a:t> </a:t>
            </a:r>
            <a:r>
              <a:rPr lang="en-US" sz="1400" b="1" dirty="0" err="1"/>
              <a:t>způsobem</a:t>
            </a:r>
            <a:r>
              <a:rPr lang="en-US" sz="1400" b="1" dirty="0"/>
              <a:t>. </a:t>
            </a:r>
            <a:endParaRPr lang="cs-CZ" sz="1400" b="1" dirty="0"/>
          </a:p>
          <a:p>
            <a:pPr>
              <a:buBlip>
                <a:blip r:embed="rId4"/>
              </a:buBlip>
            </a:pPr>
            <a:r>
              <a:rPr lang="en-US" sz="1400" b="1" dirty="0" err="1"/>
              <a:t>Rozdílné</a:t>
            </a:r>
            <a:r>
              <a:rPr lang="en-US" sz="1400" b="1" dirty="0"/>
              <a:t> </a:t>
            </a:r>
            <a:r>
              <a:rPr lang="en-US" sz="1400" b="1" dirty="0" err="1"/>
              <a:t>vlastnosti</a:t>
            </a:r>
            <a:r>
              <a:rPr lang="en-US" sz="1400" b="1" dirty="0"/>
              <a:t> </a:t>
            </a:r>
            <a:r>
              <a:rPr lang="en-US" sz="1400" b="1" dirty="0" err="1"/>
              <a:t>úloh</a:t>
            </a:r>
            <a:r>
              <a:rPr lang="en-US" sz="1400" b="1" dirty="0"/>
              <a:t> </a:t>
            </a:r>
            <a:r>
              <a:rPr lang="en-US" sz="1400" b="1" dirty="0" err="1"/>
              <a:t>vedou</a:t>
            </a:r>
            <a:r>
              <a:rPr lang="en-US" sz="1400" b="1" dirty="0"/>
              <a:t> </a:t>
            </a:r>
            <a:r>
              <a:rPr lang="cs-CZ" sz="1400" b="1" dirty="0"/>
              <a:t>jak </a:t>
            </a:r>
            <a:r>
              <a:rPr lang="en-US" sz="1400" b="1" dirty="0"/>
              <a:t>k </a:t>
            </a:r>
            <a:r>
              <a:rPr lang="en-US" sz="1400" b="1" dirty="0" err="1"/>
              <a:t>rozdílným</a:t>
            </a:r>
            <a:r>
              <a:rPr lang="en-US" sz="1400" b="1" dirty="0"/>
              <a:t> crossover </a:t>
            </a:r>
            <a:r>
              <a:rPr lang="en-US" sz="1400" b="1" dirty="0" err="1"/>
              <a:t>bodům</a:t>
            </a:r>
            <a:r>
              <a:rPr lang="en-US" sz="1400" b="1" dirty="0"/>
              <a:t> </a:t>
            </a:r>
            <a:r>
              <a:rPr lang="cs-CZ" sz="1400" b="1" dirty="0"/>
              <a:t>tak i k odhalení rozdílu mezi C# Knihovnami </a:t>
            </a:r>
            <a:r>
              <a:rPr lang="en-US" sz="1400" b="1" dirty="0"/>
              <a:t>a </a:t>
            </a:r>
            <a:r>
              <a:rPr lang="en-US" sz="1400" b="1" dirty="0" err="1"/>
              <a:t>tím</a:t>
            </a:r>
            <a:r>
              <a:rPr lang="en-US" sz="1400" b="1" dirty="0"/>
              <a:t> </a:t>
            </a:r>
            <a:r>
              <a:rPr lang="en-US" sz="1400" b="1" dirty="0" err="1"/>
              <a:t>i</a:t>
            </a:r>
            <a:r>
              <a:rPr lang="en-US" sz="1400" b="1" dirty="0"/>
              <a:t> k </a:t>
            </a:r>
            <a:r>
              <a:rPr lang="en-US" sz="1400" b="1" dirty="0" err="1"/>
              <a:t>bohatší</a:t>
            </a:r>
            <a:r>
              <a:rPr lang="en-US" sz="1400" b="1" dirty="0"/>
              <a:t> </a:t>
            </a:r>
            <a:r>
              <a:rPr lang="en-US" sz="1400" b="1" dirty="0" err="1"/>
              <a:t>interpretaci</a:t>
            </a:r>
            <a:r>
              <a:rPr lang="en-US" sz="1400" b="1" dirty="0"/>
              <a:t> </a:t>
            </a:r>
            <a:r>
              <a:rPr lang="en-US" sz="1400" b="1" dirty="0" err="1"/>
              <a:t>výsledků</a:t>
            </a:r>
            <a:r>
              <a:rPr lang="en-US" sz="1400" b="1" dirty="0"/>
              <a:t>.</a:t>
            </a:r>
          </a:p>
          <a:p>
            <a:pPr marL="0" indent="0">
              <a:buNone/>
            </a:pPr>
            <a:endParaRPr lang="cs-CZ" sz="1400" b="1" dirty="0"/>
          </a:p>
          <a:p>
            <a:pPr marL="0" indent="0">
              <a:buNone/>
            </a:pPr>
            <a:r>
              <a:rPr lang="cs-CZ" sz="1400" b="1" dirty="0"/>
              <a:t>Násobení matic ukazuje sílu GPU u výpočetně intenzivních úloh, zatímco Game </a:t>
            </a:r>
            <a:r>
              <a:rPr lang="cs-CZ" sz="1400" b="1" dirty="0" err="1"/>
              <a:t>of</a:t>
            </a:r>
            <a:r>
              <a:rPr lang="cs-CZ" sz="1400" b="1" dirty="0"/>
              <a:t> </a:t>
            </a:r>
            <a:r>
              <a:rPr lang="cs-CZ" sz="1400" b="1" dirty="0" err="1"/>
              <a:t>Life</a:t>
            </a:r>
            <a:r>
              <a:rPr lang="cs-CZ" sz="1400" b="1" dirty="0"/>
              <a:t> ukazuje chování GPU u paměťově orientovaných a iterativních úloh.</a:t>
            </a:r>
          </a:p>
        </p:txBody>
      </p:sp>
      <p:sp>
        <p:nvSpPr>
          <p:cNvPr id="17" name="Nadpis 1">
            <a:extLst>
              <a:ext uri="{FF2B5EF4-FFF2-40B4-BE49-F238E27FC236}">
                <a16:creationId xmlns:a16="http://schemas.microsoft.com/office/drawing/2014/main" id="{36D7E648-CC5E-195A-1646-7C63C8162AB5}"/>
              </a:ext>
            </a:extLst>
          </p:cNvPr>
          <p:cNvSpPr txBox="1">
            <a:spLocks/>
          </p:cNvSpPr>
          <p:nvPr/>
        </p:nvSpPr>
        <p:spPr>
          <a:xfrm>
            <a:off x="596752" y="462980"/>
            <a:ext cx="6279504" cy="66861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cs-CZ" sz="3200" b="1" cap="all" dirty="0">
                <a:solidFill>
                  <a:srgbClr val="307871"/>
                </a:solidFill>
              </a:rPr>
              <a:t>Otázky oponenta práce</a:t>
            </a:r>
          </a:p>
        </p:txBody>
      </p:sp>
      <p:cxnSp>
        <p:nvCxnSpPr>
          <p:cNvPr id="16" name="Přímá spojnice 15">
            <a:extLst>
              <a:ext uri="{FF2B5EF4-FFF2-40B4-BE49-F238E27FC236}">
                <a16:creationId xmlns:a16="http://schemas.microsoft.com/office/drawing/2014/main" id="{7D114BDC-4303-539B-CAA8-04D7E9BCC2CD}"/>
              </a:ext>
            </a:extLst>
          </p:cNvPr>
          <p:cNvCxnSpPr>
            <a:cxnSpLocks/>
          </p:cNvCxnSpPr>
          <p:nvPr/>
        </p:nvCxnSpPr>
        <p:spPr>
          <a:xfrm flipH="1">
            <a:off x="709604" y="1175158"/>
            <a:ext cx="997276" cy="0"/>
          </a:xfrm>
          <a:prstGeom prst="line">
            <a:avLst/>
          </a:prstGeom>
          <a:ln w="19050">
            <a:solidFill>
              <a:srgbClr val="30787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" name="Skupina 4">
            <a:extLst>
              <a:ext uri="{FF2B5EF4-FFF2-40B4-BE49-F238E27FC236}">
                <a16:creationId xmlns:a16="http://schemas.microsoft.com/office/drawing/2014/main" id="{0E14F769-8F33-89A0-4419-2650C48B2DA4}"/>
              </a:ext>
            </a:extLst>
          </p:cNvPr>
          <p:cNvGrpSpPr/>
          <p:nvPr/>
        </p:nvGrpSpPr>
        <p:grpSpPr>
          <a:xfrm>
            <a:off x="3802397" y="4659313"/>
            <a:ext cx="1539204" cy="288701"/>
            <a:chOff x="3802397" y="4659313"/>
            <a:chExt cx="1539204" cy="288701"/>
          </a:xfrm>
        </p:grpSpPr>
        <p:cxnSp>
          <p:nvCxnSpPr>
            <p:cNvPr id="6" name="Přímá spojnice 5">
              <a:extLst>
                <a:ext uri="{FF2B5EF4-FFF2-40B4-BE49-F238E27FC236}">
                  <a16:creationId xmlns:a16="http://schemas.microsoft.com/office/drawing/2014/main" id="{B405540C-C0E7-2E69-4895-40B2C06BA39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211960" y="4659313"/>
              <a:ext cx="720080" cy="0"/>
            </a:xfrm>
            <a:prstGeom prst="line">
              <a:avLst/>
            </a:prstGeom>
            <a:ln>
              <a:solidFill>
                <a:srgbClr val="30787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TextovéPole 6">
              <a:extLst>
                <a:ext uri="{FF2B5EF4-FFF2-40B4-BE49-F238E27FC236}">
                  <a16:creationId xmlns:a16="http://schemas.microsoft.com/office/drawing/2014/main" id="{CF8E7929-2DB3-FC7C-ABC8-7A2ACE66E163}"/>
                </a:ext>
              </a:extLst>
            </p:cNvPr>
            <p:cNvSpPr txBox="1"/>
            <p:nvPr/>
          </p:nvSpPr>
          <p:spPr>
            <a:xfrm>
              <a:off x="3802397" y="4701793"/>
              <a:ext cx="1539204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cs-CZ" sz="1000" b="1" cap="all" spc="100" dirty="0">
                  <a:solidFill>
                    <a:schemeClr val="bg1">
                      <a:lumMod val="50000"/>
                    </a:schemeClr>
                  </a:solidFill>
                </a:rPr>
                <a:t>Slezská univerzita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8744631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83620C-EE68-3E77-1EBE-A10CB20A78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Obrázek 10">
            <a:extLst>
              <a:ext uri="{FF2B5EF4-FFF2-40B4-BE49-F238E27FC236}">
                <a16:creationId xmlns:a16="http://schemas.microsoft.com/office/drawing/2014/main" id="{EE1B5604-9D88-3223-DFB7-BB8D9FFF71E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14" name="Zástupný symbol pro obsah 2">
            <a:extLst>
              <a:ext uri="{FF2B5EF4-FFF2-40B4-BE49-F238E27FC236}">
                <a16:creationId xmlns:a16="http://schemas.microsoft.com/office/drawing/2014/main" id="{987C137B-9CAC-1DDC-5A82-F8F018984B95}"/>
              </a:ext>
            </a:extLst>
          </p:cNvPr>
          <p:cNvSpPr txBox="1">
            <a:spLocks/>
          </p:cNvSpPr>
          <p:nvPr/>
        </p:nvSpPr>
        <p:spPr>
          <a:xfrm>
            <a:off x="244078" y="1218727"/>
            <a:ext cx="8757047" cy="373037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b="1" dirty="0">
                <a:solidFill>
                  <a:srgbClr val="307871"/>
                </a:solidFill>
              </a:rPr>
              <a:t>Do </a:t>
            </a:r>
            <a:r>
              <a:rPr lang="en-US" sz="1600" b="1" dirty="0" err="1">
                <a:solidFill>
                  <a:srgbClr val="307871"/>
                </a:solidFill>
              </a:rPr>
              <a:t>jaké</a:t>
            </a:r>
            <a:r>
              <a:rPr lang="en-US" sz="1600" b="1" dirty="0">
                <a:solidFill>
                  <a:srgbClr val="307871"/>
                </a:solidFill>
              </a:rPr>
              <a:t> </a:t>
            </a:r>
            <a:r>
              <a:rPr lang="en-US" sz="1600" b="1" dirty="0" err="1">
                <a:solidFill>
                  <a:srgbClr val="307871"/>
                </a:solidFill>
              </a:rPr>
              <a:t>míry</a:t>
            </a:r>
            <a:r>
              <a:rPr lang="en-US" sz="1600" b="1" dirty="0">
                <a:solidFill>
                  <a:srgbClr val="307871"/>
                </a:solidFill>
              </a:rPr>
              <a:t> </a:t>
            </a:r>
            <a:r>
              <a:rPr lang="en-US" sz="1600" b="1" dirty="0" err="1">
                <a:solidFill>
                  <a:srgbClr val="307871"/>
                </a:solidFill>
              </a:rPr>
              <a:t>lze</a:t>
            </a:r>
            <a:r>
              <a:rPr lang="en-US" sz="1600" b="1" dirty="0">
                <a:solidFill>
                  <a:srgbClr val="307871"/>
                </a:solidFill>
              </a:rPr>
              <a:t> </a:t>
            </a:r>
            <a:r>
              <a:rPr lang="en-US" sz="1600" b="1" dirty="0" err="1">
                <a:solidFill>
                  <a:srgbClr val="307871"/>
                </a:solidFill>
              </a:rPr>
              <a:t>výsledky</a:t>
            </a:r>
            <a:r>
              <a:rPr lang="en-US" sz="1600" b="1" dirty="0">
                <a:solidFill>
                  <a:srgbClr val="307871"/>
                </a:solidFill>
              </a:rPr>
              <a:t> </a:t>
            </a:r>
            <a:r>
              <a:rPr lang="en-US" sz="1600" b="1" dirty="0" err="1">
                <a:solidFill>
                  <a:srgbClr val="307871"/>
                </a:solidFill>
              </a:rPr>
              <a:t>práce</a:t>
            </a:r>
            <a:r>
              <a:rPr lang="en-US" sz="1600" b="1" dirty="0">
                <a:solidFill>
                  <a:srgbClr val="307871"/>
                </a:solidFill>
              </a:rPr>
              <a:t> </a:t>
            </a:r>
            <a:r>
              <a:rPr lang="en-US" sz="1600" b="1" dirty="0" err="1">
                <a:solidFill>
                  <a:srgbClr val="307871"/>
                </a:solidFill>
              </a:rPr>
              <a:t>zobecnit</a:t>
            </a:r>
            <a:r>
              <a:rPr lang="en-US" sz="1600" b="1" dirty="0">
                <a:solidFill>
                  <a:srgbClr val="307871"/>
                </a:solidFill>
              </a:rPr>
              <a:t> </a:t>
            </a:r>
            <a:r>
              <a:rPr lang="en-US" sz="1600" b="1" dirty="0" err="1">
                <a:solidFill>
                  <a:srgbClr val="307871"/>
                </a:solidFill>
              </a:rPr>
              <a:t>na</a:t>
            </a:r>
            <a:r>
              <a:rPr lang="en-US" sz="1600" b="1" dirty="0">
                <a:solidFill>
                  <a:srgbClr val="307871"/>
                </a:solidFill>
              </a:rPr>
              <a:t> </a:t>
            </a:r>
            <a:r>
              <a:rPr lang="en-US" sz="1600" b="1" dirty="0" err="1">
                <a:solidFill>
                  <a:srgbClr val="307871"/>
                </a:solidFill>
              </a:rPr>
              <a:t>jiné</a:t>
            </a:r>
            <a:r>
              <a:rPr lang="en-US" sz="1600" b="1" dirty="0">
                <a:solidFill>
                  <a:srgbClr val="307871"/>
                </a:solidFill>
              </a:rPr>
              <a:t> GPU </a:t>
            </a:r>
            <a:r>
              <a:rPr lang="en-US" sz="1600" b="1" dirty="0" err="1">
                <a:solidFill>
                  <a:srgbClr val="307871"/>
                </a:solidFill>
              </a:rPr>
              <a:t>architektury</a:t>
            </a:r>
            <a:r>
              <a:rPr lang="en-US" sz="1600" b="1" dirty="0">
                <a:solidFill>
                  <a:srgbClr val="307871"/>
                </a:solidFill>
              </a:rPr>
              <a:t>, </a:t>
            </a:r>
            <a:r>
              <a:rPr lang="en-US" sz="1600" b="1" dirty="0" err="1">
                <a:solidFill>
                  <a:srgbClr val="307871"/>
                </a:solidFill>
              </a:rPr>
              <a:t>například</a:t>
            </a:r>
            <a:r>
              <a:rPr lang="en-US" sz="1600" b="1" dirty="0">
                <a:solidFill>
                  <a:srgbClr val="307871"/>
                </a:solidFill>
              </a:rPr>
              <a:t> AMD?</a:t>
            </a:r>
            <a:endParaRPr lang="cs-CZ" sz="1600" b="1" dirty="0">
              <a:solidFill>
                <a:srgbClr val="307871"/>
              </a:solidFill>
            </a:endParaRPr>
          </a:p>
          <a:p>
            <a:pPr>
              <a:buBlip>
                <a:blip r:embed="rId4"/>
              </a:buBlip>
            </a:pPr>
            <a:r>
              <a:rPr lang="cs-CZ" sz="1600" b="1" dirty="0"/>
              <a:t>Zobecnitelné </a:t>
            </a:r>
            <a:r>
              <a:rPr lang="cs-CZ" sz="1600" dirty="0"/>
              <a:t>(kvalitativní závěry platí nezávisle na výrobci)</a:t>
            </a:r>
            <a:endParaRPr lang="cs-CZ" sz="1600" b="1" dirty="0"/>
          </a:p>
          <a:p>
            <a:pPr lvl="1">
              <a:buBlip>
                <a:blip r:embed="rId4"/>
              </a:buBlip>
            </a:pPr>
            <a:r>
              <a:rPr lang="cs-CZ" sz="1200" b="1" dirty="0"/>
              <a:t>Existence crossover pointu (GPU </a:t>
            </a:r>
            <a:r>
              <a:rPr lang="cs-CZ" sz="1200" b="1" dirty="0" err="1"/>
              <a:t>overhead</a:t>
            </a:r>
            <a:r>
              <a:rPr lang="cs-CZ" sz="1200" b="1" dirty="0"/>
              <a:t> je univerzální princip)</a:t>
            </a:r>
          </a:p>
          <a:p>
            <a:pPr lvl="1">
              <a:buBlip>
                <a:blip r:embed="rId4"/>
              </a:buBlip>
            </a:pPr>
            <a:r>
              <a:rPr lang="cs-CZ" sz="1200" b="1" dirty="0"/>
              <a:t>Vliv poměru výpočtu/přenosu na pozici crossover bodu</a:t>
            </a:r>
          </a:p>
          <a:p>
            <a:pPr lvl="1">
              <a:buBlip>
                <a:blip r:embed="rId4"/>
              </a:buBlip>
            </a:pPr>
            <a:r>
              <a:rPr lang="cs-CZ" sz="1200" b="1" dirty="0" err="1"/>
              <a:t>Škálovací</a:t>
            </a:r>
            <a:r>
              <a:rPr lang="cs-CZ" sz="1200" b="1" dirty="0"/>
              <a:t> zákony (</a:t>
            </a:r>
            <a:r>
              <a:rPr lang="cs-CZ" sz="1200" b="1" dirty="0" err="1"/>
              <a:t>Amdahl</a:t>
            </a:r>
            <a:r>
              <a:rPr lang="cs-CZ" sz="1200" b="1" dirty="0"/>
              <a:t>, </a:t>
            </a:r>
            <a:r>
              <a:rPr lang="cs-CZ" sz="1200" b="1" dirty="0" err="1"/>
              <a:t>Gustafson</a:t>
            </a:r>
            <a:r>
              <a:rPr lang="cs-CZ" sz="1200" b="1" dirty="0"/>
              <a:t>) — nezávisí na GPU architektuře</a:t>
            </a:r>
          </a:p>
          <a:p>
            <a:pPr>
              <a:buBlip>
                <a:blip r:embed="rId4"/>
              </a:buBlip>
            </a:pPr>
            <a:r>
              <a:rPr lang="cs-CZ" sz="1600" b="1" dirty="0"/>
              <a:t>Nezobecnitelné </a:t>
            </a:r>
            <a:r>
              <a:rPr lang="pt-BR" sz="1600" dirty="0"/>
              <a:t>(změní se s jiným HW)</a:t>
            </a:r>
            <a:endParaRPr lang="cs-CZ" sz="1600" dirty="0"/>
          </a:p>
          <a:p>
            <a:pPr lvl="1">
              <a:buBlip>
                <a:blip r:embed="rId4"/>
              </a:buBlip>
            </a:pPr>
            <a:r>
              <a:rPr lang="cs-CZ" sz="1200" b="1" dirty="0"/>
              <a:t>Absolutní hodnoty zrychlení (závisí na poměru výkonu konkrétního CPU/GPU)</a:t>
            </a:r>
          </a:p>
          <a:p>
            <a:pPr lvl="1">
              <a:buBlip>
                <a:blip r:embed="rId4"/>
              </a:buBlip>
            </a:pPr>
            <a:r>
              <a:rPr lang="cs-CZ" sz="1200" b="1" dirty="0"/>
              <a:t>Přesná pozice crossover bodů (jiný GPU/</a:t>
            </a:r>
            <a:r>
              <a:rPr lang="cs-CZ" sz="1200" b="1" dirty="0" err="1"/>
              <a:t>PCIe</a:t>
            </a:r>
            <a:r>
              <a:rPr lang="cs-CZ" sz="1200" b="1" dirty="0"/>
              <a:t> propustnost -&gt; jiný </a:t>
            </a:r>
            <a:r>
              <a:rPr lang="cs-CZ" sz="1200" b="1" dirty="0" err="1"/>
              <a:t>overhead</a:t>
            </a:r>
            <a:r>
              <a:rPr lang="cs-CZ" sz="1200" b="1" dirty="0"/>
              <a:t>)</a:t>
            </a:r>
          </a:p>
          <a:p>
            <a:pPr lvl="1">
              <a:buBlip>
                <a:blip r:embed="rId4"/>
              </a:buBlip>
            </a:pPr>
            <a:r>
              <a:rPr lang="cs-CZ" sz="1200" b="1" dirty="0"/>
              <a:t>Konkrétní poměr rychlosti ILGPU vs </a:t>
            </a:r>
            <a:r>
              <a:rPr lang="cs-CZ" sz="1200" b="1" dirty="0" err="1"/>
              <a:t>ComputeSharp</a:t>
            </a:r>
            <a:r>
              <a:rPr lang="cs-CZ" sz="1200" b="1" dirty="0"/>
              <a:t> (</a:t>
            </a:r>
            <a:r>
              <a:rPr lang="cs-CZ" sz="1200" b="1" dirty="0" err="1"/>
              <a:t>OpenCL</a:t>
            </a:r>
            <a:r>
              <a:rPr lang="cs-CZ" sz="1200" b="1" dirty="0"/>
              <a:t> </a:t>
            </a:r>
            <a:r>
              <a:rPr lang="cs-CZ" sz="1200" b="1" dirty="0" err="1"/>
              <a:t>backend</a:t>
            </a:r>
            <a:r>
              <a:rPr lang="cs-CZ" sz="1200" b="1" dirty="0"/>
              <a:t> může mít jiný profil)</a:t>
            </a:r>
            <a:endParaRPr lang="cs-CZ" sz="1600" b="1" dirty="0"/>
          </a:p>
          <a:p>
            <a:pPr>
              <a:buBlip>
                <a:blip r:embed="rId4"/>
              </a:buBlip>
            </a:pPr>
            <a:r>
              <a:rPr lang="cs-CZ" sz="1600" b="1" dirty="0"/>
              <a:t>Přenositelnost kódu </a:t>
            </a:r>
            <a:r>
              <a:rPr lang="pt-BR" sz="1600" dirty="0"/>
              <a:t>(bez úprav)</a:t>
            </a:r>
            <a:endParaRPr lang="cs-CZ" sz="1600" dirty="0"/>
          </a:p>
          <a:p>
            <a:pPr lvl="1">
              <a:buBlip>
                <a:blip r:embed="rId4"/>
              </a:buBlip>
            </a:pPr>
            <a:r>
              <a:rPr lang="cs-CZ" sz="1200" b="1" dirty="0"/>
              <a:t>ILGPU: CUDA + </a:t>
            </a:r>
            <a:r>
              <a:rPr lang="cs-CZ" sz="1200" b="1" dirty="0" err="1"/>
              <a:t>OpenCL</a:t>
            </a:r>
            <a:r>
              <a:rPr lang="cs-CZ" sz="1200" b="1" dirty="0"/>
              <a:t> </a:t>
            </a:r>
            <a:r>
              <a:rPr lang="cs-CZ" sz="1200" b="1" dirty="0" err="1"/>
              <a:t>backend</a:t>
            </a:r>
            <a:r>
              <a:rPr lang="cs-CZ" sz="1200" b="1" dirty="0"/>
              <a:t> -&gt; stejný C# kód na AMD/Intel beze změn</a:t>
            </a:r>
          </a:p>
          <a:p>
            <a:pPr lvl="1">
              <a:buBlip>
                <a:blip r:embed="rId4"/>
              </a:buBlip>
            </a:pPr>
            <a:r>
              <a:rPr lang="cs-CZ" sz="1200" b="1" dirty="0" err="1"/>
              <a:t>ComputeSharp</a:t>
            </a:r>
            <a:r>
              <a:rPr lang="cs-CZ" sz="1200" b="1" dirty="0"/>
              <a:t>: DX12 -&gt; jakýkoliv GPU s DirectX 12 (NVIDIA, AMD, Intel), OS musí být Windows</a:t>
            </a:r>
          </a:p>
          <a:p>
            <a:pPr lvl="1">
              <a:buBlip>
                <a:blip r:embed="rId4"/>
              </a:buBlip>
            </a:pPr>
            <a:r>
              <a:rPr lang="cs-CZ" sz="1200" b="1" dirty="0"/>
              <a:t>Test na AMD je možný jako budoucí práce, kód je připraven</a:t>
            </a:r>
            <a:endParaRPr lang="cs-CZ" sz="800" b="1" dirty="0"/>
          </a:p>
        </p:txBody>
      </p:sp>
      <p:sp>
        <p:nvSpPr>
          <p:cNvPr id="17" name="Nadpis 1">
            <a:extLst>
              <a:ext uri="{FF2B5EF4-FFF2-40B4-BE49-F238E27FC236}">
                <a16:creationId xmlns:a16="http://schemas.microsoft.com/office/drawing/2014/main" id="{A807AD8A-E0A8-B174-5AE6-F81CBFBE4F05}"/>
              </a:ext>
            </a:extLst>
          </p:cNvPr>
          <p:cNvSpPr txBox="1">
            <a:spLocks/>
          </p:cNvSpPr>
          <p:nvPr/>
        </p:nvSpPr>
        <p:spPr>
          <a:xfrm>
            <a:off x="596752" y="462980"/>
            <a:ext cx="6279504" cy="66861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cs-CZ" sz="3200" b="1" cap="all" dirty="0">
                <a:solidFill>
                  <a:srgbClr val="307871"/>
                </a:solidFill>
              </a:rPr>
              <a:t>Otázky oponenta práce</a:t>
            </a:r>
          </a:p>
        </p:txBody>
      </p:sp>
      <p:cxnSp>
        <p:nvCxnSpPr>
          <p:cNvPr id="16" name="Přímá spojnice 15">
            <a:extLst>
              <a:ext uri="{FF2B5EF4-FFF2-40B4-BE49-F238E27FC236}">
                <a16:creationId xmlns:a16="http://schemas.microsoft.com/office/drawing/2014/main" id="{042DE2AA-5134-C2D8-A76B-EA1A2ED52D19}"/>
              </a:ext>
            </a:extLst>
          </p:cNvPr>
          <p:cNvCxnSpPr>
            <a:cxnSpLocks/>
          </p:cNvCxnSpPr>
          <p:nvPr/>
        </p:nvCxnSpPr>
        <p:spPr>
          <a:xfrm flipH="1">
            <a:off x="709604" y="1175158"/>
            <a:ext cx="997276" cy="0"/>
          </a:xfrm>
          <a:prstGeom prst="line">
            <a:avLst/>
          </a:prstGeom>
          <a:ln w="19050">
            <a:solidFill>
              <a:srgbClr val="30787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" name="Skupina 4">
            <a:extLst>
              <a:ext uri="{FF2B5EF4-FFF2-40B4-BE49-F238E27FC236}">
                <a16:creationId xmlns:a16="http://schemas.microsoft.com/office/drawing/2014/main" id="{7F7D0698-FD92-56FA-DB17-FDAA66B5FF51}"/>
              </a:ext>
            </a:extLst>
          </p:cNvPr>
          <p:cNvGrpSpPr/>
          <p:nvPr/>
        </p:nvGrpSpPr>
        <p:grpSpPr>
          <a:xfrm>
            <a:off x="3802397" y="4659313"/>
            <a:ext cx="1539204" cy="288701"/>
            <a:chOff x="3802397" y="4659313"/>
            <a:chExt cx="1539204" cy="288701"/>
          </a:xfrm>
        </p:grpSpPr>
        <p:cxnSp>
          <p:nvCxnSpPr>
            <p:cNvPr id="6" name="Přímá spojnice 5">
              <a:extLst>
                <a:ext uri="{FF2B5EF4-FFF2-40B4-BE49-F238E27FC236}">
                  <a16:creationId xmlns:a16="http://schemas.microsoft.com/office/drawing/2014/main" id="{B5D3DF7D-451E-2456-A48C-3253748A73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211960" y="4659313"/>
              <a:ext cx="720080" cy="0"/>
            </a:xfrm>
            <a:prstGeom prst="line">
              <a:avLst/>
            </a:prstGeom>
            <a:ln>
              <a:solidFill>
                <a:srgbClr val="30787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TextovéPole 6">
              <a:extLst>
                <a:ext uri="{FF2B5EF4-FFF2-40B4-BE49-F238E27FC236}">
                  <a16:creationId xmlns:a16="http://schemas.microsoft.com/office/drawing/2014/main" id="{933637BD-CFEB-DD63-1478-460A82F44251}"/>
                </a:ext>
              </a:extLst>
            </p:cNvPr>
            <p:cNvSpPr txBox="1"/>
            <p:nvPr/>
          </p:nvSpPr>
          <p:spPr>
            <a:xfrm>
              <a:off x="3802397" y="4701793"/>
              <a:ext cx="1539204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cs-CZ" sz="1000" b="1" cap="all" spc="100" dirty="0">
                  <a:solidFill>
                    <a:schemeClr val="bg1">
                      <a:lumMod val="50000"/>
                    </a:schemeClr>
                  </a:solidFill>
                </a:rPr>
                <a:t>Slezská univerzita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87268206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678601-401E-50BC-67F4-80E209AADC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Skupina 3">
            <a:extLst>
              <a:ext uri="{FF2B5EF4-FFF2-40B4-BE49-F238E27FC236}">
                <a16:creationId xmlns:a16="http://schemas.microsoft.com/office/drawing/2014/main" id="{7037C119-0A11-F6C4-875C-417525D78523}"/>
              </a:ext>
            </a:extLst>
          </p:cNvPr>
          <p:cNvGrpSpPr/>
          <p:nvPr/>
        </p:nvGrpSpPr>
        <p:grpSpPr>
          <a:xfrm>
            <a:off x="-396552" y="-20538"/>
            <a:ext cx="9540552" cy="5143500"/>
            <a:chOff x="-396552" y="0"/>
            <a:chExt cx="9540552" cy="5143500"/>
          </a:xfrm>
        </p:grpSpPr>
        <p:pic>
          <p:nvPicPr>
            <p:cNvPr id="3" name="Obrázek 2">
              <a:extLst>
                <a:ext uri="{FF2B5EF4-FFF2-40B4-BE49-F238E27FC236}">
                  <a16:creationId xmlns:a16="http://schemas.microsoft.com/office/drawing/2014/main" id="{B4C044ED-A349-96C2-C714-5DDB1EBE3D1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0" y="0"/>
              <a:ext cx="9144000" cy="5143500"/>
            </a:xfrm>
            <a:prstGeom prst="rect">
              <a:avLst/>
            </a:prstGeom>
          </p:spPr>
        </p:pic>
        <p:sp>
          <p:nvSpPr>
            <p:cNvPr id="13" name="Obdélník: se zakulacenými rohy 12">
              <a:extLst>
                <a:ext uri="{FF2B5EF4-FFF2-40B4-BE49-F238E27FC236}">
                  <a16:creationId xmlns:a16="http://schemas.microsoft.com/office/drawing/2014/main" id="{B29613F0-1EF4-A53B-3CB3-5E30CA0E3CB7}"/>
                </a:ext>
              </a:extLst>
            </p:cNvPr>
            <p:cNvSpPr/>
            <p:nvPr/>
          </p:nvSpPr>
          <p:spPr>
            <a:xfrm>
              <a:off x="-396552" y="4515966"/>
              <a:ext cx="2749938" cy="288032"/>
            </a:xfrm>
            <a:prstGeom prst="roundRect">
              <a:avLst>
                <a:gd name="adj" fmla="val 50000"/>
              </a:avLst>
            </a:prstGeom>
            <a:solidFill>
              <a:srgbClr val="30787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 dirty="0"/>
            </a:p>
          </p:txBody>
        </p:sp>
        <p:sp>
          <p:nvSpPr>
            <p:cNvPr id="14" name="TextovéPole 13">
              <a:extLst>
                <a:ext uri="{FF2B5EF4-FFF2-40B4-BE49-F238E27FC236}">
                  <a16:creationId xmlns:a16="http://schemas.microsoft.com/office/drawing/2014/main" id="{94F508BC-876A-2304-72CA-A0262DEEF8C2}"/>
                </a:ext>
              </a:extLst>
            </p:cNvPr>
            <p:cNvSpPr txBox="1"/>
            <p:nvPr/>
          </p:nvSpPr>
          <p:spPr>
            <a:xfrm>
              <a:off x="611559" y="4496221"/>
              <a:ext cx="168169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cs-CZ" sz="1400" b="1" dirty="0">
                  <a:solidFill>
                    <a:schemeClr val="bg1"/>
                  </a:solidFill>
                </a:rPr>
                <a:t>www.slu.cz/opf/cz</a:t>
              </a:r>
            </a:p>
          </p:txBody>
        </p:sp>
        <p:pic>
          <p:nvPicPr>
            <p:cNvPr id="16" name="Obrázek 15">
              <a:extLst>
                <a:ext uri="{FF2B5EF4-FFF2-40B4-BE49-F238E27FC236}">
                  <a16:creationId xmlns:a16="http://schemas.microsoft.com/office/drawing/2014/main" id="{E4E1165C-7A24-B2A6-9C8D-5B5788D1A12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399702" y="325900"/>
              <a:ext cx="1953684" cy="956834"/>
            </a:xfrm>
            <a:prstGeom prst="rect">
              <a:avLst/>
            </a:prstGeom>
          </p:spPr>
        </p:pic>
      </p:grpSp>
      <p:sp>
        <p:nvSpPr>
          <p:cNvPr id="9" name="Nadpis 1">
            <a:extLst>
              <a:ext uri="{FF2B5EF4-FFF2-40B4-BE49-F238E27FC236}">
                <a16:creationId xmlns:a16="http://schemas.microsoft.com/office/drawing/2014/main" id="{CA7D2283-FD9E-A99A-2557-3654D93C7582}"/>
              </a:ext>
            </a:extLst>
          </p:cNvPr>
          <p:cNvSpPr txBox="1">
            <a:spLocks/>
          </p:cNvSpPr>
          <p:nvPr/>
        </p:nvSpPr>
        <p:spPr>
          <a:xfrm>
            <a:off x="6012160" y="4083918"/>
            <a:ext cx="2538172" cy="864096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85000"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cs-CZ" sz="3200" b="1" cap="all" dirty="0">
                <a:solidFill>
                  <a:srgbClr val="307871"/>
                </a:solidFill>
              </a:rPr>
              <a:t>Děkuji</a:t>
            </a:r>
            <a:br>
              <a:rPr lang="cs-CZ" sz="3200" b="1" cap="all" dirty="0">
                <a:solidFill>
                  <a:srgbClr val="307871"/>
                </a:solidFill>
              </a:rPr>
            </a:br>
            <a:r>
              <a:rPr lang="cs-CZ" sz="3200" b="1" cap="all" dirty="0">
                <a:solidFill>
                  <a:srgbClr val="307871"/>
                </a:solidFill>
              </a:rPr>
              <a:t>za pozornost</a:t>
            </a:r>
          </a:p>
        </p:txBody>
      </p:sp>
    </p:spTree>
    <p:extLst>
      <p:ext uri="{BB962C8B-B14F-4D97-AF65-F5344CB8AC3E}">
        <p14:creationId xmlns:p14="http://schemas.microsoft.com/office/powerpoint/2010/main" val="364062353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ástupný symbol pro obsah 2">
            <a:extLst>
              <a:ext uri="{FF2B5EF4-FFF2-40B4-BE49-F238E27FC236}">
                <a16:creationId xmlns:a16="http://schemas.microsoft.com/office/drawing/2014/main" id="{A687CD72-FB8D-44E7-AA63-20A5C27BD945}"/>
              </a:ext>
            </a:extLst>
          </p:cNvPr>
          <p:cNvSpPr txBox="1">
            <a:spLocks/>
          </p:cNvSpPr>
          <p:nvPr/>
        </p:nvSpPr>
        <p:spPr>
          <a:xfrm>
            <a:off x="6876256" y="4309713"/>
            <a:ext cx="2088232" cy="56629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cs-CZ" altLang="cs-CZ" sz="1000" dirty="0">
                <a:cs typeface="Times New Roman" panose="02020603050405020304" pitchFamily="18" charset="0"/>
              </a:rPr>
              <a:t>Prostor pro doplňující informace, </a:t>
            </a:r>
            <a:br>
              <a:rPr lang="cs-CZ" altLang="cs-CZ" sz="1000" dirty="0">
                <a:cs typeface="Times New Roman" panose="02020603050405020304" pitchFamily="18" charset="0"/>
              </a:rPr>
            </a:br>
            <a:r>
              <a:rPr lang="cs-CZ" altLang="cs-CZ" sz="1000" dirty="0">
                <a:cs typeface="Times New Roman" panose="02020603050405020304" pitchFamily="18" charset="0"/>
              </a:rPr>
              <a:t>poznámky</a:t>
            </a:r>
          </a:p>
          <a:p>
            <a:pPr marL="0" indent="0">
              <a:buNone/>
            </a:pPr>
            <a:endParaRPr lang="cs-CZ" sz="1000" dirty="0"/>
          </a:p>
        </p:txBody>
      </p:sp>
      <p:pic>
        <p:nvPicPr>
          <p:cNvPr id="4" name="Obrázek 3">
            <a:extLst>
              <a:ext uri="{FF2B5EF4-FFF2-40B4-BE49-F238E27FC236}">
                <a16:creationId xmlns:a16="http://schemas.microsoft.com/office/drawing/2014/main" id="{B63935A2-03EC-42E3-BA56-ECAC3F7CBAEE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062" b="24401"/>
          <a:stretch/>
        </p:blipFill>
        <p:spPr>
          <a:xfrm>
            <a:off x="0" y="0"/>
            <a:ext cx="9144000" cy="4299939"/>
          </a:xfrm>
          <a:prstGeom prst="rect">
            <a:avLst/>
          </a:prstGeom>
        </p:spPr>
      </p:pic>
      <p:grpSp>
        <p:nvGrpSpPr>
          <p:cNvPr id="2" name="Skupina 1">
            <a:extLst>
              <a:ext uri="{FF2B5EF4-FFF2-40B4-BE49-F238E27FC236}">
                <a16:creationId xmlns:a16="http://schemas.microsoft.com/office/drawing/2014/main" id="{2102F8D5-272B-5459-9FB4-C506F71D5A4D}"/>
              </a:ext>
            </a:extLst>
          </p:cNvPr>
          <p:cNvGrpSpPr/>
          <p:nvPr/>
        </p:nvGrpSpPr>
        <p:grpSpPr>
          <a:xfrm>
            <a:off x="3802397" y="4659313"/>
            <a:ext cx="1539204" cy="288701"/>
            <a:chOff x="3802397" y="4659313"/>
            <a:chExt cx="1539204" cy="288701"/>
          </a:xfrm>
        </p:grpSpPr>
        <p:cxnSp>
          <p:nvCxnSpPr>
            <p:cNvPr id="7" name="Přímá spojnice 6">
              <a:extLst>
                <a:ext uri="{FF2B5EF4-FFF2-40B4-BE49-F238E27FC236}">
                  <a16:creationId xmlns:a16="http://schemas.microsoft.com/office/drawing/2014/main" id="{AEA4728C-5345-DA01-EF9A-69A8309B7EC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211960" y="4659313"/>
              <a:ext cx="720080" cy="0"/>
            </a:xfrm>
            <a:prstGeom prst="line">
              <a:avLst/>
            </a:prstGeom>
            <a:ln>
              <a:solidFill>
                <a:srgbClr val="30787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TextovéPole 8">
              <a:extLst>
                <a:ext uri="{FF2B5EF4-FFF2-40B4-BE49-F238E27FC236}">
                  <a16:creationId xmlns:a16="http://schemas.microsoft.com/office/drawing/2014/main" id="{D6A79C96-E9EC-180B-0832-8CE9A52D491A}"/>
                </a:ext>
              </a:extLst>
            </p:cNvPr>
            <p:cNvSpPr txBox="1"/>
            <p:nvPr/>
          </p:nvSpPr>
          <p:spPr>
            <a:xfrm>
              <a:off x="3802397" y="4701793"/>
              <a:ext cx="1539204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cs-CZ" sz="1000" b="1" cap="all" spc="100" dirty="0">
                  <a:solidFill>
                    <a:schemeClr val="bg1">
                      <a:lumMod val="50000"/>
                    </a:schemeClr>
                  </a:solidFill>
                </a:rPr>
                <a:t>Slezská univerzita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64712151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68C8D0-A18C-EB89-50D1-9A9CECFDE6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Obrázek 13">
            <a:extLst>
              <a:ext uri="{FF2B5EF4-FFF2-40B4-BE49-F238E27FC236}">
                <a16:creationId xmlns:a16="http://schemas.microsoft.com/office/drawing/2014/main" id="{9E2994AB-0BC0-2866-B93C-CC95D600DC1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9" name="Nadpis 1">
            <a:extLst>
              <a:ext uri="{FF2B5EF4-FFF2-40B4-BE49-F238E27FC236}">
                <a16:creationId xmlns:a16="http://schemas.microsoft.com/office/drawing/2014/main" id="{B0DFDF80-77E8-C377-E118-C463E20C431C}"/>
              </a:ext>
            </a:extLst>
          </p:cNvPr>
          <p:cNvSpPr txBox="1">
            <a:spLocks/>
          </p:cNvSpPr>
          <p:nvPr/>
        </p:nvSpPr>
        <p:spPr>
          <a:xfrm>
            <a:off x="596752" y="462980"/>
            <a:ext cx="6279504" cy="66861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cs-CZ" sz="3200" b="1" cap="all" dirty="0">
                <a:solidFill>
                  <a:srgbClr val="307871"/>
                </a:solidFill>
              </a:rPr>
              <a:t>Metodika a testovací prostředí</a:t>
            </a:r>
          </a:p>
        </p:txBody>
      </p:sp>
      <p:sp>
        <p:nvSpPr>
          <p:cNvPr id="11" name="Zástupný symbol pro obsah 2">
            <a:extLst>
              <a:ext uri="{FF2B5EF4-FFF2-40B4-BE49-F238E27FC236}">
                <a16:creationId xmlns:a16="http://schemas.microsoft.com/office/drawing/2014/main" id="{E70A2444-682A-4678-5240-A9647F4364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1560" y="2931790"/>
            <a:ext cx="8280920" cy="1440160"/>
          </a:xfrm>
        </p:spPr>
        <p:txBody>
          <a:bodyPr>
            <a:noAutofit/>
          </a:bodyPr>
          <a:lstStyle/>
          <a:p>
            <a:pPr>
              <a:buBlip>
                <a:blip r:embed="rId4"/>
              </a:buBlip>
            </a:pPr>
            <a:r>
              <a:rPr lang="cs-CZ" sz="1400" b="1" dirty="0">
                <a:latin typeface="+mj-lt"/>
              </a:rPr>
              <a:t>Varianty implementace:</a:t>
            </a:r>
            <a:br>
              <a:rPr lang="cs-CZ" sz="1400" b="1" dirty="0">
                <a:latin typeface="+mj-lt"/>
              </a:rPr>
            </a:br>
            <a:r>
              <a:rPr lang="cs-CZ" sz="1400" b="1" dirty="0">
                <a:latin typeface="+mj-lt"/>
              </a:rPr>
              <a:t>Sekvenční CPU | Paralelní CPU (1-12 vláken) | GPU ILGPU (CUDA) | GPU </a:t>
            </a:r>
            <a:r>
              <a:rPr lang="cs-CZ" sz="1400" b="1" dirty="0" err="1">
                <a:latin typeface="+mj-lt"/>
              </a:rPr>
              <a:t>ComputeSharp</a:t>
            </a:r>
            <a:r>
              <a:rPr lang="cs-CZ" sz="1400" b="1" dirty="0">
                <a:latin typeface="+mj-lt"/>
              </a:rPr>
              <a:t> (DirectX 12)</a:t>
            </a:r>
          </a:p>
          <a:p>
            <a:pPr>
              <a:buBlip>
                <a:blip r:embed="rId4"/>
              </a:buBlip>
            </a:pPr>
            <a:r>
              <a:rPr lang="cs-CZ" sz="1400" b="1" dirty="0">
                <a:latin typeface="+mj-lt"/>
              </a:rPr>
              <a:t>Testovací prostředí:</a:t>
            </a:r>
            <a:br>
              <a:rPr lang="cs-CZ" sz="1400" b="1" dirty="0">
                <a:latin typeface="+mj-lt"/>
              </a:rPr>
            </a:br>
            <a:r>
              <a:rPr lang="cs-CZ" sz="1400" b="1" dirty="0">
                <a:latin typeface="+mj-lt"/>
              </a:rPr>
              <a:t>CPU: AMD </a:t>
            </a:r>
            <a:r>
              <a:rPr lang="cs-CZ" sz="1400" b="1" dirty="0" err="1">
                <a:latin typeface="+mj-lt"/>
              </a:rPr>
              <a:t>Ryzen</a:t>
            </a:r>
            <a:r>
              <a:rPr lang="cs-CZ" sz="1400" b="1" dirty="0">
                <a:latin typeface="+mj-lt"/>
              </a:rPr>
              <a:t> 5 3600 (6 jader / 12 vláken) | GPU: NVIDIA RTX 3070 (5888 CUDA jader)</a:t>
            </a:r>
          </a:p>
          <a:p>
            <a:pPr>
              <a:buBlip>
                <a:blip r:embed="rId4"/>
              </a:buBlip>
            </a:pPr>
            <a:r>
              <a:rPr lang="cs-CZ" sz="1400" b="1" dirty="0">
                <a:latin typeface="+mj-lt"/>
              </a:rPr>
              <a:t>Měřicí protokol:</a:t>
            </a:r>
            <a:br>
              <a:rPr lang="cs-CZ" sz="1400" b="1" dirty="0">
                <a:latin typeface="+mj-lt"/>
              </a:rPr>
            </a:br>
            <a:r>
              <a:rPr lang="cs-CZ" sz="1400" b="1" dirty="0">
                <a:latin typeface="+mj-lt"/>
              </a:rPr>
              <a:t> 3× </a:t>
            </a:r>
            <a:r>
              <a:rPr lang="cs-CZ" sz="1400" b="1" dirty="0" err="1">
                <a:latin typeface="+mj-lt"/>
              </a:rPr>
              <a:t>warmup</a:t>
            </a:r>
            <a:r>
              <a:rPr lang="cs-CZ" sz="1400" b="1" dirty="0">
                <a:latin typeface="+mj-lt"/>
              </a:rPr>
              <a:t> → sondovací běh → 3-10 měřených běhů</a:t>
            </a:r>
            <a:endParaRPr lang="cs-CZ" altLang="cs-CZ" sz="1400" b="1" dirty="0">
              <a:solidFill>
                <a:srgbClr val="307871"/>
              </a:solidFill>
              <a:latin typeface="+mj-lt"/>
              <a:cs typeface="Times New Roman" panose="02020603050405020304" pitchFamily="18" charset="0"/>
            </a:endParaRPr>
          </a:p>
        </p:txBody>
      </p:sp>
      <p:cxnSp>
        <p:nvCxnSpPr>
          <p:cNvPr id="12" name="Přímá spojnice 11">
            <a:extLst>
              <a:ext uri="{FF2B5EF4-FFF2-40B4-BE49-F238E27FC236}">
                <a16:creationId xmlns:a16="http://schemas.microsoft.com/office/drawing/2014/main" id="{CD53DF87-D99E-E226-3283-880E7AFC5E0C}"/>
              </a:ext>
            </a:extLst>
          </p:cNvPr>
          <p:cNvCxnSpPr>
            <a:cxnSpLocks/>
          </p:cNvCxnSpPr>
          <p:nvPr/>
        </p:nvCxnSpPr>
        <p:spPr>
          <a:xfrm flipH="1">
            <a:off x="709604" y="1175158"/>
            <a:ext cx="997276" cy="0"/>
          </a:xfrm>
          <a:prstGeom prst="line">
            <a:avLst/>
          </a:prstGeom>
          <a:ln w="19050">
            <a:solidFill>
              <a:srgbClr val="30787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" name="Skupina 4">
            <a:extLst>
              <a:ext uri="{FF2B5EF4-FFF2-40B4-BE49-F238E27FC236}">
                <a16:creationId xmlns:a16="http://schemas.microsoft.com/office/drawing/2014/main" id="{5C2EC2CA-1A4D-2DFB-6C99-695FEB55F00D}"/>
              </a:ext>
            </a:extLst>
          </p:cNvPr>
          <p:cNvGrpSpPr/>
          <p:nvPr/>
        </p:nvGrpSpPr>
        <p:grpSpPr>
          <a:xfrm>
            <a:off x="3802397" y="4659313"/>
            <a:ext cx="1539204" cy="288701"/>
            <a:chOff x="3802397" y="4659313"/>
            <a:chExt cx="1539204" cy="288701"/>
          </a:xfrm>
        </p:grpSpPr>
        <p:cxnSp>
          <p:nvCxnSpPr>
            <p:cNvPr id="6" name="Přímá spojnice 5">
              <a:extLst>
                <a:ext uri="{FF2B5EF4-FFF2-40B4-BE49-F238E27FC236}">
                  <a16:creationId xmlns:a16="http://schemas.microsoft.com/office/drawing/2014/main" id="{944CF5DC-E4AA-2FF3-5661-1523277CC03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211960" y="4659313"/>
              <a:ext cx="720080" cy="0"/>
            </a:xfrm>
            <a:prstGeom prst="line">
              <a:avLst/>
            </a:prstGeom>
            <a:ln>
              <a:solidFill>
                <a:srgbClr val="30787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TextovéPole 6">
              <a:extLst>
                <a:ext uri="{FF2B5EF4-FFF2-40B4-BE49-F238E27FC236}">
                  <a16:creationId xmlns:a16="http://schemas.microsoft.com/office/drawing/2014/main" id="{1BDF0876-B46D-F4A9-162F-BB7023709601}"/>
                </a:ext>
              </a:extLst>
            </p:cNvPr>
            <p:cNvSpPr txBox="1"/>
            <p:nvPr/>
          </p:nvSpPr>
          <p:spPr>
            <a:xfrm>
              <a:off x="3802397" y="4701793"/>
              <a:ext cx="1539204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cs-CZ" sz="1000" b="1" cap="all" spc="100" dirty="0">
                  <a:solidFill>
                    <a:schemeClr val="bg1">
                      <a:lumMod val="50000"/>
                    </a:schemeClr>
                  </a:solidFill>
                </a:rPr>
                <a:t>Slezská univerzita</a:t>
              </a:r>
            </a:p>
          </p:txBody>
        </p:sp>
      </p:grpSp>
      <p:graphicFrame>
        <p:nvGraphicFramePr>
          <p:cNvPr id="2" name="Tabulka 1">
            <a:extLst>
              <a:ext uri="{FF2B5EF4-FFF2-40B4-BE49-F238E27FC236}">
                <a16:creationId xmlns:a16="http://schemas.microsoft.com/office/drawing/2014/main" id="{6DD10D10-65D7-F31D-F45D-55C65A1646D3}"/>
              </a:ext>
            </a:extLst>
          </p:cNvPr>
          <p:cNvGraphicFramePr>
            <a:graphicFrameLocks noGrp="1"/>
          </p:cNvGraphicFramePr>
          <p:nvPr/>
        </p:nvGraphicFramePr>
        <p:xfrm>
          <a:off x="709604" y="1325881"/>
          <a:ext cx="6279504" cy="131854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93168">
                  <a:extLst>
                    <a:ext uri="{9D8B030D-6E8A-4147-A177-3AD203B41FA5}">
                      <a16:colId xmlns:a16="http://schemas.microsoft.com/office/drawing/2014/main" val="384890370"/>
                    </a:ext>
                  </a:extLst>
                </a:gridCol>
                <a:gridCol w="2093168">
                  <a:extLst>
                    <a:ext uri="{9D8B030D-6E8A-4147-A177-3AD203B41FA5}">
                      <a16:colId xmlns:a16="http://schemas.microsoft.com/office/drawing/2014/main" val="2709388314"/>
                    </a:ext>
                  </a:extLst>
                </a:gridCol>
                <a:gridCol w="2093168">
                  <a:extLst>
                    <a:ext uri="{9D8B030D-6E8A-4147-A177-3AD203B41FA5}">
                      <a16:colId xmlns:a16="http://schemas.microsoft.com/office/drawing/2014/main" val="3147397382"/>
                    </a:ext>
                  </a:extLst>
                </a:gridCol>
              </a:tblGrid>
              <a:tr h="28475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cs-CZ" sz="1200" dirty="0">
                          <a:effectLst/>
                        </a:rPr>
                        <a:t>Úloha</a:t>
                      </a:r>
                    </a:p>
                  </a:txBody>
                  <a:tcPr marL="95250" marR="95250" marT="47625" marB="47625" anchor="ctr">
                    <a:solidFill>
                      <a:srgbClr val="30787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cs-CZ" sz="1200" dirty="0">
                          <a:effectLst/>
                        </a:rPr>
                        <a:t>Typ výpočtu</a:t>
                      </a:r>
                    </a:p>
                  </a:txBody>
                  <a:tcPr marL="95250" marR="95250" marT="47625" marB="47625" anchor="ctr">
                    <a:solidFill>
                      <a:srgbClr val="30787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cs-CZ" sz="1200" dirty="0">
                          <a:effectLst/>
                        </a:rPr>
                        <a:t>Charakteristika</a:t>
                      </a:r>
                    </a:p>
                  </a:txBody>
                  <a:tcPr marL="95250" marR="95250" marT="47625" marB="47625" anchor="ctr">
                    <a:solidFill>
                      <a:srgbClr val="30787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3631394"/>
                  </a:ext>
                </a:extLst>
              </a:tr>
              <a:tr h="5168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s-CZ" sz="1200" dirty="0">
                          <a:effectLst/>
                        </a:rPr>
                        <a:t>Násobení matic</a:t>
                      </a: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s-CZ" sz="1200" dirty="0">
                          <a:effectLst/>
                        </a:rPr>
                        <a:t>Lineární algebra, O(n³)</a:t>
                      </a: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s-CZ" sz="1200" dirty="0" err="1">
                          <a:effectLst/>
                        </a:rPr>
                        <a:t>Compute-bound</a:t>
                      </a:r>
                      <a:r>
                        <a:rPr lang="cs-CZ" sz="1200" dirty="0">
                          <a:effectLst/>
                        </a:rPr>
                        <a:t>, jednorázový výpočet</a:t>
                      </a:r>
                    </a:p>
                  </a:txBody>
                  <a:tcPr marL="95250" marR="95250" marT="47625" marB="47625" anchor="ctr"/>
                </a:tc>
                <a:extLst>
                  <a:ext uri="{0D108BD9-81ED-4DB2-BD59-A6C34878D82A}">
                    <a16:rowId xmlns:a16="http://schemas.microsoft.com/office/drawing/2014/main" val="1609076436"/>
                  </a:ext>
                </a:extLst>
              </a:tr>
              <a:tr h="5168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s-CZ" sz="1200" dirty="0">
                          <a:effectLst/>
                        </a:rPr>
                        <a:t>Game </a:t>
                      </a:r>
                      <a:r>
                        <a:rPr lang="cs-CZ" sz="1200" dirty="0" err="1">
                          <a:effectLst/>
                        </a:rPr>
                        <a:t>of</a:t>
                      </a:r>
                      <a:r>
                        <a:rPr lang="cs-CZ" sz="1200" dirty="0">
                          <a:effectLst/>
                        </a:rPr>
                        <a:t> </a:t>
                      </a:r>
                      <a:r>
                        <a:rPr lang="cs-CZ" sz="1200" dirty="0" err="1">
                          <a:effectLst/>
                        </a:rPr>
                        <a:t>Life</a:t>
                      </a:r>
                      <a:endParaRPr lang="cs-CZ" sz="1200" dirty="0">
                        <a:effectLst/>
                      </a:endParaRP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s-CZ" sz="1200" dirty="0" err="1">
                          <a:effectLst/>
                        </a:rPr>
                        <a:t>Stencil</a:t>
                      </a:r>
                      <a:r>
                        <a:rPr lang="cs-CZ" sz="1200" dirty="0">
                          <a:effectLst/>
                        </a:rPr>
                        <a:t> </a:t>
                      </a:r>
                      <a:r>
                        <a:rPr lang="cs-CZ" sz="1200" dirty="0" err="1">
                          <a:effectLst/>
                        </a:rPr>
                        <a:t>computation</a:t>
                      </a:r>
                      <a:r>
                        <a:rPr lang="cs-CZ" sz="1200" dirty="0">
                          <a:effectLst/>
                        </a:rPr>
                        <a:t>, O(n²)×100</a:t>
                      </a: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s-CZ" sz="1200" dirty="0" err="1">
                          <a:effectLst/>
                        </a:rPr>
                        <a:t>Memory-bound</a:t>
                      </a:r>
                      <a:r>
                        <a:rPr lang="cs-CZ" sz="1200" dirty="0">
                          <a:effectLst/>
                        </a:rPr>
                        <a:t>, iterativní simulace</a:t>
                      </a:r>
                    </a:p>
                  </a:txBody>
                  <a:tcPr marL="95250" marR="95250" marT="47625" marB="47625" anchor="ctr"/>
                </a:tc>
                <a:extLst>
                  <a:ext uri="{0D108BD9-81ED-4DB2-BD59-A6C34878D82A}">
                    <a16:rowId xmlns:a16="http://schemas.microsoft.com/office/drawing/2014/main" val="1469062366"/>
                  </a:ext>
                </a:extLst>
              </a:tr>
            </a:tbl>
          </a:graphicData>
        </a:graphic>
      </p:graphicFrame>
      <p:pic>
        <p:nvPicPr>
          <p:cNvPr id="10" name="Grafický objekt 9">
            <a:extLst>
              <a:ext uri="{FF2B5EF4-FFF2-40B4-BE49-F238E27FC236}">
                <a16:creationId xmlns:a16="http://schemas.microsoft.com/office/drawing/2014/main" id="{E4C3951A-A9DA-BCC7-3930-DA0F9051910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65202" y="980577"/>
            <a:ext cx="6944926" cy="40897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816654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05EA16-F26F-8088-AC0F-E51DDFE710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Obrázek 13">
            <a:extLst>
              <a:ext uri="{FF2B5EF4-FFF2-40B4-BE49-F238E27FC236}">
                <a16:creationId xmlns:a16="http://schemas.microsoft.com/office/drawing/2014/main" id="{423E6CAB-F326-6DA3-F6B0-12B6707B98B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1299" y="0"/>
            <a:ext cx="9144000" cy="5143500"/>
          </a:xfrm>
          <a:prstGeom prst="rect">
            <a:avLst/>
          </a:prstGeom>
        </p:spPr>
      </p:pic>
      <p:sp>
        <p:nvSpPr>
          <p:cNvPr id="9" name="Nadpis 1">
            <a:extLst>
              <a:ext uri="{FF2B5EF4-FFF2-40B4-BE49-F238E27FC236}">
                <a16:creationId xmlns:a16="http://schemas.microsoft.com/office/drawing/2014/main" id="{DD2A9B5B-BCA9-5812-0D62-687140D1B3B1}"/>
              </a:ext>
            </a:extLst>
          </p:cNvPr>
          <p:cNvSpPr txBox="1">
            <a:spLocks/>
          </p:cNvSpPr>
          <p:nvPr/>
        </p:nvSpPr>
        <p:spPr>
          <a:xfrm>
            <a:off x="596752" y="462980"/>
            <a:ext cx="6279504" cy="668610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70000" lnSpcReduction="2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cs-CZ" sz="3200" b="1" cap="all" dirty="0">
                <a:solidFill>
                  <a:srgbClr val="307871"/>
                </a:solidFill>
              </a:rPr>
              <a:t>CPU škálování a teoretická interpretace</a:t>
            </a:r>
          </a:p>
        </p:txBody>
      </p:sp>
      <p:sp>
        <p:nvSpPr>
          <p:cNvPr id="11" name="Zástupný symbol pro obsah 2">
            <a:extLst>
              <a:ext uri="{FF2B5EF4-FFF2-40B4-BE49-F238E27FC236}">
                <a16:creationId xmlns:a16="http://schemas.microsoft.com/office/drawing/2014/main" id="{548C72A8-029D-A5F1-E825-0322974619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82130" y="3570290"/>
            <a:ext cx="4124081" cy="1282622"/>
          </a:xfrm>
        </p:spPr>
        <p:txBody>
          <a:bodyPr>
            <a:noAutofit/>
          </a:bodyPr>
          <a:lstStyle/>
          <a:p>
            <a:pPr>
              <a:buBlip>
                <a:blip r:embed="rId4"/>
              </a:buBlip>
            </a:pPr>
            <a:r>
              <a:rPr lang="cs-CZ" sz="1400" b="1" dirty="0">
                <a:latin typeface="+mj-lt"/>
              </a:rPr>
              <a:t>Game </a:t>
            </a:r>
            <a:r>
              <a:rPr lang="cs-CZ" sz="1400" b="1" dirty="0" err="1">
                <a:latin typeface="+mj-lt"/>
              </a:rPr>
              <a:t>of</a:t>
            </a:r>
            <a:r>
              <a:rPr lang="cs-CZ" sz="1400" b="1" dirty="0">
                <a:latin typeface="+mj-lt"/>
              </a:rPr>
              <a:t> </a:t>
            </a:r>
            <a:r>
              <a:rPr lang="cs-CZ" sz="1400" b="1" dirty="0" err="1">
                <a:latin typeface="+mj-lt"/>
              </a:rPr>
              <a:t>Life</a:t>
            </a:r>
            <a:r>
              <a:rPr lang="cs-CZ" sz="1400" b="1" dirty="0">
                <a:latin typeface="+mj-lt"/>
              </a:rPr>
              <a:t> - Stabilní, předvídatelné škálování</a:t>
            </a:r>
          </a:p>
          <a:p>
            <a:pPr lvl="1">
              <a:buBlip>
                <a:blip r:embed="rId4"/>
              </a:buBlip>
            </a:pPr>
            <a:r>
              <a:rPr lang="cs-CZ" sz="1200" b="1" dirty="0">
                <a:latin typeface="+mj-lt"/>
              </a:rPr>
              <a:t>6 vláken (= 6 fyzických jader): zrychlení cca 6x</a:t>
            </a:r>
          </a:p>
          <a:p>
            <a:pPr lvl="1">
              <a:buBlip>
                <a:blip r:embed="rId4"/>
              </a:buBlip>
            </a:pPr>
            <a:r>
              <a:rPr lang="cs-CZ" sz="1200" b="1" dirty="0">
                <a:latin typeface="+mj-lt"/>
              </a:rPr>
              <a:t>12 vláken (</a:t>
            </a:r>
            <a:r>
              <a:rPr lang="cs-CZ" sz="1200" b="1" dirty="0" err="1">
                <a:latin typeface="+mj-lt"/>
              </a:rPr>
              <a:t>hyperthreading</a:t>
            </a:r>
            <a:r>
              <a:rPr lang="cs-CZ" sz="1200" b="1" dirty="0">
                <a:latin typeface="+mj-lt"/>
              </a:rPr>
              <a:t>): jen minimální přínos oproti 6 vláknům</a:t>
            </a:r>
            <a:endParaRPr lang="cs-CZ" sz="1400" b="1" dirty="0">
              <a:latin typeface="+mj-lt"/>
            </a:endParaRPr>
          </a:p>
        </p:txBody>
      </p:sp>
      <p:cxnSp>
        <p:nvCxnSpPr>
          <p:cNvPr id="12" name="Přímá spojnice 11">
            <a:extLst>
              <a:ext uri="{FF2B5EF4-FFF2-40B4-BE49-F238E27FC236}">
                <a16:creationId xmlns:a16="http://schemas.microsoft.com/office/drawing/2014/main" id="{3C692DBD-D37A-1578-FA4E-6C59CEB2E4BC}"/>
              </a:ext>
            </a:extLst>
          </p:cNvPr>
          <p:cNvCxnSpPr>
            <a:cxnSpLocks/>
          </p:cNvCxnSpPr>
          <p:nvPr/>
        </p:nvCxnSpPr>
        <p:spPr>
          <a:xfrm flipH="1">
            <a:off x="709604" y="1175158"/>
            <a:ext cx="997276" cy="0"/>
          </a:xfrm>
          <a:prstGeom prst="line">
            <a:avLst/>
          </a:prstGeom>
          <a:ln w="19050">
            <a:solidFill>
              <a:srgbClr val="30787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" name="Skupina 4">
            <a:extLst>
              <a:ext uri="{FF2B5EF4-FFF2-40B4-BE49-F238E27FC236}">
                <a16:creationId xmlns:a16="http://schemas.microsoft.com/office/drawing/2014/main" id="{F376EC53-3777-4A6F-61F7-2DA5E309E92D}"/>
              </a:ext>
            </a:extLst>
          </p:cNvPr>
          <p:cNvGrpSpPr/>
          <p:nvPr/>
        </p:nvGrpSpPr>
        <p:grpSpPr>
          <a:xfrm>
            <a:off x="3802397" y="4659313"/>
            <a:ext cx="1539204" cy="288701"/>
            <a:chOff x="3802397" y="4659313"/>
            <a:chExt cx="1539204" cy="288701"/>
          </a:xfrm>
        </p:grpSpPr>
        <p:cxnSp>
          <p:nvCxnSpPr>
            <p:cNvPr id="6" name="Přímá spojnice 5">
              <a:extLst>
                <a:ext uri="{FF2B5EF4-FFF2-40B4-BE49-F238E27FC236}">
                  <a16:creationId xmlns:a16="http://schemas.microsoft.com/office/drawing/2014/main" id="{3B9DF28B-8CCF-8086-B202-797C02CE2D0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211960" y="4659313"/>
              <a:ext cx="720080" cy="0"/>
            </a:xfrm>
            <a:prstGeom prst="line">
              <a:avLst/>
            </a:prstGeom>
            <a:ln>
              <a:solidFill>
                <a:srgbClr val="30787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TextovéPole 6">
              <a:extLst>
                <a:ext uri="{FF2B5EF4-FFF2-40B4-BE49-F238E27FC236}">
                  <a16:creationId xmlns:a16="http://schemas.microsoft.com/office/drawing/2014/main" id="{7C05F3A7-EBDE-4D5B-5C73-8E582624CED5}"/>
                </a:ext>
              </a:extLst>
            </p:cNvPr>
            <p:cNvSpPr txBox="1"/>
            <p:nvPr/>
          </p:nvSpPr>
          <p:spPr>
            <a:xfrm>
              <a:off x="3802397" y="4701793"/>
              <a:ext cx="1539204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cs-CZ" sz="1000" b="1" cap="all" spc="100" dirty="0">
                  <a:solidFill>
                    <a:schemeClr val="bg1">
                      <a:lumMod val="50000"/>
                    </a:schemeClr>
                  </a:solidFill>
                </a:rPr>
                <a:t>Slezská univerzita</a:t>
              </a:r>
            </a:p>
          </p:txBody>
        </p:sp>
      </p:grpSp>
      <p:pic>
        <p:nvPicPr>
          <p:cNvPr id="3" name="Obrázek 2">
            <a:extLst>
              <a:ext uri="{FF2B5EF4-FFF2-40B4-BE49-F238E27FC236}">
                <a16:creationId xmlns:a16="http://schemas.microsoft.com/office/drawing/2014/main" id="{85BBB0F9-EBAD-5141-F0B9-F090C360898B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90697" y="865550"/>
            <a:ext cx="4124082" cy="2601040"/>
          </a:xfrm>
          <a:prstGeom prst="rect">
            <a:avLst/>
          </a:prstGeom>
        </p:spPr>
      </p:pic>
      <p:sp>
        <p:nvSpPr>
          <p:cNvPr id="13" name="Zástupný symbol pro obsah 2">
            <a:extLst>
              <a:ext uri="{FF2B5EF4-FFF2-40B4-BE49-F238E27FC236}">
                <a16:creationId xmlns:a16="http://schemas.microsoft.com/office/drawing/2014/main" id="{1B24576A-4EB2-C05E-890D-7531A59B036C}"/>
              </a:ext>
            </a:extLst>
          </p:cNvPr>
          <p:cNvSpPr txBox="1">
            <a:spLocks/>
          </p:cNvSpPr>
          <p:nvPr/>
        </p:nvSpPr>
        <p:spPr>
          <a:xfrm>
            <a:off x="372275" y="3570290"/>
            <a:ext cx="4524698" cy="119132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Blip>
                <a:blip r:embed="rId4"/>
              </a:buBlip>
            </a:pPr>
            <a:r>
              <a:rPr lang="cs-CZ" sz="1400" b="1" dirty="0">
                <a:latin typeface="+mj-lt"/>
              </a:rPr>
              <a:t>Násobení matic - Méně stabilní, závisí na velikosti</a:t>
            </a:r>
          </a:p>
          <a:p>
            <a:pPr lvl="1">
              <a:buBlip>
                <a:blip r:embed="rId4"/>
              </a:buBlip>
            </a:pPr>
            <a:r>
              <a:rPr lang="cs-CZ" sz="1200" b="1" dirty="0">
                <a:latin typeface="+mj-lt"/>
              </a:rPr>
              <a:t>256², 512², 2048², 4096²: sub-lineární (4–5× na 6 </a:t>
            </a:r>
            <a:r>
              <a:rPr lang="cs-CZ" sz="1200" b="1" dirty="0" err="1">
                <a:latin typeface="+mj-lt"/>
              </a:rPr>
              <a:t>vl</a:t>
            </a:r>
            <a:r>
              <a:rPr lang="cs-CZ" sz="1200" b="1" dirty="0">
                <a:latin typeface="+mj-lt"/>
              </a:rPr>
              <a:t>.)</a:t>
            </a:r>
          </a:p>
          <a:p>
            <a:pPr lvl="1">
              <a:buBlip>
                <a:blip r:embed="rId4"/>
              </a:buBlip>
            </a:pPr>
            <a:r>
              <a:rPr lang="cs-CZ" sz="1200" b="1" dirty="0">
                <a:latin typeface="+mj-lt"/>
              </a:rPr>
              <a:t>1024²: super-lineární i po normalizaci (příčina neznámá, v práci diskutováno)</a:t>
            </a:r>
          </a:p>
        </p:txBody>
      </p:sp>
      <p:pic>
        <p:nvPicPr>
          <p:cNvPr id="16" name="Obrázek 15">
            <a:extLst>
              <a:ext uri="{FF2B5EF4-FFF2-40B4-BE49-F238E27FC236}">
                <a16:creationId xmlns:a16="http://schemas.microsoft.com/office/drawing/2014/main" id="{0B55B50E-CBBF-7F59-40E1-7B511F6F821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4532" y="870577"/>
            <a:ext cx="4208773" cy="25909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891389"/>
      </p:ext>
    </p:extLst>
  </p:cSld>
  <p:clrMapOvr>
    <a:masterClrMapping/>
  </p:clrMapOvr>
</p:sld>
</file>

<file path=ppt/theme/theme1.xml><?xml version="1.0" encoding="utf-8"?>
<a:theme xmlns:a="http://schemas.openxmlformats.org/drawingml/2006/main" name="Motiv systému Office">
  <a:themeElements>
    <a:clrScheme name="Kancelář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Kancelář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ancelář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869f6d21-e2a1-4499-937e-7cd117887e17">
      <Terms xmlns="http://schemas.microsoft.com/office/infopath/2007/PartnerControls"/>
    </lcf76f155ced4ddcb4097134ff3c332f>
    <TaxCatchAll xmlns="648d1b4a-c446-40a4-8600-633a74140010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A1623DFD44D9694DB179A25939B4AF7B" ma:contentTypeVersion="15" ma:contentTypeDescription="Vytvoří nový dokument" ma:contentTypeScope="" ma:versionID="4c03369ef162b4819551cb1636e113a0">
  <xsd:schema xmlns:xsd="http://www.w3.org/2001/XMLSchema" xmlns:xs="http://www.w3.org/2001/XMLSchema" xmlns:p="http://schemas.microsoft.com/office/2006/metadata/properties" xmlns:ns2="869f6d21-e2a1-4499-937e-7cd117887e17" xmlns:ns3="648d1b4a-c446-40a4-8600-633a74140010" targetNamespace="http://schemas.microsoft.com/office/2006/metadata/properties" ma:root="true" ma:fieldsID="74b16deee54aa6a477a3150856fd2369" ns2:_="" ns3:_="">
    <xsd:import namespace="869f6d21-e2a1-4499-937e-7cd117887e17"/>
    <xsd:import namespace="648d1b4a-c446-40a4-8600-633a74140010"/>
    <xsd:element name="properties">
      <xsd:complexType>
        <xsd:sequence>
          <xsd:element name="documentManagement">
            <xsd:complexType>
              <xsd:all>
                <xsd:element ref="ns2:lcf76f155ced4ddcb4097134ff3c332f" minOccurs="0"/>
                <xsd:element ref="ns3:TaxCatchAll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LengthInSeconds" minOccurs="0"/>
                <xsd:element ref="ns2:MediaServiceObjectDetectorVersions" minOccurs="0"/>
                <xsd:element ref="ns2:MediaServiceLocation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69f6d21-e2a1-4499-937e-7cd117887e17" elementFormDefault="qualified">
    <xsd:import namespace="http://schemas.microsoft.com/office/2006/documentManagement/types"/>
    <xsd:import namespace="http://schemas.microsoft.com/office/infopath/2007/PartnerControls"/>
    <xsd:element name="lcf76f155ced4ddcb4097134ff3c332f" ma:index="9" nillable="true" ma:taxonomy="true" ma:internalName="lcf76f155ced4ddcb4097134ff3c332f" ma:taxonomyFieldName="MediaServiceImageTags" ma:displayName="Značky obrázků" ma:readOnly="false" ma:fieldId="{5cf76f15-5ced-4ddc-b409-7134ff3c332f}" ma:taxonomyMulti="true" ma:sspId="bce56c0d-8add-4fe5-85a8-9b3e3d2b7a8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2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Location" ma:index="21" nillable="true" ma:displayName="Location" ma:indexed="true" ma:internalName="MediaServiceLocation" ma:readOnly="true">
      <xsd:simpleType>
        <xsd:restriction base="dms:Text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48d1b4a-c446-40a4-8600-633a74140010" elementFormDefault="qualified">
    <xsd:import namespace="http://schemas.microsoft.com/office/2006/documentManagement/types"/>
    <xsd:import namespace="http://schemas.microsoft.com/office/infopath/2007/PartnerControls"/>
    <xsd:element name="TaxCatchAll" ma:index="10" nillable="true" ma:displayName="Taxonomy Catch All Column" ma:hidden="true" ma:list="{d1d8f85b-e74d-45d3-ba12-042c44b05bfd}" ma:internalName="TaxCatchAll" ma:showField="CatchAllData" ma:web="648d1b4a-c446-40a4-8600-633a7414001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6" nillable="true" ma:displayName="Sdílí se s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dílené s podrobnostmi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 obsahu"/>
        <xsd:element ref="dc:title" minOccurs="0" maxOccurs="1" ma:index="4" ma:displayName="Nadpis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F3937F9-AC47-4E01-87E2-698E64500E49}">
  <ds:schemaRefs>
    <ds:schemaRef ds:uri="http://schemas.microsoft.com/office/2006/metadata/properties"/>
    <ds:schemaRef ds:uri="http://schemas.microsoft.com/office/infopath/2007/PartnerControls"/>
    <ds:schemaRef ds:uri="869f6d21-e2a1-4499-937e-7cd117887e17"/>
    <ds:schemaRef ds:uri="648d1b4a-c446-40a4-8600-633a74140010"/>
  </ds:schemaRefs>
</ds:datastoreItem>
</file>

<file path=customXml/itemProps2.xml><?xml version="1.0" encoding="utf-8"?>
<ds:datastoreItem xmlns:ds="http://schemas.openxmlformats.org/officeDocument/2006/customXml" ds:itemID="{0847EE3C-3A83-476D-8D23-7355ACE30E0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69f6d21-e2a1-4499-937e-7cd117887e17"/>
    <ds:schemaRef ds:uri="648d1b4a-c446-40a4-8600-633a7414001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D4BF132D-32F7-4CCA-B33B-6E360CFDB6B6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3365</TotalTime>
  <Words>6516</Words>
  <Application>Microsoft Office PowerPoint</Application>
  <PresentationFormat>Předvádění na obrazovce (16:9)</PresentationFormat>
  <Paragraphs>577</Paragraphs>
  <Slides>18</Slides>
  <Notes>17</Notes>
  <HiddenSlides>0</HiddenSlides>
  <MMClips>0</MMClips>
  <ScaleCrop>false</ScaleCrop>
  <HeadingPairs>
    <vt:vector size="6" baseType="variant">
      <vt:variant>
        <vt:lpstr>Použitá písma</vt:lpstr>
      </vt:variant>
      <vt:variant>
        <vt:i4>5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18</vt:i4>
      </vt:variant>
    </vt:vector>
  </HeadingPairs>
  <TitlesOfParts>
    <vt:vector size="24" baseType="lpstr">
      <vt:lpstr>Aptos</vt:lpstr>
      <vt:lpstr>Arial</vt:lpstr>
      <vt:lpstr>Calibri</vt:lpstr>
      <vt:lpstr>Times New Roman</vt:lpstr>
      <vt:lpstr>Wingdings</vt:lpstr>
      <vt:lpstr>Motiv systému Office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Název prezentace</dc:title>
  <dc:creator>Alexandr Ochonský</dc:creator>
  <cp:lastModifiedBy>Jakub Kubisz</cp:lastModifiedBy>
  <cp:revision>77</cp:revision>
  <dcterms:created xsi:type="dcterms:W3CDTF">2016-07-06T15:42:34Z</dcterms:created>
  <dcterms:modified xsi:type="dcterms:W3CDTF">2026-05-30T02:11:07Z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0x010100A1623DFD44D9694DB179A25939B4AF7B</vt:lpwstr>
  </property>
</Properties>
</file>